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32"/>
  </p:notesMasterIdLst>
  <p:sldIdLst>
    <p:sldId id="256" r:id="rId5"/>
    <p:sldId id="508" r:id="rId6"/>
    <p:sldId id="561" r:id="rId7"/>
    <p:sldId id="566" r:id="rId8"/>
    <p:sldId id="567" r:id="rId9"/>
    <p:sldId id="562" r:id="rId10"/>
    <p:sldId id="568" r:id="rId11"/>
    <p:sldId id="565" r:id="rId12"/>
    <p:sldId id="569" r:id="rId13"/>
    <p:sldId id="571" r:id="rId14"/>
    <p:sldId id="511" r:id="rId15"/>
    <p:sldId id="572" r:id="rId16"/>
    <p:sldId id="570" r:id="rId17"/>
    <p:sldId id="573" r:id="rId18"/>
    <p:sldId id="586" r:id="rId19"/>
    <p:sldId id="575" r:id="rId20"/>
    <p:sldId id="576" r:id="rId21"/>
    <p:sldId id="577" r:id="rId22"/>
    <p:sldId id="578" r:id="rId23"/>
    <p:sldId id="588" r:id="rId24"/>
    <p:sldId id="579" r:id="rId25"/>
    <p:sldId id="580" r:id="rId26"/>
    <p:sldId id="589" r:id="rId27"/>
    <p:sldId id="590" r:id="rId28"/>
    <p:sldId id="581" r:id="rId29"/>
    <p:sldId id="592" r:id="rId30"/>
    <p:sldId id="583" r:id="rId3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FE40924-575C-4377-B75F-1EF20CE67EBE}">
          <p14:sldIdLst>
            <p14:sldId id="256"/>
            <p14:sldId id="508"/>
            <p14:sldId id="561"/>
            <p14:sldId id="566"/>
            <p14:sldId id="567"/>
            <p14:sldId id="562"/>
            <p14:sldId id="568"/>
            <p14:sldId id="565"/>
            <p14:sldId id="569"/>
            <p14:sldId id="571"/>
            <p14:sldId id="511"/>
            <p14:sldId id="572"/>
            <p14:sldId id="570"/>
            <p14:sldId id="573"/>
            <p14:sldId id="586"/>
            <p14:sldId id="575"/>
            <p14:sldId id="576"/>
            <p14:sldId id="577"/>
            <p14:sldId id="578"/>
            <p14:sldId id="588"/>
            <p14:sldId id="579"/>
            <p14:sldId id="580"/>
            <p14:sldId id="589"/>
            <p14:sldId id="590"/>
            <p14:sldId id="581"/>
            <p14:sldId id="592"/>
            <p14:sldId id="583"/>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828804-C629-68C6-9A6B-07118CECF0FE}" name="Olivia Hebner" initials="OH" userId="S::olivia.hebner@summitllc.us::e040a871-1705-4366-a517-ace41e640f64" providerId="AD"/>
  <p188:author id="{B68FEC08-333E-66E7-89D8-F032D6BD20DB}" name="Susanna Sprinkel" initials="SS" userId="S::susanna.sprinkel@summitllc.us::9e4fc053-ac2d-4724-80bb-1da5870462fd" providerId="AD"/>
  <p188:author id="{04B3D01D-962A-F075-11D0-0D2C2FCE512E}" name="Melissa Cichantek" initials="MC" userId="Melissa Cichantek" providerId="None"/>
  <p188:author id="{B0965936-8995-437D-A1EB-2C2D4111CFC0}" name="Melissa Cichantek" initials="MC" userId="S::Melissa.Cichantek@summitllc.us::94545aea-f18a-489b-bab5-9a4e73fac5e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6F9"/>
    <a:srgbClr val="1B87B9"/>
    <a:srgbClr val="F7864C"/>
    <a:srgbClr val="FFE3B3"/>
    <a:srgbClr val="6CE1B8"/>
    <a:srgbClr val="F785D6"/>
    <a:srgbClr val="52B6E8"/>
    <a:srgbClr val="3AC17E"/>
    <a:srgbClr val="CFE7F5"/>
    <a:srgbClr val="0B55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1B21FE-BA26-4689-80B6-9D35FBAF0DC1}" v="228" dt="2026-09-10T14:26:36.235"/>
    <p1510:client id="{BCC6BDF8-2277-499F-8104-5A294138327F}" v="2028" dt="2026-09-10T14:10:24.9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4#1">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95AAD2-D79E-4183-82DD-0C751E595C30}" type="doc">
      <dgm:prSet loTypeId="urn:microsoft.com/office/officeart/2005/8/layout/hProcess9" loCatId="process" qsTypeId="urn:microsoft.com/office/officeart/2005/8/quickstyle/simple1#1" qsCatId="simple" csTypeId="urn:microsoft.com/office/officeart/2005/8/colors/accent1_4#1" csCatId="accent1" phldr="1"/>
      <dgm:spPr/>
      <dgm:t>
        <a:bodyPr/>
        <a:lstStyle/>
        <a:p>
          <a:endParaRPr lang="en-US"/>
        </a:p>
      </dgm:t>
    </dgm:pt>
    <dgm:pt modelId="{B5487BC7-C6A8-417C-86A9-2B67ADBF0985}">
      <dgm:prSet phldrT="[Text]" phldr="0"/>
      <dgm:spPr/>
      <dgm:t>
        <a:bodyPr/>
        <a:lstStyle/>
        <a:p>
          <a:r>
            <a:rPr lang="en-US" b="1"/>
            <a:t>Split</a:t>
          </a:r>
        </a:p>
      </dgm:t>
    </dgm:pt>
    <dgm:pt modelId="{A991BDB8-8B43-462F-90D3-A0D9B38B49F8}" type="parTrans" cxnId="{6F2D3700-65E7-4829-826E-57ECEED2AB45}">
      <dgm:prSet/>
      <dgm:spPr/>
      <dgm:t>
        <a:bodyPr/>
        <a:lstStyle/>
        <a:p>
          <a:endParaRPr lang="en-US"/>
        </a:p>
      </dgm:t>
    </dgm:pt>
    <dgm:pt modelId="{0488B8FC-8FE9-445F-8BA4-7B0E8B0DED82}" type="sibTrans" cxnId="{6F2D3700-65E7-4829-826E-57ECEED2AB45}">
      <dgm:prSet/>
      <dgm:spPr/>
      <dgm:t>
        <a:bodyPr/>
        <a:lstStyle/>
        <a:p>
          <a:endParaRPr lang="en-US"/>
        </a:p>
      </dgm:t>
    </dgm:pt>
    <dgm:pt modelId="{2C1EDAED-AA89-4862-B8D4-018AD8E01ED5}">
      <dgm:prSet phldrT="[Text]" phldr="0"/>
      <dgm:spPr/>
      <dgm:t>
        <a:bodyPr/>
        <a:lstStyle/>
        <a:p>
          <a:r>
            <a:rPr lang="en-US" b="1"/>
            <a:t>Preprocess</a:t>
          </a:r>
        </a:p>
      </dgm:t>
    </dgm:pt>
    <dgm:pt modelId="{B6CED3DB-0735-49E6-8097-46BC1800D840}" type="parTrans" cxnId="{41ADCE3D-8121-45A4-9DBB-735230022276}">
      <dgm:prSet/>
      <dgm:spPr/>
      <dgm:t>
        <a:bodyPr/>
        <a:lstStyle/>
        <a:p>
          <a:endParaRPr lang="en-US"/>
        </a:p>
      </dgm:t>
    </dgm:pt>
    <dgm:pt modelId="{31867213-AB88-4AFE-891A-79B678D2AB77}" type="sibTrans" cxnId="{41ADCE3D-8121-45A4-9DBB-735230022276}">
      <dgm:prSet/>
      <dgm:spPr/>
      <dgm:t>
        <a:bodyPr/>
        <a:lstStyle/>
        <a:p>
          <a:endParaRPr lang="en-US"/>
        </a:p>
      </dgm:t>
    </dgm:pt>
    <dgm:pt modelId="{00367241-C87E-4736-BDF6-5125EAE9919F}">
      <dgm:prSet phldrT="[Text]" phldr="0"/>
      <dgm:spPr/>
      <dgm:t>
        <a:bodyPr/>
        <a:lstStyle/>
        <a:p>
          <a:r>
            <a:rPr lang="en-US" b="1"/>
            <a:t>Specify</a:t>
          </a:r>
        </a:p>
      </dgm:t>
    </dgm:pt>
    <dgm:pt modelId="{CD2640FA-3D9B-4A99-8F94-EB0BF7F32997}" type="parTrans" cxnId="{DACEE067-CAC1-4182-A4A6-9AD0E90BE7FF}">
      <dgm:prSet/>
      <dgm:spPr/>
      <dgm:t>
        <a:bodyPr/>
        <a:lstStyle/>
        <a:p>
          <a:endParaRPr lang="en-US"/>
        </a:p>
      </dgm:t>
    </dgm:pt>
    <dgm:pt modelId="{D06DF112-64BA-48EC-AE29-376FA775CF04}" type="sibTrans" cxnId="{DACEE067-CAC1-4182-A4A6-9AD0E90BE7FF}">
      <dgm:prSet/>
      <dgm:spPr/>
      <dgm:t>
        <a:bodyPr/>
        <a:lstStyle/>
        <a:p>
          <a:endParaRPr lang="en-US"/>
        </a:p>
      </dgm:t>
    </dgm:pt>
    <dgm:pt modelId="{B1DB0B21-FE7C-48F0-A365-68CC62B1CA97}">
      <dgm:prSet phldrT="[Text]" phldr="0"/>
      <dgm:spPr>
        <a:solidFill>
          <a:schemeClr val="accent1">
            <a:lumMod val="75000"/>
          </a:schemeClr>
        </a:solidFill>
      </dgm:spPr>
      <dgm:t>
        <a:bodyPr/>
        <a:lstStyle/>
        <a:p>
          <a:r>
            <a:rPr lang="en-US" b="1"/>
            <a:t>Fit</a:t>
          </a:r>
        </a:p>
      </dgm:t>
    </dgm:pt>
    <dgm:pt modelId="{4516BE3F-405B-44AA-9C3D-A131BFFA93E1}" type="parTrans" cxnId="{7380D0E8-4B36-4A8C-AC78-7FFF2E42642B}">
      <dgm:prSet/>
      <dgm:spPr/>
      <dgm:t>
        <a:bodyPr/>
        <a:lstStyle/>
        <a:p>
          <a:endParaRPr lang="en-US"/>
        </a:p>
      </dgm:t>
    </dgm:pt>
    <dgm:pt modelId="{47FAEE3E-C90B-445E-9158-1A4E10AB81D8}" type="sibTrans" cxnId="{7380D0E8-4B36-4A8C-AC78-7FFF2E42642B}">
      <dgm:prSet/>
      <dgm:spPr/>
      <dgm:t>
        <a:bodyPr/>
        <a:lstStyle/>
        <a:p>
          <a:endParaRPr lang="en-US"/>
        </a:p>
      </dgm:t>
    </dgm:pt>
    <dgm:pt modelId="{A25FB6B4-95C0-48F1-8AAA-BD2050DF8304}">
      <dgm:prSet phldrT="[Text]" phldr="0"/>
      <dgm:spPr/>
      <dgm:t>
        <a:bodyPr/>
        <a:lstStyle/>
        <a:p>
          <a:r>
            <a:rPr lang="en-US" b="1"/>
            <a:t>Evaluate</a:t>
          </a:r>
        </a:p>
      </dgm:t>
    </dgm:pt>
    <dgm:pt modelId="{B2F37D8D-A6B0-414A-9763-6D1800E224F7}" type="parTrans" cxnId="{63802985-57F2-4B4F-A366-8B186E88CDB1}">
      <dgm:prSet/>
      <dgm:spPr/>
      <dgm:t>
        <a:bodyPr/>
        <a:lstStyle/>
        <a:p>
          <a:endParaRPr lang="en-US"/>
        </a:p>
      </dgm:t>
    </dgm:pt>
    <dgm:pt modelId="{1F92C896-E036-4BEB-B2F3-CABBD173976B}" type="sibTrans" cxnId="{63802985-57F2-4B4F-A366-8B186E88CDB1}">
      <dgm:prSet/>
      <dgm:spPr/>
      <dgm:t>
        <a:bodyPr/>
        <a:lstStyle/>
        <a:p>
          <a:endParaRPr lang="en-US"/>
        </a:p>
      </dgm:t>
    </dgm:pt>
    <dgm:pt modelId="{99421F52-960B-4049-8745-A2571F0DB190}" type="pres">
      <dgm:prSet presAssocID="{2495AAD2-D79E-4183-82DD-0C751E595C30}" presName="CompostProcess" presStyleCnt="0">
        <dgm:presLayoutVars>
          <dgm:dir/>
          <dgm:resizeHandles val="exact"/>
        </dgm:presLayoutVars>
      </dgm:prSet>
      <dgm:spPr/>
    </dgm:pt>
    <dgm:pt modelId="{FE80D0E2-4B75-41D5-943B-B750735EE43C}" type="pres">
      <dgm:prSet presAssocID="{2495AAD2-D79E-4183-82DD-0C751E595C30}" presName="arrow" presStyleLbl="bgShp" presStyleIdx="0" presStyleCnt="1"/>
      <dgm:spPr/>
    </dgm:pt>
    <dgm:pt modelId="{6E2551BC-D533-4795-9287-423A954D961A}" type="pres">
      <dgm:prSet presAssocID="{2495AAD2-D79E-4183-82DD-0C751E595C30}" presName="linearProcess" presStyleCnt="0"/>
      <dgm:spPr/>
    </dgm:pt>
    <dgm:pt modelId="{D5E66305-A661-4BC8-AE1B-A032A766DE49}" type="pres">
      <dgm:prSet presAssocID="{B5487BC7-C6A8-417C-86A9-2B67ADBF0985}" presName="textNode" presStyleLbl="node1" presStyleIdx="0" presStyleCnt="5">
        <dgm:presLayoutVars>
          <dgm:bulletEnabled val="1"/>
        </dgm:presLayoutVars>
      </dgm:prSet>
      <dgm:spPr/>
    </dgm:pt>
    <dgm:pt modelId="{52A4A879-F78A-485A-9A94-BB37D7C13D30}" type="pres">
      <dgm:prSet presAssocID="{0488B8FC-8FE9-445F-8BA4-7B0E8B0DED82}" presName="sibTrans" presStyleCnt="0"/>
      <dgm:spPr/>
    </dgm:pt>
    <dgm:pt modelId="{FA04E566-C0F5-4A02-B584-7A11BA87D038}" type="pres">
      <dgm:prSet presAssocID="{2C1EDAED-AA89-4862-B8D4-018AD8E01ED5}" presName="textNode" presStyleLbl="node1" presStyleIdx="1" presStyleCnt="5">
        <dgm:presLayoutVars>
          <dgm:bulletEnabled val="1"/>
        </dgm:presLayoutVars>
      </dgm:prSet>
      <dgm:spPr/>
    </dgm:pt>
    <dgm:pt modelId="{1DE4E696-BDB1-4D36-9E38-E0E8A9D6DCB8}" type="pres">
      <dgm:prSet presAssocID="{31867213-AB88-4AFE-891A-79B678D2AB77}" presName="sibTrans" presStyleCnt="0"/>
      <dgm:spPr/>
    </dgm:pt>
    <dgm:pt modelId="{1A4E27A0-D351-4E6E-800C-B25C03B8ACC3}" type="pres">
      <dgm:prSet presAssocID="{00367241-C87E-4736-BDF6-5125EAE9919F}" presName="textNode" presStyleLbl="node1" presStyleIdx="2" presStyleCnt="5">
        <dgm:presLayoutVars>
          <dgm:bulletEnabled val="1"/>
        </dgm:presLayoutVars>
      </dgm:prSet>
      <dgm:spPr/>
    </dgm:pt>
    <dgm:pt modelId="{DD3B08B9-A6CB-42AB-AF62-8562F07CBC10}" type="pres">
      <dgm:prSet presAssocID="{D06DF112-64BA-48EC-AE29-376FA775CF04}" presName="sibTrans" presStyleCnt="0"/>
      <dgm:spPr/>
    </dgm:pt>
    <dgm:pt modelId="{890CC346-6C48-4BF1-968D-F3A4137BC4B3}" type="pres">
      <dgm:prSet presAssocID="{B1DB0B21-FE7C-48F0-A365-68CC62B1CA97}" presName="textNode" presStyleLbl="node1" presStyleIdx="3" presStyleCnt="5">
        <dgm:presLayoutVars>
          <dgm:bulletEnabled val="1"/>
        </dgm:presLayoutVars>
      </dgm:prSet>
      <dgm:spPr/>
    </dgm:pt>
    <dgm:pt modelId="{990FAC5F-0C73-424C-A228-00285BC68C11}" type="pres">
      <dgm:prSet presAssocID="{47FAEE3E-C90B-445E-9158-1A4E10AB81D8}" presName="sibTrans" presStyleCnt="0"/>
      <dgm:spPr/>
    </dgm:pt>
    <dgm:pt modelId="{3A27D474-B877-472C-9D87-EDDC0EF7869D}" type="pres">
      <dgm:prSet presAssocID="{A25FB6B4-95C0-48F1-8AAA-BD2050DF8304}" presName="textNode" presStyleLbl="node1" presStyleIdx="4" presStyleCnt="5">
        <dgm:presLayoutVars>
          <dgm:bulletEnabled val="1"/>
        </dgm:presLayoutVars>
      </dgm:prSet>
      <dgm:spPr/>
    </dgm:pt>
  </dgm:ptLst>
  <dgm:cxnLst>
    <dgm:cxn modelId="{6F2D3700-65E7-4829-826E-57ECEED2AB45}" srcId="{2495AAD2-D79E-4183-82DD-0C751E595C30}" destId="{B5487BC7-C6A8-417C-86A9-2B67ADBF0985}" srcOrd="0" destOrd="0" parTransId="{A991BDB8-8B43-462F-90D3-A0D9B38B49F8}" sibTransId="{0488B8FC-8FE9-445F-8BA4-7B0E8B0DED82}"/>
    <dgm:cxn modelId="{807CCF1D-8A17-4F89-9F81-ADC1FCB6AB5F}" type="presOf" srcId="{B5487BC7-C6A8-417C-86A9-2B67ADBF0985}" destId="{D5E66305-A661-4BC8-AE1B-A032A766DE49}" srcOrd="0" destOrd="0" presId="urn:microsoft.com/office/officeart/2005/8/layout/hProcess9"/>
    <dgm:cxn modelId="{41ADCE3D-8121-45A4-9DBB-735230022276}" srcId="{2495AAD2-D79E-4183-82DD-0C751E595C30}" destId="{2C1EDAED-AA89-4862-B8D4-018AD8E01ED5}" srcOrd="1" destOrd="0" parTransId="{B6CED3DB-0735-49E6-8097-46BC1800D840}" sibTransId="{31867213-AB88-4AFE-891A-79B678D2AB77}"/>
    <dgm:cxn modelId="{DACEE067-CAC1-4182-A4A6-9AD0E90BE7FF}" srcId="{2495AAD2-D79E-4183-82DD-0C751E595C30}" destId="{00367241-C87E-4736-BDF6-5125EAE9919F}" srcOrd="2" destOrd="0" parTransId="{CD2640FA-3D9B-4A99-8F94-EB0BF7F32997}" sibTransId="{D06DF112-64BA-48EC-AE29-376FA775CF04}"/>
    <dgm:cxn modelId="{CDC7A46B-63B1-42C0-B186-30CA34DE8DCA}" type="presOf" srcId="{00367241-C87E-4736-BDF6-5125EAE9919F}" destId="{1A4E27A0-D351-4E6E-800C-B25C03B8ACC3}" srcOrd="0" destOrd="0" presId="urn:microsoft.com/office/officeart/2005/8/layout/hProcess9"/>
    <dgm:cxn modelId="{13EBAB73-C7FD-4C2F-B72E-D555DFBCC18F}" type="presOf" srcId="{2C1EDAED-AA89-4862-B8D4-018AD8E01ED5}" destId="{FA04E566-C0F5-4A02-B584-7A11BA87D038}" srcOrd="0" destOrd="0" presId="urn:microsoft.com/office/officeart/2005/8/layout/hProcess9"/>
    <dgm:cxn modelId="{36518A83-8550-4B16-B70E-25F5009126A6}" type="presOf" srcId="{2495AAD2-D79E-4183-82DD-0C751E595C30}" destId="{99421F52-960B-4049-8745-A2571F0DB190}" srcOrd="0" destOrd="0" presId="urn:microsoft.com/office/officeart/2005/8/layout/hProcess9"/>
    <dgm:cxn modelId="{63802985-57F2-4B4F-A366-8B186E88CDB1}" srcId="{2495AAD2-D79E-4183-82DD-0C751E595C30}" destId="{A25FB6B4-95C0-48F1-8AAA-BD2050DF8304}" srcOrd="4" destOrd="0" parTransId="{B2F37D8D-A6B0-414A-9763-6D1800E224F7}" sibTransId="{1F92C896-E036-4BEB-B2F3-CABBD173976B}"/>
    <dgm:cxn modelId="{2587F392-89A6-4167-B30F-F79D6217208D}" type="presOf" srcId="{A25FB6B4-95C0-48F1-8AAA-BD2050DF8304}" destId="{3A27D474-B877-472C-9D87-EDDC0EF7869D}" srcOrd="0" destOrd="0" presId="urn:microsoft.com/office/officeart/2005/8/layout/hProcess9"/>
    <dgm:cxn modelId="{2856F69E-EA3C-4DE8-9D0C-6C84BFDBCB7E}" type="presOf" srcId="{B1DB0B21-FE7C-48F0-A365-68CC62B1CA97}" destId="{890CC346-6C48-4BF1-968D-F3A4137BC4B3}" srcOrd="0" destOrd="0" presId="urn:microsoft.com/office/officeart/2005/8/layout/hProcess9"/>
    <dgm:cxn modelId="{7380D0E8-4B36-4A8C-AC78-7FFF2E42642B}" srcId="{2495AAD2-D79E-4183-82DD-0C751E595C30}" destId="{B1DB0B21-FE7C-48F0-A365-68CC62B1CA97}" srcOrd="3" destOrd="0" parTransId="{4516BE3F-405B-44AA-9C3D-A131BFFA93E1}" sibTransId="{47FAEE3E-C90B-445E-9158-1A4E10AB81D8}"/>
    <dgm:cxn modelId="{AE715AAF-26F6-4EA1-82A0-6E4FC86035FD}" type="presParOf" srcId="{99421F52-960B-4049-8745-A2571F0DB190}" destId="{FE80D0E2-4B75-41D5-943B-B750735EE43C}" srcOrd="0" destOrd="0" presId="urn:microsoft.com/office/officeart/2005/8/layout/hProcess9"/>
    <dgm:cxn modelId="{4A40B97B-52B1-4255-A1ED-516014977834}" type="presParOf" srcId="{99421F52-960B-4049-8745-A2571F0DB190}" destId="{6E2551BC-D533-4795-9287-423A954D961A}" srcOrd="1" destOrd="0" presId="urn:microsoft.com/office/officeart/2005/8/layout/hProcess9"/>
    <dgm:cxn modelId="{86D0C4F0-BA10-48A4-8BA1-BD062B62B47F}" type="presParOf" srcId="{6E2551BC-D533-4795-9287-423A954D961A}" destId="{D5E66305-A661-4BC8-AE1B-A032A766DE49}" srcOrd="0" destOrd="0" presId="urn:microsoft.com/office/officeart/2005/8/layout/hProcess9"/>
    <dgm:cxn modelId="{129BA7D1-000A-415F-9C40-1F720BC4BCB2}" type="presParOf" srcId="{6E2551BC-D533-4795-9287-423A954D961A}" destId="{52A4A879-F78A-485A-9A94-BB37D7C13D30}" srcOrd="1" destOrd="0" presId="urn:microsoft.com/office/officeart/2005/8/layout/hProcess9"/>
    <dgm:cxn modelId="{C3E69585-2EE3-47EC-9EF6-DCDC53C65C45}" type="presParOf" srcId="{6E2551BC-D533-4795-9287-423A954D961A}" destId="{FA04E566-C0F5-4A02-B584-7A11BA87D038}" srcOrd="2" destOrd="0" presId="urn:microsoft.com/office/officeart/2005/8/layout/hProcess9"/>
    <dgm:cxn modelId="{70A17889-4853-400D-86B0-9A68EBC4BE49}" type="presParOf" srcId="{6E2551BC-D533-4795-9287-423A954D961A}" destId="{1DE4E696-BDB1-4D36-9E38-E0E8A9D6DCB8}" srcOrd="3" destOrd="0" presId="urn:microsoft.com/office/officeart/2005/8/layout/hProcess9"/>
    <dgm:cxn modelId="{22EC0A0A-F8CD-4480-A621-1BA20839CB5A}" type="presParOf" srcId="{6E2551BC-D533-4795-9287-423A954D961A}" destId="{1A4E27A0-D351-4E6E-800C-B25C03B8ACC3}" srcOrd="4" destOrd="0" presId="urn:microsoft.com/office/officeart/2005/8/layout/hProcess9"/>
    <dgm:cxn modelId="{8C01AA58-4DFE-4CFC-B2A0-C5BC1214DCA6}" type="presParOf" srcId="{6E2551BC-D533-4795-9287-423A954D961A}" destId="{DD3B08B9-A6CB-42AB-AF62-8562F07CBC10}" srcOrd="5" destOrd="0" presId="urn:microsoft.com/office/officeart/2005/8/layout/hProcess9"/>
    <dgm:cxn modelId="{D0902786-17F4-478E-9463-247170559015}" type="presParOf" srcId="{6E2551BC-D533-4795-9287-423A954D961A}" destId="{890CC346-6C48-4BF1-968D-F3A4137BC4B3}" srcOrd="6" destOrd="0" presId="urn:microsoft.com/office/officeart/2005/8/layout/hProcess9"/>
    <dgm:cxn modelId="{40FF528C-466D-4E0F-9DF8-14613288B3A3}" type="presParOf" srcId="{6E2551BC-D533-4795-9287-423A954D961A}" destId="{990FAC5F-0C73-424C-A228-00285BC68C11}" srcOrd="7" destOrd="0" presId="urn:microsoft.com/office/officeart/2005/8/layout/hProcess9"/>
    <dgm:cxn modelId="{F4794C92-8954-4E2D-B236-ED9F93EB08EA}" type="presParOf" srcId="{6E2551BC-D533-4795-9287-423A954D961A}" destId="{3A27D474-B877-472C-9D87-EDDC0EF7869D}"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80D0E2-4B75-41D5-943B-B750735EE43C}">
      <dsp:nvSpPr>
        <dsp:cNvPr id="0" name=""/>
        <dsp:cNvSpPr/>
      </dsp:nvSpPr>
      <dsp:spPr>
        <a:xfrm>
          <a:off x="457199" y="0"/>
          <a:ext cx="5181600" cy="4064000"/>
        </a:xfrm>
        <a:prstGeom prst="rightArrow">
          <a:avLst/>
        </a:prstGeom>
        <a:solidFill>
          <a:schemeClr val="accent1">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E66305-A661-4BC8-AE1B-A032A766DE49}">
      <dsp:nvSpPr>
        <dsp:cNvPr id="0" name=""/>
        <dsp:cNvSpPr/>
      </dsp:nvSpPr>
      <dsp:spPr>
        <a:xfrm>
          <a:off x="1179" y="1219199"/>
          <a:ext cx="1154791" cy="1625600"/>
        </a:xfrm>
        <a:prstGeom prst="roundRect">
          <a:avLst/>
        </a:prstGeom>
        <a:solidFill>
          <a:schemeClr val="accent1">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Split</a:t>
          </a:r>
        </a:p>
      </dsp:txBody>
      <dsp:txXfrm>
        <a:off x="57551" y="1275571"/>
        <a:ext cx="1042047" cy="1512856"/>
      </dsp:txXfrm>
    </dsp:sp>
    <dsp:sp modelId="{FA04E566-C0F5-4A02-B584-7A11BA87D038}">
      <dsp:nvSpPr>
        <dsp:cNvPr id="0" name=""/>
        <dsp:cNvSpPr/>
      </dsp:nvSpPr>
      <dsp:spPr>
        <a:xfrm>
          <a:off x="1235891" y="1219199"/>
          <a:ext cx="1154791" cy="1625600"/>
        </a:xfrm>
        <a:prstGeom prst="roundRect">
          <a:avLst/>
        </a:prstGeom>
        <a:solidFill>
          <a:schemeClr val="accent1">
            <a:shade val="50000"/>
            <a:hueOff val="135724"/>
            <a:satOff val="8068"/>
            <a:lumOff val="157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Preprocess</a:t>
          </a:r>
        </a:p>
      </dsp:txBody>
      <dsp:txXfrm>
        <a:off x="1292263" y="1275571"/>
        <a:ext cx="1042047" cy="1512856"/>
      </dsp:txXfrm>
    </dsp:sp>
    <dsp:sp modelId="{1A4E27A0-D351-4E6E-800C-B25C03B8ACC3}">
      <dsp:nvSpPr>
        <dsp:cNvPr id="0" name=""/>
        <dsp:cNvSpPr/>
      </dsp:nvSpPr>
      <dsp:spPr>
        <a:xfrm>
          <a:off x="2470604" y="1219199"/>
          <a:ext cx="1154791" cy="1625600"/>
        </a:xfrm>
        <a:prstGeom prst="roundRect">
          <a:avLst/>
        </a:prstGeom>
        <a:solidFill>
          <a:schemeClr val="accent1">
            <a:shade val="50000"/>
            <a:hueOff val="271448"/>
            <a:satOff val="16136"/>
            <a:lumOff val="3159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Specify</a:t>
          </a:r>
        </a:p>
      </dsp:txBody>
      <dsp:txXfrm>
        <a:off x="2526976" y="1275571"/>
        <a:ext cx="1042047" cy="1512856"/>
      </dsp:txXfrm>
    </dsp:sp>
    <dsp:sp modelId="{890CC346-6C48-4BF1-968D-F3A4137BC4B3}">
      <dsp:nvSpPr>
        <dsp:cNvPr id="0" name=""/>
        <dsp:cNvSpPr/>
      </dsp:nvSpPr>
      <dsp:spPr>
        <a:xfrm>
          <a:off x="3705316" y="1219199"/>
          <a:ext cx="1154791" cy="1625600"/>
        </a:xfrm>
        <a:prstGeom prst="roundRect">
          <a:avLst/>
        </a:prstGeom>
        <a:solidFill>
          <a:schemeClr val="accent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Fit</a:t>
          </a:r>
        </a:p>
      </dsp:txBody>
      <dsp:txXfrm>
        <a:off x="3761688" y="1275571"/>
        <a:ext cx="1042047" cy="1512856"/>
      </dsp:txXfrm>
    </dsp:sp>
    <dsp:sp modelId="{3A27D474-B877-472C-9D87-EDDC0EF7869D}">
      <dsp:nvSpPr>
        <dsp:cNvPr id="0" name=""/>
        <dsp:cNvSpPr/>
      </dsp:nvSpPr>
      <dsp:spPr>
        <a:xfrm>
          <a:off x="4940028" y="1219199"/>
          <a:ext cx="1154791" cy="1625600"/>
        </a:xfrm>
        <a:prstGeom prst="roundRect">
          <a:avLst/>
        </a:prstGeom>
        <a:solidFill>
          <a:schemeClr val="accent1">
            <a:shade val="50000"/>
            <a:hueOff val="135724"/>
            <a:satOff val="8068"/>
            <a:lumOff val="157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Evaluate</a:t>
          </a:r>
        </a:p>
      </dsp:txBody>
      <dsp:txXfrm>
        <a:off x="4996400" y="1275571"/>
        <a:ext cx="1042047" cy="151285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064D9B-BBBE-416D-99BA-EBA5C3A5ECE7}" type="datetimeFigureOut">
              <a:rPr lang="en-US" smtClean="0"/>
              <a:t>9/13/2026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C0184B-C4FE-4ABD-9ACB-6B408A31FBCF}" type="slidenum">
              <a:rPr lang="en-US" smtClean="0"/>
              <a:t>‹#›</a:t>
            </a:fld>
            <a:endParaRPr lang="en-US"/>
          </a:p>
        </p:txBody>
      </p:sp>
    </p:spTree>
    <p:extLst>
      <p:ext uri="{BB962C8B-B14F-4D97-AF65-F5344CB8AC3E}">
        <p14:creationId xmlns:p14="http://schemas.microsoft.com/office/powerpoint/2010/main" val="1733976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tune.tidymodels.org/reference/fit_resamples.html"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parsnip.tidymodels.org/reference/details_rand_forest_ranger.html"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parsnip.tidymodels.org/reference/rand_forest.html"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parsnip.tidymodels.org/reference/details_rand_forest_ranger.html" TargetMode="Externa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parsnip.tidymodels.org/articles/parsnip.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tune.tidymodels.org/reference/last_fit.html"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C0184B-C4FE-4ABD-9ACB-6B408A31FBCF}" type="slidenum">
              <a:rPr lang="en-US" smtClean="0"/>
              <a:t>1</a:t>
            </a:fld>
            <a:endParaRPr lang="en-US"/>
          </a:p>
        </p:txBody>
      </p:sp>
    </p:spTree>
    <p:extLst>
      <p:ext uri="{BB962C8B-B14F-4D97-AF65-F5344CB8AC3E}">
        <p14:creationId xmlns:p14="http://schemas.microsoft.com/office/powerpoint/2010/main" val="3464766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C0184B-C4FE-4ABD-9ACB-6B408A31FBCF}" type="slidenum">
              <a:rPr lang="en-US" smtClean="0"/>
              <a:t>2</a:t>
            </a:fld>
            <a:endParaRPr lang="en-US"/>
          </a:p>
        </p:txBody>
      </p:sp>
    </p:spTree>
    <p:extLst>
      <p:ext uri="{BB962C8B-B14F-4D97-AF65-F5344CB8AC3E}">
        <p14:creationId xmlns:p14="http://schemas.microsoft.com/office/powerpoint/2010/main" val="4049807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We have good news and we have bad news…bad news first</a:t>
            </a:r>
          </a:p>
        </p:txBody>
      </p:sp>
      <p:sp>
        <p:nvSpPr>
          <p:cNvPr id="4" name="Slide Number Placeholder 3"/>
          <p:cNvSpPr>
            <a:spLocks noGrp="1"/>
          </p:cNvSpPr>
          <p:nvPr>
            <p:ph type="sldNum" sz="quarter" idx="5"/>
          </p:nvPr>
        </p:nvSpPr>
        <p:spPr/>
        <p:txBody>
          <a:bodyPr/>
          <a:lstStyle/>
          <a:p>
            <a:fld id="{8DC0184B-C4FE-4ABD-9ACB-6B408A31FBCF}" type="slidenum">
              <a:rPr lang="en-US" smtClean="0"/>
              <a:t>3</a:t>
            </a:fld>
            <a:endParaRPr lang="en-US"/>
          </a:p>
        </p:txBody>
      </p:sp>
    </p:spTree>
    <p:extLst>
      <p:ext uri="{BB962C8B-B14F-4D97-AF65-F5344CB8AC3E}">
        <p14:creationId xmlns:p14="http://schemas.microsoft.com/office/powerpoint/2010/main" val="604357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The bad news is that machine learning has approximately eight million packages, frameworks, algorithms, acronyms, and opinions about how you’re supposed to do it</a:t>
            </a:r>
            <a:endParaRPr lang="en-US"/>
          </a:p>
        </p:txBody>
      </p:sp>
      <p:sp>
        <p:nvSpPr>
          <p:cNvPr id="4" name="Slide Number Placeholder 3"/>
          <p:cNvSpPr>
            <a:spLocks noGrp="1"/>
          </p:cNvSpPr>
          <p:nvPr>
            <p:ph type="sldNum" sz="quarter" idx="5"/>
          </p:nvPr>
        </p:nvSpPr>
        <p:spPr/>
        <p:txBody>
          <a:bodyPr/>
          <a:lstStyle/>
          <a:p>
            <a:fld id="{8DC0184B-C4FE-4ABD-9ACB-6B408A31FBCF}" type="slidenum">
              <a:rPr lang="en-US" smtClean="0"/>
              <a:t>4</a:t>
            </a:fld>
            <a:endParaRPr lang="en-US"/>
          </a:p>
        </p:txBody>
      </p:sp>
    </p:spTree>
    <p:extLst>
      <p:ext uri="{BB962C8B-B14F-4D97-AF65-F5344CB8AC3E}">
        <p14:creationId xmlns:p14="http://schemas.microsoft.com/office/powerpoint/2010/main" val="3728672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63E86-34F9-5908-8006-ACF667062C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3F6DB-4E3D-DE4A-088A-F464B244639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B6C7DFF-0AB9-36E8-4D6C-95779EAD252C}"/>
              </a:ext>
            </a:extLst>
          </p:cNvPr>
          <p:cNvSpPr>
            <a:spLocks noGrp="1"/>
          </p:cNvSpPr>
          <p:nvPr>
            <p:ph type="body" idx="1"/>
          </p:nvPr>
        </p:nvSpPr>
        <p:spPr/>
        <p:txBody>
          <a:bodyPr/>
          <a:lstStyle/>
          <a:p>
            <a:r>
              <a:rPr lang="en-US" sz="1200" kern="1200">
                <a:solidFill>
                  <a:schemeClr val="tx1"/>
                </a:solidFill>
                <a:effectLst/>
                <a:latin typeface="+mn-lt"/>
                <a:ea typeface="+mn-ea"/>
                <a:cs typeface="+mn-cs"/>
              </a:rPr>
              <a:t>The good news? </a:t>
            </a:r>
            <a:r>
              <a:rPr lang="en-US" sz="1200" b="1" kern="1200">
                <a:solidFill>
                  <a:schemeClr val="tx1"/>
                </a:solidFill>
                <a:effectLst/>
                <a:latin typeface="+mn-lt"/>
                <a:ea typeface="+mn-ea"/>
                <a:cs typeface="+mn-cs"/>
              </a:rPr>
              <a:t>Your first machine learning workflow can be incredibly boring. </a:t>
            </a:r>
            <a:r>
              <a:rPr lang="en-US" sz="1200" kern="1200">
                <a:solidFill>
                  <a:schemeClr val="tx1"/>
                </a:solidFill>
                <a:effectLst/>
                <a:latin typeface="+mn-lt"/>
                <a:ea typeface="+mn-ea"/>
                <a:cs typeface="+mn-cs"/>
              </a:rPr>
              <a:t>And we think it should be. In this session, we’ll show you how to start with one manageable, reproducible workflow that can easily be expanded once you understand the basics. </a:t>
            </a:r>
            <a:endParaRPr lang="en-US"/>
          </a:p>
        </p:txBody>
      </p:sp>
      <p:sp>
        <p:nvSpPr>
          <p:cNvPr id="4" name="Slide Number Placeholder 3">
            <a:extLst>
              <a:ext uri="{FF2B5EF4-FFF2-40B4-BE49-F238E27FC236}">
                <a16:creationId xmlns:a16="http://schemas.microsoft.com/office/drawing/2014/main" id="{29F3FE87-A690-45FB-ED77-27D318E1686F}"/>
              </a:ext>
            </a:extLst>
          </p:cNvPr>
          <p:cNvSpPr>
            <a:spLocks noGrp="1"/>
          </p:cNvSpPr>
          <p:nvPr>
            <p:ph type="sldNum" sz="quarter" idx="5"/>
          </p:nvPr>
        </p:nvSpPr>
        <p:spPr/>
        <p:txBody>
          <a:bodyPr/>
          <a:lstStyle/>
          <a:p>
            <a:fld id="{8DC0184B-C4FE-4ABD-9ACB-6B408A31FBCF}" type="slidenum">
              <a:rPr lang="en-US" smtClean="0"/>
              <a:t>5</a:t>
            </a:fld>
            <a:endParaRPr lang="en-US"/>
          </a:p>
        </p:txBody>
      </p:sp>
    </p:spTree>
    <p:extLst>
      <p:ext uri="{BB962C8B-B14F-4D97-AF65-F5344CB8AC3E}">
        <p14:creationId xmlns:p14="http://schemas.microsoft.com/office/powerpoint/2010/main" val="1764145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A0DB0-42DA-B99A-8675-F4E36DAB3B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67CD9D-343E-E328-1E6C-142AC4C762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4140BF2-CCF2-E030-E0FF-B6361A17C3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C88182-86F0-C411-3876-FA3DCFB0731A}"/>
              </a:ext>
            </a:extLst>
          </p:cNvPr>
          <p:cNvSpPr>
            <a:spLocks noGrp="1"/>
          </p:cNvSpPr>
          <p:nvPr>
            <p:ph type="sldNum" sz="quarter" idx="5"/>
          </p:nvPr>
        </p:nvSpPr>
        <p:spPr/>
        <p:txBody>
          <a:bodyPr/>
          <a:lstStyle/>
          <a:p>
            <a:fld id="{8DC0184B-C4FE-4ABD-9ACB-6B408A31FBCF}" type="slidenum">
              <a:rPr lang="en-US" smtClean="0"/>
              <a:t>6</a:t>
            </a:fld>
            <a:endParaRPr lang="en-US"/>
          </a:p>
        </p:txBody>
      </p:sp>
    </p:spTree>
    <p:extLst>
      <p:ext uri="{BB962C8B-B14F-4D97-AF65-F5344CB8AC3E}">
        <p14:creationId xmlns:p14="http://schemas.microsoft.com/office/powerpoint/2010/main" val="691526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FBAFD-2098-76AE-118C-5BBF39374D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39D0E-D79E-2702-A010-E3558E7464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19F2608-B56E-2473-0930-C494291049BF}"/>
              </a:ext>
            </a:extLst>
          </p:cNvPr>
          <p:cNvSpPr>
            <a:spLocks noGrp="1"/>
          </p:cNvSpPr>
          <p:nvPr>
            <p:ph type="body" idx="1"/>
          </p:nvPr>
        </p:nvSpPr>
        <p:spPr/>
        <p:txBody>
          <a:bodyPr/>
          <a:lstStyle/>
          <a:p>
            <a:r>
              <a:rPr lang="en-US"/>
              <a:t>And while we said you should start “boring” with your techniques, you don’t have to start with boring questions/predictions. </a:t>
            </a:r>
          </a:p>
        </p:txBody>
      </p:sp>
      <p:sp>
        <p:nvSpPr>
          <p:cNvPr id="4" name="Slide Number Placeholder 3">
            <a:extLst>
              <a:ext uri="{FF2B5EF4-FFF2-40B4-BE49-F238E27FC236}">
                <a16:creationId xmlns:a16="http://schemas.microsoft.com/office/drawing/2014/main" id="{FE4A54FC-5414-0D71-94F0-89C35F87145E}"/>
              </a:ext>
            </a:extLst>
          </p:cNvPr>
          <p:cNvSpPr>
            <a:spLocks noGrp="1"/>
          </p:cNvSpPr>
          <p:nvPr>
            <p:ph type="sldNum" sz="quarter" idx="5"/>
          </p:nvPr>
        </p:nvSpPr>
        <p:spPr/>
        <p:txBody>
          <a:bodyPr/>
          <a:lstStyle/>
          <a:p>
            <a:fld id="{8DC0184B-C4FE-4ABD-9ACB-6B408A31FBCF}" type="slidenum">
              <a:rPr lang="en-US" smtClean="0"/>
              <a:t>7</a:t>
            </a:fld>
            <a:endParaRPr lang="en-US"/>
          </a:p>
        </p:txBody>
      </p:sp>
    </p:spTree>
    <p:extLst>
      <p:ext uri="{BB962C8B-B14F-4D97-AF65-F5344CB8AC3E}">
        <p14:creationId xmlns:p14="http://schemas.microsoft.com/office/powerpoint/2010/main" val="606400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6B9F7-C3CA-728E-316E-073CAE26F6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906619-0130-9C53-1C77-DEC1F41E3AB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7D3AA25-DE42-52C6-9CFB-B91F2029D1B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Say:</a:t>
            </a:r>
            <a:r>
              <a:rPr lang="en-US"/>
              <a:t> “We reconstruct what teams looked like partway through earlier seasons, then attach whether they eventually qualified. Our test is whether that helps us predict a season the model hasn’t seen.”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075AE5C6-E7D0-D5C9-9AD6-0F308650EDB5}"/>
              </a:ext>
            </a:extLst>
          </p:cNvPr>
          <p:cNvSpPr>
            <a:spLocks noGrp="1"/>
          </p:cNvSpPr>
          <p:nvPr>
            <p:ph type="sldNum" sz="quarter" idx="5"/>
          </p:nvPr>
        </p:nvSpPr>
        <p:spPr/>
        <p:txBody>
          <a:bodyPr/>
          <a:lstStyle/>
          <a:p>
            <a:fld id="{8DC0184B-C4FE-4ABD-9ACB-6B408A31FBCF}" type="slidenum">
              <a:rPr lang="en-US" smtClean="0"/>
              <a:t>8</a:t>
            </a:fld>
            <a:endParaRPr lang="en-US"/>
          </a:p>
        </p:txBody>
      </p:sp>
    </p:spTree>
    <p:extLst>
      <p:ext uri="{BB962C8B-B14F-4D97-AF65-F5344CB8AC3E}">
        <p14:creationId xmlns:p14="http://schemas.microsoft.com/office/powerpoint/2010/main" val="12120094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0F47C-BF46-7F22-78D0-D8FA6CB97A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6831D-9B0E-4A63-0510-7763619A16A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333E10C-7742-5AE3-C0D6-16B0A3185A8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8559D478-64BE-EEA2-598A-513F0D2B18C8}"/>
              </a:ext>
            </a:extLst>
          </p:cNvPr>
          <p:cNvSpPr>
            <a:spLocks noGrp="1"/>
          </p:cNvSpPr>
          <p:nvPr>
            <p:ph type="sldNum" sz="quarter" idx="5"/>
          </p:nvPr>
        </p:nvSpPr>
        <p:spPr/>
        <p:txBody>
          <a:bodyPr/>
          <a:lstStyle/>
          <a:p>
            <a:fld id="{8DC0184B-C4FE-4ABD-9ACB-6B408A31FBCF}" type="slidenum">
              <a:rPr lang="en-US" smtClean="0"/>
              <a:t>9</a:t>
            </a:fld>
            <a:endParaRPr lang="en-US"/>
          </a:p>
        </p:txBody>
      </p:sp>
    </p:spTree>
    <p:extLst>
      <p:ext uri="{BB962C8B-B14F-4D97-AF65-F5344CB8AC3E}">
        <p14:creationId xmlns:p14="http://schemas.microsoft.com/office/powerpoint/2010/main" val="19156913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A8A8A-2421-2D0F-058F-902C25D9D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3BE8CA-08F9-3F42-6E3C-EC9FF41C6D2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64AB3CD-778D-EF3C-129E-2A5669DFED1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Before we introduce the “boring” ML framework….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r>
              <a:rPr lang="en-US" b="1"/>
              <a:t>Say:</a:t>
            </a:r>
            <a:r>
              <a:rPr lang="en-US"/>
              <a:t> “If you’re comfortable with regression, you already know the most important modeling questions. What are we predicting? Which predictors make sense? What observations will the model learn from?</a:t>
            </a:r>
          </a:p>
          <a:p>
            <a:r>
              <a:rPr lang="en-US"/>
              <a:t>Today our outcome is whether a team eventually makes the playoffs. Our predictors describe how the team was performing at a specific point in the season, and our training data comes from prior NWSL seasons. The algorithm changes, but those underlying decisions don’t disappear. </a:t>
            </a:r>
            <a:r>
              <a:rPr lang="en-US" err="1"/>
              <a:t>Tidymodels</a:t>
            </a:r>
            <a:r>
              <a:rPr lang="en-US"/>
              <a:t> gives us a consistent structure for handling them.”</a:t>
            </a:r>
          </a:p>
          <a:p>
            <a:endParaRPr lang="en-US"/>
          </a:p>
          <a:p>
            <a:r>
              <a:rPr lang="en-US"/>
              <a:t>“Your statistical thinking still matters. We still need a clear outcome, sensible predictors, and an honest way to check performance. </a:t>
            </a:r>
            <a:r>
              <a:rPr lang="en-US" err="1"/>
              <a:t>Tidymodels</a:t>
            </a:r>
            <a:r>
              <a:rPr lang="en-US"/>
              <a:t> gives us a consistent structure around those decisions.”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41BE1C10-671D-B9F1-0C68-71B8FED90229}"/>
              </a:ext>
            </a:extLst>
          </p:cNvPr>
          <p:cNvSpPr>
            <a:spLocks noGrp="1"/>
          </p:cNvSpPr>
          <p:nvPr>
            <p:ph type="sldNum" sz="quarter" idx="5"/>
          </p:nvPr>
        </p:nvSpPr>
        <p:spPr/>
        <p:txBody>
          <a:bodyPr/>
          <a:lstStyle/>
          <a:p>
            <a:fld id="{8DC0184B-C4FE-4ABD-9ACB-6B408A31FBCF}" type="slidenum">
              <a:rPr lang="en-US" smtClean="0"/>
              <a:t>10</a:t>
            </a:fld>
            <a:endParaRPr lang="en-US"/>
          </a:p>
        </p:txBody>
      </p:sp>
    </p:spTree>
    <p:extLst>
      <p:ext uri="{BB962C8B-B14F-4D97-AF65-F5344CB8AC3E}">
        <p14:creationId xmlns:p14="http://schemas.microsoft.com/office/powerpoint/2010/main" val="3050273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Say:</a:t>
            </a:r>
            <a:r>
              <a:rPr lang="en-US"/>
              <a:t> “We split the data, define the preprocessing, specify a model, fit it, and evaluate it. Those five steps are our map. We’ll use a workflow to connect the pieces and practice on earlier seasons before the final test. Then we can answer our original question.”</a:t>
            </a:r>
          </a:p>
          <a:p>
            <a:r>
              <a:rPr lang="en-US" b="1"/>
              <a:t>One sentence about tools:</a:t>
            </a:r>
            <a:r>
              <a:rPr lang="en-US"/>
              <a:t> “RStudio is where we’re working; </a:t>
            </a:r>
            <a:r>
              <a:rPr lang="en-US" err="1"/>
              <a:t>tidymodels</a:t>
            </a:r>
            <a:r>
              <a:rPr lang="en-US"/>
              <a:t> is the collection of R packages doing these jobs.”</a:t>
            </a:r>
          </a:p>
          <a:p>
            <a:r>
              <a:rPr lang="en-US" b="1"/>
              <a:t>Technical note:</a:t>
            </a:r>
            <a:r>
              <a:rPr lang="en-US"/>
              <a:t> Recipe and model specifications are instructions, not fitted objects. Learned preprocessing happens within each training fit. Resampling evaluates the assembled workflow; it is not a one-time data transformation to run before model specification. </a:t>
            </a:r>
            <a:r>
              <a:rPr lang="en-US">
                <a:hlinkClick r:id="rId3"/>
              </a:rPr>
              <a:t>Workflow resampling documentation</a:t>
            </a:r>
            <a:endParaRPr lang="en-US"/>
          </a:p>
          <a:p>
            <a:endParaRPr lang="en-US"/>
          </a:p>
        </p:txBody>
      </p:sp>
      <p:sp>
        <p:nvSpPr>
          <p:cNvPr id="4" name="Slide Number Placeholder 3"/>
          <p:cNvSpPr>
            <a:spLocks noGrp="1"/>
          </p:cNvSpPr>
          <p:nvPr>
            <p:ph type="sldNum" sz="quarter" idx="5"/>
          </p:nvPr>
        </p:nvSpPr>
        <p:spPr/>
        <p:txBody>
          <a:bodyPr/>
          <a:lstStyle/>
          <a:p>
            <a:fld id="{8DC0184B-C4FE-4ABD-9ACB-6B408A31FBCF}" type="slidenum">
              <a:rPr lang="en-US" smtClean="0"/>
              <a:t>11</a:t>
            </a:fld>
            <a:endParaRPr lang="en-US"/>
          </a:p>
        </p:txBody>
      </p:sp>
    </p:spTree>
    <p:extLst>
      <p:ext uri="{BB962C8B-B14F-4D97-AF65-F5344CB8AC3E}">
        <p14:creationId xmlns:p14="http://schemas.microsoft.com/office/powerpoint/2010/main" val="6371860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BF623-B990-6AA5-EDB6-4DC7E4C62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B58CD-644D-D5F9-6936-25A28C51A1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D4E5B0B-8A56-E581-7F34-3E4A19DB5F43}"/>
              </a:ext>
            </a:extLst>
          </p:cNvPr>
          <p:cNvSpPr>
            <a:spLocks noGrp="1"/>
          </p:cNvSpPr>
          <p:nvPr>
            <p:ph type="body" idx="1"/>
          </p:nvPr>
        </p:nvSpPr>
        <p:spPr/>
        <p:txBody>
          <a:bodyPr/>
          <a:lstStyle/>
          <a:p>
            <a:r>
              <a:rPr lang="en-US" b="1"/>
              <a:t>Second quick example:</a:t>
            </a:r>
            <a:r>
              <a:rPr lang="en-US"/>
              <a:t> Two snapshots of the same team-season accidentally placed in training and testing.</a:t>
            </a:r>
          </a:p>
          <a:p>
            <a:r>
              <a:rPr lang="en-US" b="1"/>
              <a:t>Say:</a:t>
            </a:r>
            <a:r>
              <a:rPr lang="en-US"/>
              <a:t> “The model can look brilliant if we give it answers from the future—or test it on a near-duplicate of what it already learned from.”</a:t>
            </a:r>
          </a:p>
          <a:p>
            <a:r>
              <a:rPr lang="en-US" b="1"/>
              <a:t>Notes:</a:t>
            </a:r>
            <a:r>
              <a:rPr lang="en-US"/>
              <a:t> The eventual playoff result is correctly used as the historical outcome label; it must not be supplied as a predictor. Learned preprocessing, such as an imputation median, must also be estimated without using test or current-season rows.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DDA56D0C-BB6E-115E-111E-7883722968EA}"/>
              </a:ext>
            </a:extLst>
          </p:cNvPr>
          <p:cNvSpPr>
            <a:spLocks noGrp="1"/>
          </p:cNvSpPr>
          <p:nvPr>
            <p:ph type="sldNum" sz="quarter" idx="5"/>
          </p:nvPr>
        </p:nvSpPr>
        <p:spPr/>
        <p:txBody>
          <a:bodyPr/>
          <a:lstStyle/>
          <a:p>
            <a:fld id="{8DC0184B-C4FE-4ABD-9ACB-6B408A31FBCF}" type="slidenum">
              <a:rPr lang="en-US" smtClean="0"/>
              <a:t>12</a:t>
            </a:fld>
            <a:endParaRPr lang="en-US"/>
          </a:p>
        </p:txBody>
      </p:sp>
    </p:spTree>
    <p:extLst>
      <p:ext uri="{BB962C8B-B14F-4D97-AF65-F5344CB8AC3E}">
        <p14:creationId xmlns:p14="http://schemas.microsoft.com/office/powerpoint/2010/main" val="817545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9C32A-3992-22B8-6D86-6B5EA9175B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CC640A-6A9D-1AE5-993E-D449823A2ED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9C8D868-7469-EAA7-C26E-DBB4DC983F2C}"/>
              </a:ext>
            </a:extLst>
          </p:cNvPr>
          <p:cNvSpPr>
            <a:spLocks noGrp="1"/>
          </p:cNvSpPr>
          <p:nvPr>
            <p:ph type="body" idx="1"/>
          </p:nvPr>
        </p:nvSpPr>
        <p:spPr/>
        <p:txBody>
          <a:bodyPr/>
          <a:lstStyle/>
          <a:p>
            <a:r>
              <a:rPr lang="en-US" b="1"/>
              <a:t>Say:</a:t>
            </a:r>
            <a:r>
              <a:rPr lang="en-US"/>
              <a:t> “We use earlier seasons to develop the model. We save 2025 for the final test. The current season has no outcome labels yet.”</a:t>
            </a:r>
          </a:p>
          <a:p>
            <a:r>
              <a:rPr lang="en-US" b="1"/>
              <a:t>Notes:</a:t>
            </a:r>
            <a:r>
              <a:rPr lang="en-US"/>
              <a:t> Do not substitute a random row split. Excluding 2020 preserves a comparable regular-season/playoff outcome; COVID replaced that season with different competitions. The rule is to split before learning preprocessing or making data-driven modeling choices, not to prohibit inspecting column names or defining the prediction problem first.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D7D02BB5-E768-00BD-407D-80C8C8BC8D05}"/>
              </a:ext>
            </a:extLst>
          </p:cNvPr>
          <p:cNvSpPr>
            <a:spLocks noGrp="1"/>
          </p:cNvSpPr>
          <p:nvPr>
            <p:ph type="sldNum" sz="quarter" idx="5"/>
          </p:nvPr>
        </p:nvSpPr>
        <p:spPr/>
        <p:txBody>
          <a:bodyPr/>
          <a:lstStyle/>
          <a:p>
            <a:fld id="{8DC0184B-C4FE-4ABD-9ACB-6B408A31FBCF}" type="slidenum">
              <a:rPr lang="en-US" smtClean="0"/>
              <a:t>13</a:t>
            </a:fld>
            <a:endParaRPr lang="en-US"/>
          </a:p>
        </p:txBody>
      </p:sp>
    </p:spTree>
    <p:extLst>
      <p:ext uri="{BB962C8B-B14F-4D97-AF65-F5344CB8AC3E}">
        <p14:creationId xmlns:p14="http://schemas.microsoft.com/office/powerpoint/2010/main" val="41017298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3F471-8D05-0AE0-C43F-C1039F3FA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B12A7C-FCE1-6EE4-CFEB-52F092342FC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DA51AF6-D182-61A2-0E9C-13FA8346636D}"/>
              </a:ext>
            </a:extLst>
          </p:cNvPr>
          <p:cNvSpPr>
            <a:spLocks noGrp="1"/>
          </p:cNvSpPr>
          <p:nvPr>
            <p:ph type="body" idx="1"/>
          </p:nvPr>
        </p:nvSpPr>
        <p:spPr/>
        <p:txBody>
          <a:bodyPr/>
          <a:lstStyle/>
          <a:p>
            <a:r>
              <a:rPr lang="en-US" b="1"/>
              <a:t>Say:</a:t>
            </a:r>
            <a:r>
              <a:rPr lang="en-US"/>
              <a:t> “This is where we tell tidymodels what columns are eligible and how to transform them before the model ever sees the data. The important part is that the same preparation happens later for the test data and 2026 data automatically.”</a:t>
            </a:r>
          </a:p>
          <a:p>
            <a:r>
              <a:rPr lang="en-US" b="1"/>
              <a:t>Also mention:</a:t>
            </a:r>
            <a:r>
              <a:rPr lang="en-US"/>
              <a:t> “Then we remove the raw totals and drop any predictors with no variation.” (step_rm() and step_zv(), left off the slide for space.)</a:t>
            </a:r>
          </a:p>
          <a:p>
            <a:r>
              <a:rPr lang="en-US" b="1"/>
              <a:t>Say:</a:t>
            </a:r>
            <a:r>
              <a:rPr lang="en-US"/>
              <a:t> “The recipe describes the prep. When we fit the workflow, it learns any required values from that fit’s training data and applies the same rules to new data.”</a:t>
            </a:r>
          </a:p>
          <a:p>
            <a:r>
              <a:rPr lang="en-US" b="1"/>
              <a:t>Keep the example honest:</a:t>
            </a:r>
            <a:r>
              <a:rPr lang="en-US"/>
              <a:t> The prepared data have no missing predictor values. If showing median imputation, call it a guard for future missing inputs; do not claim it cleaned missing values in this extract. The nine selected predictors are numeric, so dummy encoding is unnecessary. Ranger also supports categorical predictors without requiring dummy variables. Scaling is unnecessary for this example. </a:t>
            </a:r>
            <a:r>
              <a:rPr lang="en-US">
                <a:hlinkClick r:id="rId3"/>
              </a:rPr>
              <a:t>Ranger preprocessing guidance</a:t>
            </a:r>
            <a:endParaRPr lang="en-US"/>
          </a:p>
          <a:p>
            <a:r>
              <a:rPr lang="en-US" b="1"/>
              <a:t>Brief mention only:</a:t>
            </a:r>
            <a:r>
              <a:rPr lang="en-US"/>
              <a:t> Other models may need normalization, encoding, or transformations. Do not add those steps merely to demonstrate more functions.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14CB6C36-E92E-4828-D0A4-8DFC97B39671}"/>
              </a:ext>
            </a:extLst>
          </p:cNvPr>
          <p:cNvSpPr>
            <a:spLocks noGrp="1"/>
          </p:cNvSpPr>
          <p:nvPr>
            <p:ph type="sldNum" sz="quarter" idx="5"/>
          </p:nvPr>
        </p:nvSpPr>
        <p:spPr/>
        <p:txBody>
          <a:bodyPr/>
          <a:lstStyle/>
          <a:p>
            <a:fld id="{8DC0184B-C4FE-4ABD-9ACB-6B408A31FBCF}" type="slidenum">
              <a:rPr lang="en-US" smtClean="0"/>
              <a:t>14</a:t>
            </a:fld>
            <a:endParaRPr lang="en-US"/>
          </a:p>
        </p:txBody>
      </p:sp>
    </p:spTree>
    <p:extLst>
      <p:ext uri="{BB962C8B-B14F-4D97-AF65-F5344CB8AC3E}">
        <p14:creationId xmlns:p14="http://schemas.microsoft.com/office/powerpoint/2010/main" val="262034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Say:</a:t>
            </a:r>
            <a:r>
              <a:rPr lang="en-US"/>
              <a:t> “A single tree learns decision rules. A forest grows many trees using different samples and predictor subsets, then combines their predictions. That lets it capture nonlinear patterns and interactions without our specifying every one.”</a:t>
            </a:r>
          </a:p>
          <a:p>
            <a:r>
              <a:rPr lang="en-US" b="1"/>
              <a:t>Why today:</a:t>
            </a:r>
            <a:r>
              <a:rPr lang="en-US"/>
              <a:t> It is a practical model for demonstrating this workflow and requires little preprocessing here. This does not establish that it is the best model for NWSL forecasts.</a:t>
            </a:r>
          </a:p>
          <a:p>
            <a:r>
              <a:rPr lang="en-US" b="1"/>
              <a:t>Technical note:</a:t>
            </a:r>
            <a:r>
              <a:rPr lang="en-US"/>
              <a:t> For the probability forest used by parsnip/ranger, describe combining or averaging tree-level probability estimates; do not define the displayed score as the percentage of trees casting a hard Yes vote. </a:t>
            </a:r>
            <a:r>
              <a:rPr lang="en-US">
                <a:hlinkClick r:id="rId3"/>
              </a:rPr>
              <a:t>Random forest specification</a:t>
            </a:r>
            <a:r>
              <a:rPr lang="en-US"/>
              <a:t>, </a:t>
            </a:r>
            <a:r>
              <a:rPr lang="en-US">
                <a:hlinkClick r:id="rId4"/>
              </a:rPr>
              <a:t>ranger engine details</a:t>
            </a:r>
            <a:endParaRPr lang="en-US"/>
          </a:p>
          <a:p>
            <a:endParaRPr lang="en-US"/>
          </a:p>
        </p:txBody>
      </p:sp>
      <p:sp>
        <p:nvSpPr>
          <p:cNvPr id="4" name="Slide Number Placeholder 3"/>
          <p:cNvSpPr>
            <a:spLocks noGrp="1"/>
          </p:cNvSpPr>
          <p:nvPr>
            <p:ph type="sldNum" sz="quarter" idx="5"/>
          </p:nvPr>
        </p:nvSpPr>
        <p:spPr/>
        <p:txBody>
          <a:bodyPr/>
          <a:lstStyle/>
          <a:p>
            <a:fld id="{8DC0184B-C4FE-4ABD-9ACB-6B408A31FBCF}" type="slidenum">
              <a:rPr lang="en-US" smtClean="0"/>
              <a:t>15</a:t>
            </a:fld>
            <a:endParaRPr lang="en-US"/>
          </a:p>
        </p:txBody>
      </p:sp>
    </p:spTree>
    <p:extLst>
      <p:ext uri="{BB962C8B-B14F-4D97-AF65-F5344CB8AC3E}">
        <p14:creationId xmlns:p14="http://schemas.microsoft.com/office/powerpoint/2010/main" val="16810978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67840-0CEF-2018-6741-09B896404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307C1B-D573-4CB1-B589-8E3752C5A2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65C5B58-836E-F228-3979-0021DA62882C}"/>
              </a:ext>
            </a:extLst>
          </p:cNvPr>
          <p:cNvSpPr>
            <a:spLocks noGrp="1"/>
          </p:cNvSpPr>
          <p:nvPr>
            <p:ph type="body" idx="1"/>
          </p:nvPr>
        </p:nvSpPr>
        <p:spPr/>
        <p:txBody>
          <a:bodyPr/>
          <a:lstStyle/>
          <a:p>
            <a:r>
              <a:rPr lang="en-US" b="1"/>
              <a:t>Say:</a:t>
            </a:r>
            <a:r>
              <a:rPr lang="en-US"/>
              <a:t> “Random forest is the model. Ranger is the implementation. Classification is the task. We’ve specified what we want; we haven’t fitted it yet.”</a:t>
            </a:r>
          </a:p>
          <a:p>
            <a:r>
              <a:rPr lang="en-US" b="1"/>
              <a:t>Notes:</a:t>
            </a:r>
            <a:r>
              <a:rPr lang="en-US"/>
              <a:t> These are the fixed settings in the prepared starter script. They are teaching settings, not tuned or optimal settings. </a:t>
            </a:r>
            <a:r>
              <a:rPr lang="en-US">
                <a:hlinkClick r:id="rId3"/>
              </a:rPr>
              <a:t>Parsnip introduction</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A86D8BF0-7375-C217-2992-26E3F24478CA}"/>
              </a:ext>
            </a:extLst>
          </p:cNvPr>
          <p:cNvSpPr>
            <a:spLocks noGrp="1"/>
          </p:cNvSpPr>
          <p:nvPr>
            <p:ph type="sldNum" sz="quarter" idx="5"/>
          </p:nvPr>
        </p:nvSpPr>
        <p:spPr/>
        <p:txBody>
          <a:bodyPr/>
          <a:lstStyle/>
          <a:p>
            <a:fld id="{8DC0184B-C4FE-4ABD-9ACB-6B408A31FBCF}" type="slidenum">
              <a:rPr lang="en-US" smtClean="0"/>
              <a:t>16</a:t>
            </a:fld>
            <a:endParaRPr lang="en-US"/>
          </a:p>
        </p:txBody>
      </p:sp>
    </p:spTree>
    <p:extLst>
      <p:ext uri="{BB962C8B-B14F-4D97-AF65-F5344CB8AC3E}">
        <p14:creationId xmlns:p14="http://schemas.microsoft.com/office/powerpoint/2010/main" val="15924083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06C11-19D4-07AC-DAB2-33F484137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08FD86-88C2-CA9E-AF20-89B52EBA2E4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D0B5CF-2341-62E0-D728-0267DB1DDF15}"/>
              </a:ext>
            </a:extLst>
          </p:cNvPr>
          <p:cNvSpPr>
            <a:spLocks noGrp="1"/>
          </p:cNvSpPr>
          <p:nvPr>
            <p:ph type="body" idx="1"/>
          </p:nvPr>
        </p:nvSpPr>
        <p:spPr/>
        <p:txBody>
          <a:bodyPr/>
          <a:lstStyle/>
          <a:p>
            <a:r>
              <a:rPr lang="en-US" b="1"/>
              <a:t>Say:</a:t>
            </a:r>
            <a:r>
              <a:rPr lang="en-US"/>
              <a:t> “Now our prep and model travel together. That means each fit can learn the prep using only its own training data, and new observations get the same preparation.”</a:t>
            </a:r>
          </a:p>
          <a:p>
            <a:r>
              <a:rPr lang="en-US" b="1"/>
              <a:t>Demo choice:</a:t>
            </a:r>
            <a:r>
              <a:rPr lang="en-US"/>
              <a:t> Run this short block in RStudio or show its prepared output. Keep the full script available through a clickable link. The expensive repeated fitting should already have saved output available.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C584520C-FF3C-0B06-F6E6-F95D127AEB5B}"/>
              </a:ext>
            </a:extLst>
          </p:cNvPr>
          <p:cNvSpPr>
            <a:spLocks noGrp="1"/>
          </p:cNvSpPr>
          <p:nvPr>
            <p:ph type="sldNum" sz="quarter" idx="5"/>
          </p:nvPr>
        </p:nvSpPr>
        <p:spPr/>
        <p:txBody>
          <a:bodyPr/>
          <a:lstStyle/>
          <a:p>
            <a:fld id="{8DC0184B-C4FE-4ABD-9ACB-6B408A31FBCF}" type="slidenum">
              <a:rPr lang="en-US" smtClean="0"/>
              <a:t>17</a:t>
            </a:fld>
            <a:endParaRPr lang="en-US"/>
          </a:p>
        </p:txBody>
      </p:sp>
    </p:spTree>
    <p:extLst>
      <p:ext uri="{BB962C8B-B14F-4D97-AF65-F5344CB8AC3E}">
        <p14:creationId xmlns:p14="http://schemas.microsoft.com/office/powerpoint/2010/main" val="34715926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C75C0-E82F-063E-9CF2-52EBA1D66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669460-83CE-FB9D-CC5B-6CA5A262676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223F37F-F495-1746-BBB7-BECA01DD6CE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4E37D51D-8A16-6C7D-032D-DFCE3ABA4EB8}"/>
              </a:ext>
            </a:extLst>
          </p:cNvPr>
          <p:cNvSpPr>
            <a:spLocks noGrp="1"/>
          </p:cNvSpPr>
          <p:nvPr>
            <p:ph type="sldNum" sz="quarter" idx="5"/>
          </p:nvPr>
        </p:nvSpPr>
        <p:spPr/>
        <p:txBody>
          <a:bodyPr/>
          <a:lstStyle/>
          <a:p>
            <a:fld id="{8DC0184B-C4FE-4ABD-9ACB-6B408A31FBCF}" type="slidenum">
              <a:rPr lang="en-US" smtClean="0"/>
              <a:t>18</a:t>
            </a:fld>
            <a:endParaRPr lang="en-US"/>
          </a:p>
        </p:txBody>
      </p:sp>
    </p:spTree>
    <p:extLst>
      <p:ext uri="{BB962C8B-B14F-4D97-AF65-F5344CB8AC3E}">
        <p14:creationId xmlns:p14="http://schemas.microsoft.com/office/powerpoint/2010/main" val="636452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1AA27-7537-541F-2B19-31AE919B9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1F4378-2F0A-A572-3847-32F90C83515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A0483E-E9DE-0728-319A-016994DBC164}"/>
              </a:ext>
            </a:extLst>
          </p:cNvPr>
          <p:cNvSpPr>
            <a:spLocks noGrp="1"/>
          </p:cNvSpPr>
          <p:nvPr>
            <p:ph type="body" idx="1"/>
          </p:nvPr>
        </p:nvSpPr>
        <p:spPr/>
        <p:txBody>
          <a:bodyPr/>
          <a:lstStyle/>
          <a:p>
            <a:r>
              <a:rPr lang="en-US" b="1"/>
              <a:t>Say:</a:t>
            </a:r>
            <a:r>
              <a:rPr lang="en-US"/>
              <a:t> “With our choices fixed, we fit once using all the development seasons. Then we bring back 2025 for the final evaluation.”</a:t>
            </a:r>
          </a:p>
          <a:p>
            <a:r>
              <a:rPr lang="en-US" b="1"/>
              <a:t>Notes:</a:t>
            </a:r>
            <a:r>
              <a:rPr lang="en-US"/>
              <a:t> Preserve the existing script’s fit-then-predict pattern. A properly constructed </a:t>
            </a:r>
            <a:r>
              <a:rPr lang="en-US" err="1"/>
              <a:t>rsample</a:t>
            </a:r>
            <a:r>
              <a:rPr lang="en-US"/>
              <a:t> split could alternatively support </a:t>
            </a:r>
            <a:r>
              <a:rPr lang="en-US" err="1"/>
              <a:t>last_fit</a:t>
            </a:r>
            <a:r>
              <a:rPr lang="en-US"/>
              <a:t>(), which fits the training set and evaluates its test set. Do not show both approaches on the main slide. Do not revise settings after seeing the final test and still describe that result as untouched. </a:t>
            </a:r>
            <a:r>
              <a:rPr lang="en-US" err="1">
                <a:hlinkClick r:id="rId3"/>
              </a:rPr>
              <a:t>last_fit</a:t>
            </a:r>
            <a:r>
              <a:rPr lang="en-US">
                <a:hlinkClick r:id="rId3"/>
              </a:rPr>
              <a:t>() documentation</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3992DEB1-DCDE-C3D4-D5E4-22443F7B6C0F}"/>
              </a:ext>
            </a:extLst>
          </p:cNvPr>
          <p:cNvSpPr>
            <a:spLocks noGrp="1"/>
          </p:cNvSpPr>
          <p:nvPr>
            <p:ph type="sldNum" sz="quarter" idx="5"/>
          </p:nvPr>
        </p:nvSpPr>
        <p:spPr/>
        <p:txBody>
          <a:bodyPr/>
          <a:lstStyle/>
          <a:p>
            <a:fld id="{8DC0184B-C4FE-4ABD-9ACB-6B408A31FBCF}" type="slidenum">
              <a:rPr lang="en-US" smtClean="0"/>
              <a:t>19</a:t>
            </a:fld>
            <a:endParaRPr lang="en-US"/>
          </a:p>
        </p:txBody>
      </p:sp>
    </p:spTree>
    <p:extLst>
      <p:ext uri="{BB962C8B-B14F-4D97-AF65-F5344CB8AC3E}">
        <p14:creationId xmlns:p14="http://schemas.microsoft.com/office/powerpoint/2010/main" val="1236762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864B-5362-978A-A6B7-88BB4B3F0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90AD4-26CC-1D11-A4AE-EFB7A6B741C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20037C5-7656-3254-2B6A-B1CBA75634E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6E2493D9-AC72-E295-14CF-D434D61847C3}"/>
              </a:ext>
            </a:extLst>
          </p:cNvPr>
          <p:cNvSpPr>
            <a:spLocks noGrp="1"/>
          </p:cNvSpPr>
          <p:nvPr>
            <p:ph type="sldNum" sz="quarter" idx="5"/>
          </p:nvPr>
        </p:nvSpPr>
        <p:spPr/>
        <p:txBody>
          <a:bodyPr/>
          <a:lstStyle/>
          <a:p>
            <a:fld id="{8DC0184B-C4FE-4ABD-9ACB-6B408A31FBCF}" type="slidenum">
              <a:rPr lang="en-US" smtClean="0"/>
              <a:t>20</a:t>
            </a:fld>
            <a:endParaRPr lang="en-US"/>
          </a:p>
        </p:txBody>
      </p:sp>
    </p:spTree>
    <p:extLst>
      <p:ext uri="{BB962C8B-B14F-4D97-AF65-F5344CB8AC3E}">
        <p14:creationId xmlns:p14="http://schemas.microsoft.com/office/powerpoint/2010/main" val="10618763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A0663-B3C3-2EF8-27D4-AB5370006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BE909-4B35-B228-FB95-C0B10B7274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6E0504D-0012-5DA7-F491-D65D0FEE12CA}"/>
              </a:ext>
            </a:extLst>
          </p:cNvPr>
          <p:cNvSpPr>
            <a:spLocks noGrp="1"/>
          </p:cNvSpPr>
          <p:nvPr>
            <p:ph type="body" idx="1"/>
          </p:nvPr>
        </p:nvSpPr>
        <p:spPr/>
        <p:txBody>
          <a:bodyPr/>
          <a:lstStyle/>
          <a:p>
            <a:r>
              <a:rPr lang="en-US" b="1"/>
              <a:t>Say:</a:t>
            </a:r>
            <a:r>
              <a:rPr lang="en-US"/>
              <a:t> “Now we can compare our predictions with what actually happened. Which teams did we call correctly? Where did we get it wrong?”</a:t>
            </a:r>
          </a:p>
          <a:p>
            <a:r>
              <a:rPr lang="en-US" b="1"/>
              <a:t>The relevant evaluation pitfall:</a:t>
            </a:r>
            <a:r>
              <a:rPr lang="en-US"/>
              <a:t> At this checkpoint, one changed classification moves accuracy by about 7 percentage points. The 70 rows across five checkpoints are still only 14 team outcomes. Do not present them as 70 independent test cases.</a:t>
            </a:r>
          </a:p>
          <a:p>
            <a:r>
              <a:rPr lang="en-US" b="1"/>
              <a:t>Notes:</a:t>
            </a:r>
            <a:r>
              <a:rPr lang="en-US"/>
              <a:t> Choose the 70% checkpoint before looking for the best result. Do not force an “accuracy can lie because of class imbalance” lesson if imbalance is not the main issue. Use the next slide to show why a comparison baseline matters.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C4469729-F7FE-5539-421B-B059EA4A07D5}"/>
              </a:ext>
            </a:extLst>
          </p:cNvPr>
          <p:cNvSpPr>
            <a:spLocks noGrp="1"/>
          </p:cNvSpPr>
          <p:nvPr>
            <p:ph type="sldNum" sz="quarter" idx="5"/>
          </p:nvPr>
        </p:nvSpPr>
        <p:spPr/>
        <p:txBody>
          <a:bodyPr/>
          <a:lstStyle/>
          <a:p>
            <a:fld id="{8DC0184B-C4FE-4ABD-9ACB-6B408A31FBCF}" type="slidenum">
              <a:rPr lang="en-US" smtClean="0"/>
              <a:t>21</a:t>
            </a:fld>
            <a:endParaRPr lang="en-US"/>
          </a:p>
        </p:txBody>
      </p:sp>
    </p:spTree>
    <p:extLst>
      <p:ext uri="{BB962C8B-B14F-4D97-AF65-F5344CB8AC3E}">
        <p14:creationId xmlns:p14="http://schemas.microsoft.com/office/powerpoint/2010/main" val="2282646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CA487-4015-1F10-7B23-F2372A237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D0F30B-D658-276A-8D7F-7F6C84029A4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E6F7085-1E41-5B7C-936B-DC09A4FC82A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46EA7D57-E364-96E3-7BD8-AB682B33E14D}"/>
              </a:ext>
            </a:extLst>
          </p:cNvPr>
          <p:cNvSpPr>
            <a:spLocks noGrp="1"/>
          </p:cNvSpPr>
          <p:nvPr>
            <p:ph type="sldNum" sz="quarter" idx="5"/>
          </p:nvPr>
        </p:nvSpPr>
        <p:spPr/>
        <p:txBody>
          <a:bodyPr/>
          <a:lstStyle/>
          <a:p>
            <a:fld id="{8DC0184B-C4FE-4ABD-9ACB-6B408A31FBCF}" type="slidenum">
              <a:rPr lang="en-US" smtClean="0"/>
              <a:t>22</a:t>
            </a:fld>
            <a:endParaRPr lang="en-US"/>
          </a:p>
        </p:txBody>
      </p:sp>
    </p:spTree>
    <p:extLst>
      <p:ext uri="{BB962C8B-B14F-4D97-AF65-F5344CB8AC3E}">
        <p14:creationId xmlns:p14="http://schemas.microsoft.com/office/powerpoint/2010/main" val="3279424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A7361-43C3-AAD5-CE49-811599A0EC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B551EA-1BFD-D632-2683-EBC0822A78A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A70C6D-EFA8-DA34-F9B9-8A283D3249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5FA2D7EF-BBB3-20CA-B937-D96C65E4316F}"/>
              </a:ext>
            </a:extLst>
          </p:cNvPr>
          <p:cNvSpPr>
            <a:spLocks noGrp="1"/>
          </p:cNvSpPr>
          <p:nvPr>
            <p:ph type="sldNum" sz="quarter" idx="5"/>
          </p:nvPr>
        </p:nvSpPr>
        <p:spPr/>
        <p:txBody>
          <a:bodyPr/>
          <a:lstStyle/>
          <a:p>
            <a:fld id="{8DC0184B-C4FE-4ABD-9ACB-6B408A31FBCF}" type="slidenum">
              <a:rPr lang="en-US" smtClean="0"/>
              <a:t>23</a:t>
            </a:fld>
            <a:endParaRPr lang="en-US"/>
          </a:p>
        </p:txBody>
      </p:sp>
    </p:spTree>
    <p:extLst>
      <p:ext uri="{BB962C8B-B14F-4D97-AF65-F5344CB8AC3E}">
        <p14:creationId xmlns:p14="http://schemas.microsoft.com/office/powerpoint/2010/main" val="3667454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92E75-485E-083D-EB00-3B36EA520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42F763-9384-E63F-B6CC-1ECDDA977B9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8748370-AFD4-45F4-076F-3EFBF8ED52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A8DAECF0-1950-FCBA-D6FE-9356478A1191}"/>
              </a:ext>
            </a:extLst>
          </p:cNvPr>
          <p:cNvSpPr>
            <a:spLocks noGrp="1"/>
          </p:cNvSpPr>
          <p:nvPr>
            <p:ph type="sldNum" sz="quarter" idx="5"/>
          </p:nvPr>
        </p:nvSpPr>
        <p:spPr/>
        <p:txBody>
          <a:bodyPr/>
          <a:lstStyle/>
          <a:p>
            <a:fld id="{8DC0184B-C4FE-4ABD-9ACB-6B408A31FBCF}" type="slidenum">
              <a:rPr lang="en-US" smtClean="0"/>
              <a:t>24</a:t>
            </a:fld>
            <a:endParaRPr lang="en-US"/>
          </a:p>
        </p:txBody>
      </p:sp>
    </p:spTree>
    <p:extLst>
      <p:ext uri="{BB962C8B-B14F-4D97-AF65-F5344CB8AC3E}">
        <p14:creationId xmlns:p14="http://schemas.microsoft.com/office/powerpoint/2010/main" val="4769197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CD250-FFC6-A987-C93D-2444A713D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C1640-944E-56F5-C444-7AEF1F0523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2D8504C-5739-9E38-148D-310C95E586B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494BC726-0EC8-B470-C1E9-D864C524E8B9}"/>
              </a:ext>
            </a:extLst>
          </p:cNvPr>
          <p:cNvSpPr>
            <a:spLocks noGrp="1"/>
          </p:cNvSpPr>
          <p:nvPr>
            <p:ph type="sldNum" sz="quarter" idx="5"/>
          </p:nvPr>
        </p:nvSpPr>
        <p:spPr/>
        <p:txBody>
          <a:bodyPr/>
          <a:lstStyle/>
          <a:p>
            <a:fld id="{8DC0184B-C4FE-4ABD-9ACB-6B408A31FBCF}" type="slidenum">
              <a:rPr lang="en-US" smtClean="0"/>
              <a:t>25</a:t>
            </a:fld>
            <a:endParaRPr lang="en-US"/>
          </a:p>
        </p:txBody>
      </p:sp>
    </p:spTree>
    <p:extLst>
      <p:ext uri="{BB962C8B-B14F-4D97-AF65-F5344CB8AC3E}">
        <p14:creationId xmlns:p14="http://schemas.microsoft.com/office/powerpoint/2010/main" val="17801061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13A37-19A7-3CED-3F55-C067771499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71928A-CB61-8B40-0C6F-1DA44A9B147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C4559DC-028B-21E1-5B2F-F39A4EA325A3}"/>
              </a:ext>
            </a:extLst>
          </p:cNvPr>
          <p:cNvSpPr>
            <a:spLocks noGrp="1"/>
          </p:cNvSpPr>
          <p:nvPr>
            <p:ph type="body" idx="1"/>
          </p:nvPr>
        </p:nvSpPr>
        <p:spPr/>
        <p:txBody>
          <a:bodyPr/>
          <a:lstStyle/>
          <a:p>
            <a:r>
              <a:rPr lang="en-US" b="1"/>
              <a:t>Say:</a:t>
            </a:r>
            <a:r>
              <a:rPr lang="en-US"/>
              <a:t> “Tomorrow, pick a small prediction problem, start with a simple baseline, and follow the workflow. If machine learning in R feels a little more boring than it did when we started, we did our job.”</a:t>
            </a:r>
          </a:p>
          <a:p>
            <a:r>
              <a:rPr lang="en-US" b="1"/>
              <a:t>Callback:</a:t>
            </a:r>
            <a:r>
              <a:rPr lang="en-US"/>
              <a:t> Optionally use a quick reveal from the opening word wall to the small set actually used: </a:t>
            </a:r>
            <a:r>
              <a:rPr lang="en-US" err="1"/>
              <a:t>rsample</a:t>
            </a:r>
            <a:r>
              <a:rPr lang="en-US"/>
              <a:t>, recipes, parsnip, workflows, tune, and yardstick. The tune package supports </a:t>
            </a:r>
            <a:r>
              <a:rPr lang="en-US" err="1"/>
              <a:t>fit_resamples</a:t>
            </a:r>
            <a:r>
              <a:rPr lang="en-US"/>
              <a:t>() even when no hyperparameter tuning is performed. Do not add another timed closing slide just for this reveal.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1A755810-EFBB-F801-F646-5AD804E87DBE}"/>
              </a:ext>
            </a:extLst>
          </p:cNvPr>
          <p:cNvSpPr>
            <a:spLocks noGrp="1"/>
          </p:cNvSpPr>
          <p:nvPr>
            <p:ph type="sldNum" sz="quarter" idx="5"/>
          </p:nvPr>
        </p:nvSpPr>
        <p:spPr/>
        <p:txBody>
          <a:bodyPr/>
          <a:lstStyle/>
          <a:p>
            <a:fld id="{8DC0184B-C4FE-4ABD-9ACB-6B408A31FBCF}" type="slidenum">
              <a:rPr lang="en-US" smtClean="0"/>
              <a:t>27</a:t>
            </a:fld>
            <a:endParaRPr lang="en-US"/>
          </a:p>
        </p:txBody>
      </p:sp>
    </p:spTree>
    <p:extLst>
      <p:ext uri="{BB962C8B-B14F-4D97-AF65-F5344CB8AC3E}">
        <p14:creationId xmlns:p14="http://schemas.microsoft.com/office/powerpoint/2010/main" val="17139697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14.jpeg"/><Relationship Id="rId4" Type="http://schemas.openxmlformats.org/officeDocument/2006/relationships/image" Target="../media/image13.jpe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5.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3.jpe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3.jpeg"/></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13.jpeg"/><Relationship Id="rId4" Type="http://schemas.openxmlformats.org/officeDocument/2006/relationships/image" Target="../media/image5.jpeg"/></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3.jpeg"/><Relationship Id="rId4" Type="http://schemas.openxmlformats.org/officeDocument/2006/relationships/image" Target="../media/image5.jpeg"/></Relationships>
</file>

<file path=ppt/slideLayouts/_rels/slideLayout3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13.jpeg"/><Relationship Id="rId4" Type="http://schemas.openxmlformats.org/officeDocument/2006/relationships/image" Target="../media/image5.jpe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5.jpe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5.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3.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Card_OptionA">
    <p:spTree>
      <p:nvGrpSpPr>
        <p:cNvPr id="1" name=""/>
        <p:cNvGrpSpPr/>
        <p:nvPr/>
      </p:nvGrpSpPr>
      <p:grpSpPr>
        <a:xfrm>
          <a:off x="0" y="0"/>
          <a:ext cx="0" cy="0"/>
          <a:chOff x="0" y="0"/>
          <a:chExt cx="0" cy="0"/>
        </a:xfrm>
      </p:grpSpPr>
      <p:sp>
        <p:nvSpPr>
          <p:cNvPr id="15" name="Picture Placeholder 14">
            <a:extLst>
              <a:ext uri="{C183D7F6-B498-43B3-948B-1728B52AA6E4}">
                <adec:decorative xmlns:adec="http://schemas.microsoft.com/office/drawing/2017/decorative" val="1"/>
              </a:ext>
            </a:extLst>
          </p:cNvPr>
          <p:cNvSpPr>
            <a:spLocks noGrp="1"/>
          </p:cNvSpPr>
          <p:nvPr>
            <p:ph type="pic" sz="quarter" idx="14"/>
          </p:nvPr>
        </p:nvSpPr>
        <p:spPr>
          <a:xfrm>
            <a:off x="5562600" y="1443038"/>
            <a:ext cx="3162300" cy="2743199"/>
          </a:xfrm>
          <a:prstGeom prst="rect">
            <a:avLst/>
          </a:prstGeom>
        </p:spPr>
        <p:txBody>
          <a:bodyPr/>
          <a:lstStyle>
            <a:lvl1pPr marL="0" indent="0">
              <a:buNone/>
              <a:defRPr sz="1350" baseline="0"/>
            </a:lvl1pPr>
          </a:lstStyle>
          <a:p>
            <a:pPr lvl="0"/>
            <a:r>
              <a:rPr lang="en-US" noProof="0"/>
              <a:t>Click icon to add picture</a:t>
            </a:r>
          </a:p>
        </p:txBody>
      </p:sp>
      <p:sp>
        <p:nvSpPr>
          <p:cNvPr id="13" name="Text Placeholder 12"/>
          <p:cNvSpPr>
            <a:spLocks noGrp="1"/>
          </p:cNvSpPr>
          <p:nvPr>
            <p:ph type="body" sz="quarter" idx="13" hasCustomPrompt="1"/>
          </p:nvPr>
        </p:nvSpPr>
        <p:spPr>
          <a:xfrm>
            <a:off x="495302" y="4186238"/>
            <a:ext cx="2657475" cy="328613"/>
          </a:xfrm>
          <a:prstGeom prst="rect">
            <a:avLst/>
          </a:prstGeom>
        </p:spPr>
        <p:txBody>
          <a:bodyPr anchor="ctr"/>
          <a:lstStyle>
            <a:lvl1pPr marL="0" indent="0">
              <a:buNone/>
              <a:defRPr lang="en-US" sz="1350" baseline="0" dirty="0">
                <a:solidFill>
                  <a:srgbClr val="177BAD"/>
                </a:solidFill>
              </a:defRPr>
            </a:lvl1pPr>
          </a:lstStyle>
          <a:p>
            <a:pPr lvl="0"/>
            <a:r>
              <a:rPr lang="en-US"/>
              <a:t>Date</a:t>
            </a:r>
          </a:p>
        </p:txBody>
      </p:sp>
      <p:sp>
        <p:nvSpPr>
          <p:cNvPr id="11" name="Text Placeholder 10"/>
          <p:cNvSpPr>
            <a:spLocks noGrp="1"/>
          </p:cNvSpPr>
          <p:nvPr>
            <p:ph type="body" sz="quarter" idx="12" hasCustomPrompt="1"/>
          </p:nvPr>
        </p:nvSpPr>
        <p:spPr>
          <a:xfrm>
            <a:off x="495300" y="3571876"/>
            <a:ext cx="4686300" cy="335756"/>
          </a:xfrm>
          <a:prstGeom prst="rect">
            <a:avLst/>
          </a:prstGeom>
        </p:spPr>
        <p:txBody>
          <a:bodyPr anchor="b"/>
          <a:lstStyle>
            <a:lvl1pPr marL="0" indent="0">
              <a:buNone/>
              <a:defRPr sz="1200" i="1">
                <a:solidFill>
                  <a:srgbClr val="404040"/>
                </a:solidFill>
                <a:latin typeface="+mn-lt"/>
                <a:cs typeface="Arial" pitchFamily="34" charset="0"/>
              </a:defRPr>
            </a:lvl1pPr>
          </a:lstStyle>
          <a:p>
            <a:pPr lvl="0"/>
            <a:r>
              <a:rPr lang="en-US"/>
              <a:t>Disclaimer (if applicable)</a:t>
            </a:r>
          </a:p>
        </p:txBody>
      </p:sp>
      <p:sp>
        <p:nvSpPr>
          <p:cNvPr id="9" name="Text Placeholder 8"/>
          <p:cNvSpPr>
            <a:spLocks noGrp="1"/>
          </p:cNvSpPr>
          <p:nvPr>
            <p:ph type="body" sz="quarter" idx="11" hasCustomPrompt="1"/>
          </p:nvPr>
        </p:nvSpPr>
        <p:spPr>
          <a:xfrm>
            <a:off x="495300" y="2550739"/>
            <a:ext cx="4686300" cy="785813"/>
          </a:xfrm>
          <a:prstGeom prst="rect">
            <a:avLst/>
          </a:prstGeom>
        </p:spPr>
        <p:txBody>
          <a:bodyPr anchor="t"/>
          <a:lstStyle>
            <a:lvl1pPr marL="0" indent="0">
              <a:buNone/>
              <a:defRPr sz="1800" baseline="0">
                <a:solidFill>
                  <a:schemeClr val="tx1">
                    <a:lumMod val="75000"/>
                    <a:lumOff val="25000"/>
                  </a:schemeClr>
                </a:solidFill>
              </a:defRPr>
            </a:lvl1pPr>
          </a:lstStyle>
          <a:p>
            <a:pPr lvl="0"/>
            <a:r>
              <a:rPr lang="en-US"/>
              <a:t>Subtitle</a:t>
            </a:r>
          </a:p>
        </p:txBody>
      </p:sp>
      <p:sp>
        <p:nvSpPr>
          <p:cNvPr id="2" name="Title 1"/>
          <p:cNvSpPr>
            <a:spLocks noGrp="1"/>
          </p:cNvSpPr>
          <p:nvPr>
            <p:ph type="title"/>
          </p:nvPr>
        </p:nvSpPr>
        <p:spPr>
          <a:xfrm>
            <a:off x="495300" y="1443038"/>
            <a:ext cx="4686300" cy="994172"/>
          </a:xfrm>
          <a:prstGeom prst="rect">
            <a:avLst/>
          </a:prstGeom>
        </p:spPr>
        <p:txBody>
          <a:bodyPr anchor="b" anchorCtr="0"/>
          <a:lstStyle>
            <a:lvl1pPr algn="l">
              <a:defRPr sz="3200" b="1">
                <a:solidFill>
                  <a:srgbClr val="177BAD"/>
                </a:solidFill>
                <a:latin typeface="+mn-lt"/>
              </a:defRPr>
            </a:lvl1pPr>
          </a:lstStyle>
          <a:p>
            <a:r>
              <a:rPr lang="en-US"/>
              <a:t>Click to edit Master title style</a:t>
            </a:r>
          </a:p>
        </p:txBody>
      </p:sp>
      <p:sp>
        <p:nvSpPr>
          <p:cNvPr id="3" name="Picture Placeholder 2"/>
          <p:cNvSpPr>
            <a:spLocks noGrp="1"/>
          </p:cNvSpPr>
          <p:nvPr>
            <p:ph type="pic" sz="quarter" idx="16" hasCustomPrompt="1"/>
          </p:nvPr>
        </p:nvSpPr>
        <p:spPr>
          <a:xfrm>
            <a:off x="3275014" y="442913"/>
            <a:ext cx="2760662" cy="491729"/>
          </a:xfrm>
          <a:prstGeom prst="rect">
            <a:avLst/>
          </a:prstGeom>
        </p:spPr>
        <p:txBody>
          <a:bodyPr/>
          <a:lstStyle>
            <a:lvl1pPr marL="0" indent="0">
              <a:buNone/>
              <a:defRPr sz="1350" baseline="0"/>
            </a:lvl1pPr>
          </a:lstStyle>
          <a:p>
            <a:pPr lvl="0"/>
            <a:r>
              <a:rPr lang="en-US" noProof="0"/>
              <a:t>Click icon to add picture of teaming partner/client logo</a:t>
            </a:r>
          </a:p>
        </p:txBody>
      </p:sp>
      <p:cxnSp>
        <p:nvCxnSpPr>
          <p:cNvPr id="8" name="Straight Connector 7">
            <a:extLst>
              <a:ext uri="{FF2B5EF4-FFF2-40B4-BE49-F238E27FC236}">
                <a16:creationId xmlns:a16="http://schemas.microsoft.com/office/drawing/2014/main" id="{E6A518A4-DD22-4D89-BC34-2292D927F353}"/>
              </a:ext>
              <a:ext uri="{C183D7F6-B498-43B3-948B-1728B52AA6E4}">
                <adec:decorative xmlns:adec="http://schemas.microsoft.com/office/drawing/2017/decorative" val="1"/>
              </a:ext>
            </a:extLst>
          </p:cNvPr>
          <p:cNvCxnSpPr/>
          <p:nvPr userDrawn="1"/>
        </p:nvCxnSpPr>
        <p:spPr>
          <a:xfrm>
            <a:off x="457200" y="342901"/>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3844B0D0-8EA4-4EA2-A7C7-895710F39594}"/>
              </a:ext>
              <a:ext uri="{C183D7F6-B498-43B3-948B-1728B52AA6E4}">
                <adec:decorative xmlns:adec="http://schemas.microsoft.com/office/drawing/2017/decorative" val="1"/>
              </a:ext>
            </a:extLst>
          </p:cNvPr>
          <p:cNvCxnSpPr/>
          <p:nvPr userDrawn="1"/>
        </p:nvCxnSpPr>
        <p:spPr>
          <a:xfrm>
            <a:off x="457200" y="1028701"/>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8873212-5263-47C1-94DA-AEF0806C8CF2}"/>
              </a:ext>
              <a:ext uri="{C183D7F6-B498-43B3-948B-1728B52AA6E4}">
                <adec:decorative xmlns:adec="http://schemas.microsoft.com/office/drawing/2017/decorative" val="1"/>
              </a:ext>
            </a:extLst>
          </p:cNvPr>
          <p:cNvCxnSpPr/>
          <p:nvPr userDrawn="1"/>
        </p:nvCxnSpPr>
        <p:spPr>
          <a:xfrm>
            <a:off x="457200" y="4629151"/>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0FE7D97-4274-40AC-9E18-FCCE5F09689E}"/>
              </a:ext>
              <a:ext uri="{C183D7F6-B498-43B3-948B-1728B52AA6E4}">
                <adec:decorative xmlns:adec="http://schemas.microsoft.com/office/drawing/2017/decorative" val="1"/>
              </a:ext>
            </a:extLst>
          </p:cNvPr>
          <p:cNvCxnSpPr/>
          <p:nvPr userDrawn="1"/>
        </p:nvCxnSpPr>
        <p:spPr>
          <a:xfrm rot="5400000">
            <a:off x="2715418" y="685603"/>
            <a:ext cx="514350" cy="1587"/>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6" name="Picture 14" descr="Summit logo, blue and gray">
            <a:extLst>
              <a:ext uri="{FF2B5EF4-FFF2-40B4-BE49-F238E27FC236}">
                <a16:creationId xmlns:a16="http://schemas.microsoft.com/office/drawing/2014/main" id="{6187F2EC-F292-4878-8C03-9149F0BF09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483927" y="504801"/>
            <a:ext cx="1875129" cy="365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Straight Connector 16">
            <a:extLst>
              <a:ext uri="{FF2B5EF4-FFF2-40B4-BE49-F238E27FC236}">
                <a16:creationId xmlns:a16="http://schemas.microsoft.com/office/drawing/2014/main" id="{144AE80C-2C85-4E8C-B523-F62F57DC930F}"/>
              </a:ext>
              <a:ext uri="{C183D7F6-B498-43B3-948B-1728B52AA6E4}">
                <adec:decorative xmlns:adec="http://schemas.microsoft.com/office/drawing/2017/decorative" val="1"/>
              </a:ext>
            </a:extLst>
          </p:cNvPr>
          <p:cNvCxnSpPr/>
          <p:nvPr userDrawn="1"/>
        </p:nvCxnSpPr>
        <p:spPr>
          <a:xfrm rot="5400000">
            <a:off x="3954462" y="2890641"/>
            <a:ext cx="2914650" cy="3175"/>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8" name="Picture 20">
            <a:extLst>
              <a:ext uri="{FF2B5EF4-FFF2-40B4-BE49-F238E27FC236}">
                <a16:creationId xmlns:a16="http://schemas.microsoft.com/office/drawing/2014/main" id="{A45BFCBD-9C8E-44F4-A9FC-4AC1498652CA}"/>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246694" y="447368"/>
            <a:ext cx="1426458" cy="109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9413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_Title and Content (Basic)">
    <p:spTree>
      <p:nvGrpSpPr>
        <p:cNvPr id="1" name=""/>
        <p:cNvGrpSpPr/>
        <p:nvPr/>
      </p:nvGrpSpPr>
      <p:grpSpPr>
        <a:xfrm>
          <a:off x="0" y="0"/>
          <a:ext cx="0" cy="0"/>
          <a:chOff x="0" y="0"/>
          <a:chExt cx="0" cy="0"/>
        </a:xfrm>
      </p:grpSpPr>
      <p:sp>
        <p:nvSpPr>
          <p:cNvPr id="14" name="TextBox 1">
            <a:extLst>
              <a:ext uri="{FF2B5EF4-FFF2-40B4-BE49-F238E27FC236}">
                <a16:creationId xmlns:a16="http://schemas.microsoft.com/office/drawing/2014/main" id="{3C93042F-C165-479E-8752-AF85B2556ED1}"/>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8" name="Footer Placeholder 5">
            <a:extLst>
              <a:ext uri="{FF2B5EF4-FFF2-40B4-BE49-F238E27FC236}">
                <a16:creationId xmlns:a16="http://schemas.microsoft.com/office/drawing/2014/main" id="{B87707FB-62BF-A775-BAFC-482ECC2A0507}"/>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pic>
        <p:nvPicPr>
          <p:cNvPr id="7"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0" y="181118"/>
            <a:ext cx="9144000" cy="74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7">
            <a:extLst>
              <a:ext uri="{FF2B5EF4-FFF2-40B4-BE49-F238E27FC236}">
                <a16:creationId xmlns:a16="http://schemas.microsoft.com/office/drawing/2014/main" id="{F5042D5E-9B69-D1DA-746C-C6FDD5DE2F6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t="12494" r="9" b="12494"/>
          <a:stretch/>
        </p:blipFill>
        <p:spPr bwMode="auto">
          <a:xfrm>
            <a:off x="0" y="181118"/>
            <a:ext cx="9141742" cy="74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457200" y="1028702"/>
            <a:ext cx="8229600" cy="3600449"/>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a:xfrm>
            <a:off x="0" y="181118"/>
            <a:ext cx="8686800" cy="733283"/>
          </a:xfrm>
          <a:prstGeom prst="rect">
            <a:avLst/>
          </a:prstGeom>
        </p:spPr>
        <p:txBody>
          <a:bodyPr anchor="ctr" anchorCtr="0"/>
          <a:lstStyle>
            <a:lvl1pPr algn="l">
              <a:defRPr sz="2400" b="1">
                <a:solidFill>
                  <a:schemeClr val="bg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3CC2F84A-AEF4-494F-9BBE-12FD59686C9A}"/>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4" name="Picture 6">
            <a:extLst>
              <a:ext uri="{FF2B5EF4-FFF2-40B4-BE49-F238E27FC236}">
                <a16:creationId xmlns:a16="http://schemas.microsoft.com/office/drawing/2014/main" id="{D1033C03-5452-7E29-8414-B260EBD49212}"/>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3318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Basic with plain text intro)">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B32B9B4-71C6-4C22-8D7A-6F0D3AE9F64B}"/>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0" name="TextBox 1">
            <a:extLst>
              <a:ext uri="{FF2B5EF4-FFF2-40B4-BE49-F238E27FC236}">
                <a16:creationId xmlns:a16="http://schemas.microsoft.com/office/drawing/2014/main" id="{F2E3226B-67EF-48F3-9554-56611D52E84B}"/>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2" name="Footer Placeholder 5">
            <a:extLst>
              <a:ext uri="{FF2B5EF4-FFF2-40B4-BE49-F238E27FC236}">
                <a16:creationId xmlns:a16="http://schemas.microsoft.com/office/drawing/2014/main" id="{5B6FD09A-C052-8E93-1082-AA0856B13249}"/>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pic>
        <p:nvPicPr>
          <p:cNvPr id="7"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0" y="181118"/>
            <a:ext cx="9144000" cy="74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a:extLst>
              <a:ext uri="{FF2B5EF4-FFF2-40B4-BE49-F238E27FC236}">
                <a16:creationId xmlns:a16="http://schemas.microsoft.com/office/drawing/2014/main" id="{D3289143-2342-D183-5B3A-072A0F91153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t="12494" b="12494"/>
          <a:stretch/>
        </p:blipFill>
        <p:spPr bwMode="auto">
          <a:xfrm>
            <a:off x="0" y="181118"/>
            <a:ext cx="9142554" cy="74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457200" y="1028702"/>
            <a:ext cx="8229600" cy="3600449"/>
          </a:xfrm>
          <a:prstGeom prst="rect">
            <a:avLst/>
          </a:prstGeom>
        </p:spPr>
        <p:txBody>
          <a:bodyPr>
            <a:normAutofit/>
          </a:bodyPr>
          <a:lstStyle>
            <a:lvl1pPr marL="0" marR="0" indent="0" algn="l" defTabSz="342892" rtl="0" eaLnBrk="0" fontAlgn="base" latinLnBrk="0" hangingPunct="0">
              <a:lnSpc>
                <a:spcPct val="100000"/>
              </a:lnSpc>
              <a:spcBef>
                <a:spcPts val="1200"/>
              </a:spcBef>
              <a:spcAft>
                <a:spcPts val="600"/>
              </a:spcAft>
              <a:buClrTx/>
              <a:buSzTx/>
              <a:buFont typeface="Arial" panose="020B0604020202020204" pitchFamily="34" charset="0"/>
              <a:buNone/>
              <a:tabLs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a:xfrm>
            <a:off x="0" y="181119"/>
            <a:ext cx="8686800" cy="714232"/>
          </a:xfrm>
          <a:prstGeom prst="rect">
            <a:avLst/>
          </a:prstGeom>
        </p:spPr>
        <p:txBody>
          <a:bodyPr anchor="ctr" anchorCtr="0"/>
          <a:lstStyle>
            <a:lvl1pPr algn="l">
              <a:defRPr sz="2400" b="1">
                <a:solidFill>
                  <a:schemeClr val="bg1"/>
                </a:solidFill>
              </a:defRPr>
            </a:lvl1pPr>
          </a:lstStyle>
          <a:p>
            <a:r>
              <a:rPr lang="en-US"/>
              <a:t>Click to edit Master title style</a:t>
            </a:r>
          </a:p>
        </p:txBody>
      </p:sp>
      <p:pic>
        <p:nvPicPr>
          <p:cNvPr id="9" name="Picture 6">
            <a:extLst>
              <a:ext uri="{FF2B5EF4-FFF2-40B4-BE49-F238E27FC236}">
                <a16:creationId xmlns:a16="http://schemas.microsoft.com/office/drawing/2014/main" id="{9C9D8FF4-49BA-8DC4-B85B-55278AA056E7}"/>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45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Basic)">
    <p:spTree>
      <p:nvGrpSpPr>
        <p:cNvPr id="1" name=""/>
        <p:cNvGrpSpPr/>
        <p:nvPr/>
      </p:nvGrpSpPr>
      <p:grpSpPr>
        <a:xfrm>
          <a:off x="0" y="0"/>
          <a:ext cx="0" cy="0"/>
          <a:chOff x="0" y="0"/>
          <a:chExt cx="0" cy="0"/>
        </a:xfrm>
      </p:grpSpPr>
      <p:pic>
        <p:nvPicPr>
          <p:cNvPr id="4" name="Picture 7">
            <a:extLst>
              <a:ext uri="{FF2B5EF4-FFF2-40B4-BE49-F238E27FC236}">
                <a16:creationId xmlns:a16="http://schemas.microsoft.com/office/drawing/2014/main" id="{94921F27-32F5-D15D-8F76-1F4152DD9CFE}"/>
              </a:ext>
            </a:extLst>
          </p:cNvPr>
          <p:cNvPicPr>
            <a:picLocks noChangeAspect="1"/>
          </p:cNvPicPr>
          <p:nvPr userDrawn="1"/>
        </p:nvPicPr>
        <p:blipFill>
          <a:blip r:embed="rId2">
            <a:extLst>
              <a:ext uri="{28A0092B-C50C-407E-A947-70E740481C1C}">
                <a14:useLocalDpi xmlns:a14="http://schemas.microsoft.com/office/drawing/2010/main" val="0"/>
              </a:ext>
            </a:extLst>
          </a:blip>
          <a:srcRect t="12494" b="12494"/>
          <a:stretch/>
        </p:blipFill>
        <p:spPr bwMode="auto">
          <a:xfrm>
            <a:off x="0" y="181118"/>
            <a:ext cx="9142554" cy="74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
            <a:extLst>
              <a:ext uri="{FF2B5EF4-FFF2-40B4-BE49-F238E27FC236}">
                <a16:creationId xmlns:a16="http://schemas.microsoft.com/office/drawing/2014/main" id="{E41BA28F-6B4F-4994-AC63-2B8AF84BB77F}"/>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cxnSp>
        <p:nvCxnSpPr>
          <p:cNvPr id="8" name="Straight Connector 7">
            <a:extLst>
              <a:ext uri="{FF2B5EF4-FFF2-40B4-BE49-F238E27FC236}">
                <a16:creationId xmlns:a16="http://schemas.microsoft.com/office/drawing/2014/main" id="{39A2335B-52F6-43FE-B6D9-0A2DB9AAA52D}"/>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 name="Footer Placeholder 5">
            <a:extLst>
              <a:ext uri="{FF2B5EF4-FFF2-40B4-BE49-F238E27FC236}">
                <a16:creationId xmlns:a16="http://schemas.microsoft.com/office/drawing/2014/main" id="{9610F826-C1DA-1BD7-356F-4A1CEEF18FA1}"/>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pic>
        <p:nvPicPr>
          <p:cNvPr id="7" name="Picture 7">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81118"/>
            <a:ext cx="9144000" cy="74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a:extLst>
              <a:ext uri="{FF2B5EF4-FFF2-40B4-BE49-F238E27FC236}">
                <a16:creationId xmlns:a16="http://schemas.microsoft.com/office/drawing/2014/main" id="{5EE4ECB4-BBED-4692-AC19-34454DFB0001}"/>
              </a:ext>
            </a:extLst>
          </p:cNvPr>
          <p:cNvSpPr>
            <a:spLocks noGrp="1"/>
          </p:cNvSpPr>
          <p:nvPr>
            <p:ph idx="10"/>
          </p:nvPr>
        </p:nvSpPr>
        <p:spPr>
          <a:xfrm>
            <a:off x="457200" y="2825751"/>
            <a:ext cx="8229600" cy="1758949"/>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idx="1"/>
          </p:nvPr>
        </p:nvSpPr>
        <p:spPr>
          <a:xfrm>
            <a:off x="457200" y="1028702"/>
            <a:ext cx="8229600" cy="1758949"/>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a:xfrm>
            <a:off x="0" y="181118"/>
            <a:ext cx="8686800" cy="733283"/>
          </a:xfrm>
          <a:prstGeom prst="rect">
            <a:avLst/>
          </a:prstGeom>
        </p:spPr>
        <p:txBody>
          <a:bodyPr anchor="ctr" anchorCtr="0"/>
          <a:lstStyle>
            <a:lvl1pPr algn="l">
              <a:defRPr sz="2400" b="1">
                <a:solidFill>
                  <a:schemeClr val="bg1"/>
                </a:solidFill>
              </a:defRPr>
            </a:lvl1pPr>
          </a:lstStyle>
          <a:p>
            <a:r>
              <a:rPr lang="en-US"/>
              <a:t>Click to edit Master title style</a:t>
            </a:r>
          </a:p>
        </p:txBody>
      </p:sp>
      <p:pic>
        <p:nvPicPr>
          <p:cNvPr id="6" name="Picture 6">
            <a:extLst>
              <a:ext uri="{FF2B5EF4-FFF2-40B4-BE49-F238E27FC236}">
                <a16:creationId xmlns:a16="http://schemas.microsoft.com/office/drawing/2014/main" id="{BBFED1E0-5353-5C35-E841-5A2408A60AE9}"/>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2648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Basic)">
    <p:spTree>
      <p:nvGrpSpPr>
        <p:cNvPr id="1" name=""/>
        <p:cNvGrpSpPr/>
        <p:nvPr/>
      </p:nvGrpSpPr>
      <p:grpSpPr>
        <a:xfrm>
          <a:off x="0" y="0"/>
          <a:ext cx="0" cy="0"/>
          <a:chOff x="0" y="0"/>
          <a:chExt cx="0" cy="0"/>
        </a:xfrm>
      </p:grpSpPr>
      <p:sp>
        <p:nvSpPr>
          <p:cNvPr id="13" name="TextBox 1">
            <a:extLst>
              <a:ext uri="{FF2B5EF4-FFF2-40B4-BE49-F238E27FC236}">
                <a16:creationId xmlns:a16="http://schemas.microsoft.com/office/drawing/2014/main" id="{96FF95E1-7B09-482B-989E-AA4566E5E170}"/>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2" name="Footer Placeholder 5">
            <a:extLst>
              <a:ext uri="{FF2B5EF4-FFF2-40B4-BE49-F238E27FC236}">
                <a16:creationId xmlns:a16="http://schemas.microsoft.com/office/drawing/2014/main" id="{D0F185E0-313C-3D2E-DF60-F2634A56D2D9}"/>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pic>
        <p:nvPicPr>
          <p:cNvPr id="7"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0" y="181118"/>
            <a:ext cx="9144000" cy="74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7">
            <a:extLst>
              <a:ext uri="{FF2B5EF4-FFF2-40B4-BE49-F238E27FC236}">
                <a16:creationId xmlns:a16="http://schemas.microsoft.com/office/drawing/2014/main" id="{3D2D1C2F-2E26-0A53-4D41-A38C92D374B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t="12494" b="12494"/>
          <a:stretch/>
        </p:blipFill>
        <p:spPr bwMode="auto">
          <a:xfrm>
            <a:off x="0" y="181118"/>
            <a:ext cx="9142554" cy="74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EE14B644-BC19-4A7D-8525-28D85DBD020A}"/>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EDF672AA-1F63-4416-864C-27CA6782DC82}"/>
              </a:ext>
            </a:extLst>
          </p:cNvPr>
          <p:cNvSpPr>
            <a:spLocks noGrp="1"/>
          </p:cNvSpPr>
          <p:nvPr>
            <p:ph idx="10"/>
          </p:nvPr>
        </p:nvSpPr>
        <p:spPr>
          <a:xfrm>
            <a:off x="4571999" y="1028702"/>
            <a:ext cx="4114800" cy="3600449"/>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idx="1"/>
          </p:nvPr>
        </p:nvSpPr>
        <p:spPr>
          <a:xfrm>
            <a:off x="457200" y="1028702"/>
            <a:ext cx="4114800" cy="3600449"/>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a:xfrm>
            <a:off x="0" y="181118"/>
            <a:ext cx="8686800" cy="733283"/>
          </a:xfrm>
          <a:prstGeom prst="rect">
            <a:avLst/>
          </a:prstGeom>
        </p:spPr>
        <p:txBody>
          <a:bodyPr anchor="ctr" anchorCtr="0"/>
          <a:lstStyle>
            <a:lvl1pPr algn="l">
              <a:defRPr sz="2400" b="1">
                <a:solidFill>
                  <a:schemeClr val="bg1"/>
                </a:solidFill>
              </a:defRPr>
            </a:lvl1pPr>
          </a:lstStyle>
          <a:p>
            <a:r>
              <a:rPr lang="en-US"/>
              <a:t>Click to edit Master title style</a:t>
            </a:r>
          </a:p>
        </p:txBody>
      </p:sp>
      <p:pic>
        <p:nvPicPr>
          <p:cNvPr id="6" name="Picture 6">
            <a:extLst>
              <a:ext uri="{FF2B5EF4-FFF2-40B4-BE49-F238E27FC236}">
                <a16:creationId xmlns:a16="http://schemas.microsoft.com/office/drawing/2014/main" id="{F7C0B612-DAE6-88E3-9BD1-B7D0B2C70401}"/>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3716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ide_Blue_Bars_Empty_Middl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81F89DF-CF18-4A9C-9CB4-89ED5F110B2E}"/>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 name="Footer Placeholder 5">
            <a:extLst>
              <a:ext uri="{FF2B5EF4-FFF2-40B4-BE49-F238E27FC236}">
                <a16:creationId xmlns:a16="http://schemas.microsoft.com/office/drawing/2014/main" id="{5573EE97-A85E-256F-8B30-0C1036E1DD58}"/>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sp>
        <p:nvSpPr>
          <p:cNvPr id="10" name="TextBox 1">
            <a:extLst>
              <a:ext uri="{FF2B5EF4-FFF2-40B4-BE49-F238E27FC236}">
                <a16:creationId xmlns:a16="http://schemas.microsoft.com/office/drawing/2014/main" id="{B14D30BB-3AD7-4808-86E2-EF7322A3C8B7}"/>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pic>
        <p:nvPicPr>
          <p:cNvPr id="3" name="Picture 7">
            <a:extLst>
              <a:ext uri="{FF2B5EF4-FFF2-40B4-BE49-F238E27FC236}">
                <a16:creationId xmlns:a16="http://schemas.microsoft.com/office/drawing/2014/main" id="{4A33C7AE-A901-AD69-BFB1-1859A43288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auto">
          <a:xfrm rot="5400000">
            <a:off x="-2447060" y="2447061"/>
            <a:ext cx="5143502" cy="24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7">
            <a:extLst>
              <a:ext uri="{FF2B5EF4-FFF2-40B4-BE49-F238E27FC236}">
                <a16:creationId xmlns:a16="http://schemas.microsoft.com/office/drawing/2014/main" id="{048AD2FE-49A9-5999-5BB3-03F0B7D719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auto">
          <a:xfrm rot="5400000">
            <a:off x="6447559" y="2447061"/>
            <a:ext cx="5143502" cy="24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a:extLs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27822" b="27822"/>
          <a:stretch/>
        </p:blipFill>
        <p:spPr bwMode="auto">
          <a:xfrm rot="5400000">
            <a:off x="-2446424" y="2446425"/>
            <a:ext cx="5142231" cy="24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7">
            <a:extLst>
              <a:ext uri="{FF2B5EF4-FFF2-40B4-BE49-F238E27FC236}">
                <a16:creationId xmlns:a16="http://schemas.microsoft.com/office/drawing/2014/main" id="{4C31007C-FC63-4A9E-8EB2-3E478E28D8CF}"/>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27822" b="27822"/>
          <a:stretch/>
        </p:blipFill>
        <p:spPr bwMode="auto">
          <a:xfrm rot="16200000">
            <a:off x="6448195" y="2446425"/>
            <a:ext cx="5142231" cy="24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a:extLst>
              <a:ext uri="{FF2B5EF4-FFF2-40B4-BE49-F238E27FC236}">
                <a16:creationId xmlns:a16="http://schemas.microsoft.com/office/drawing/2014/main" id="{0327317A-936B-F679-1EB8-926A1C289062}"/>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8301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_Blue_Bars_Title_Only_Top">
    <p:spTree>
      <p:nvGrpSpPr>
        <p:cNvPr id="1" name=""/>
        <p:cNvGrpSpPr/>
        <p:nvPr/>
      </p:nvGrpSpPr>
      <p:grpSpPr>
        <a:xfrm>
          <a:off x="0" y="0"/>
          <a:ext cx="0" cy="0"/>
          <a:chOff x="0" y="0"/>
          <a:chExt cx="0" cy="0"/>
        </a:xfrm>
      </p:grpSpPr>
      <p:sp>
        <p:nvSpPr>
          <p:cNvPr id="2" name="Footer Placeholder 5">
            <a:extLst>
              <a:ext uri="{FF2B5EF4-FFF2-40B4-BE49-F238E27FC236}">
                <a16:creationId xmlns:a16="http://schemas.microsoft.com/office/drawing/2014/main" id="{8D287AF1-5551-0FBF-6B30-29463525B0F8}"/>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pic>
        <p:nvPicPr>
          <p:cNvPr id="7"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auto">
          <a:xfrm rot="5400000">
            <a:off x="-2447060" y="2447061"/>
            <a:ext cx="5143502" cy="24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7">
            <a:extLst>
              <a:ext uri="{FF2B5EF4-FFF2-40B4-BE49-F238E27FC236}">
                <a16:creationId xmlns:a16="http://schemas.microsoft.com/office/drawing/2014/main" id="{4C31007C-FC63-4A9E-8EB2-3E478E28D8C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auto">
          <a:xfrm rot="5400000">
            <a:off x="6447559" y="2447061"/>
            <a:ext cx="5143502" cy="24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D3242A25-B843-4463-9FAE-B7A31955CDB8}"/>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4" name="Picture 7">
            <a:extLst>
              <a:ext uri="{FF2B5EF4-FFF2-40B4-BE49-F238E27FC236}">
                <a16:creationId xmlns:a16="http://schemas.microsoft.com/office/drawing/2014/main" id="{1FB02182-F5D5-262E-7659-2E0452D425DA}"/>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27822" b="27822"/>
          <a:stretch/>
        </p:blipFill>
        <p:spPr bwMode="auto">
          <a:xfrm rot="5400000">
            <a:off x="-2446424" y="2446425"/>
            <a:ext cx="5142231" cy="24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a:extLst>
              <a:ext uri="{FF2B5EF4-FFF2-40B4-BE49-F238E27FC236}">
                <a16:creationId xmlns:a16="http://schemas.microsoft.com/office/drawing/2014/main" id="{6D8C530E-CF22-0078-053C-E61ADCDA2541}"/>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27822" b="27822"/>
          <a:stretch/>
        </p:blipFill>
        <p:spPr bwMode="auto">
          <a:xfrm rot="16200000">
            <a:off x="6448195" y="2446425"/>
            <a:ext cx="5142231" cy="24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
            <a:extLst>
              <a:ext uri="{FF2B5EF4-FFF2-40B4-BE49-F238E27FC236}">
                <a16:creationId xmlns:a16="http://schemas.microsoft.com/office/drawing/2014/main" id="{BF25F6E4-0F40-4D43-9125-4B9290144428}"/>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6" name="Title 4">
            <a:extLst>
              <a:ext uri="{FF2B5EF4-FFF2-40B4-BE49-F238E27FC236}">
                <a16:creationId xmlns:a16="http://schemas.microsoft.com/office/drawing/2014/main" id="{2D419C0F-439F-4845-9F52-D248E220632B}"/>
              </a:ext>
            </a:extLst>
          </p:cNvPr>
          <p:cNvSpPr>
            <a:spLocks noGrp="1"/>
          </p:cNvSpPr>
          <p:nvPr>
            <p:ph type="title"/>
          </p:nvPr>
        </p:nvSpPr>
        <p:spPr>
          <a:xfrm>
            <a:off x="457201" y="132305"/>
            <a:ext cx="8229599" cy="553494"/>
          </a:xfrm>
          <a:prstGeom prst="rect">
            <a:avLst/>
          </a:prstGeom>
        </p:spPr>
        <p:txBody>
          <a:bodyPr anchor="ctr" anchorCtr="0"/>
          <a:lstStyle>
            <a:lvl1pPr algn="ctr">
              <a:defRPr sz="2400" b="1">
                <a:solidFill>
                  <a:schemeClr val="tx1">
                    <a:lumMod val="75000"/>
                    <a:lumOff val="25000"/>
                  </a:schemeClr>
                </a:solidFill>
              </a:defRPr>
            </a:lvl1pPr>
          </a:lstStyle>
          <a:p>
            <a:r>
              <a:rPr lang="en-US"/>
              <a:t>Click to edit Master title style</a:t>
            </a:r>
          </a:p>
        </p:txBody>
      </p:sp>
      <p:pic>
        <p:nvPicPr>
          <p:cNvPr id="9" name="Picture 6">
            <a:extLst>
              <a:ext uri="{FF2B5EF4-FFF2-40B4-BE49-F238E27FC236}">
                <a16:creationId xmlns:a16="http://schemas.microsoft.com/office/drawing/2014/main" id="{47A929C5-B453-39F5-5685-D7CD4170098C}"/>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0358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ide_Blue_Bars_Title_Only_Left">
    <p:spTree>
      <p:nvGrpSpPr>
        <p:cNvPr id="1" name=""/>
        <p:cNvGrpSpPr/>
        <p:nvPr/>
      </p:nvGrpSpPr>
      <p:grpSpPr>
        <a:xfrm>
          <a:off x="0" y="0"/>
          <a:ext cx="0" cy="0"/>
          <a:chOff x="0" y="0"/>
          <a:chExt cx="0" cy="0"/>
        </a:xfrm>
      </p:grpSpPr>
      <p:pic>
        <p:nvPicPr>
          <p:cNvPr id="7"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auto">
          <a:xfrm rot="5400000">
            <a:off x="-2447060" y="2447061"/>
            <a:ext cx="5143502" cy="24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7">
            <a:extLst>
              <a:ext uri="{FF2B5EF4-FFF2-40B4-BE49-F238E27FC236}">
                <a16:creationId xmlns:a16="http://schemas.microsoft.com/office/drawing/2014/main" id="{4C31007C-FC63-4A9E-8EB2-3E478E28D8C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auto">
          <a:xfrm rot="5400000">
            <a:off x="6447559" y="2447061"/>
            <a:ext cx="5143502" cy="24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574038E7-C2C1-4617-9C47-27C9CF20D9BE}"/>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0" name="TextBox 1">
            <a:extLst>
              <a:ext uri="{FF2B5EF4-FFF2-40B4-BE49-F238E27FC236}">
                <a16:creationId xmlns:a16="http://schemas.microsoft.com/office/drawing/2014/main" id="{D2232EDF-515D-454E-AACA-6CAA7060C720}"/>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2" name="Footer Placeholder 5">
            <a:extLst>
              <a:ext uri="{FF2B5EF4-FFF2-40B4-BE49-F238E27FC236}">
                <a16:creationId xmlns:a16="http://schemas.microsoft.com/office/drawing/2014/main" id="{7288699B-9D52-F17C-AEEB-947BA3D9600C}"/>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pic>
        <p:nvPicPr>
          <p:cNvPr id="3" name="Picture 7">
            <a:extLst>
              <a:ext uri="{FF2B5EF4-FFF2-40B4-BE49-F238E27FC236}">
                <a16:creationId xmlns:a16="http://schemas.microsoft.com/office/drawing/2014/main" id="{B87F7E2C-F43B-6A1F-87B4-31DAFCC8D8A6}"/>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27822" b="27822"/>
          <a:stretch/>
        </p:blipFill>
        <p:spPr bwMode="auto">
          <a:xfrm rot="5400000">
            <a:off x="-2446424" y="2446425"/>
            <a:ext cx="5142231" cy="24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7">
            <a:extLst>
              <a:ext uri="{FF2B5EF4-FFF2-40B4-BE49-F238E27FC236}">
                <a16:creationId xmlns:a16="http://schemas.microsoft.com/office/drawing/2014/main" id="{2A95E642-2B85-7E8B-813D-C0C2CF07F273}"/>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27822" b="27822"/>
          <a:stretch/>
        </p:blipFill>
        <p:spPr bwMode="auto">
          <a:xfrm rot="16200000">
            <a:off x="6448195" y="2446425"/>
            <a:ext cx="5142231" cy="24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4">
            <a:extLst>
              <a:ext uri="{FF2B5EF4-FFF2-40B4-BE49-F238E27FC236}">
                <a16:creationId xmlns:a16="http://schemas.microsoft.com/office/drawing/2014/main" id="{2DE6A987-B4DF-4F4D-8EC0-AAA0CD5967C6}"/>
              </a:ext>
            </a:extLst>
          </p:cNvPr>
          <p:cNvSpPr>
            <a:spLocks noGrp="1"/>
          </p:cNvSpPr>
          <p:nvPr>
            <p:ph type="title"/>
          </p:nvPr>
        </p:nvSpPr>
        <p:spPr>
          <a:xfrm rot="16200000">
            <a:off x="-1721079" y="2267260"/>
            <a:ext cx="4414748" cy="473825"/>
          </a:xfrm>
          <a:prstGeom prst="rect">
            <a:avLst/>
          </a:prstGeom>
        </p:spPr>
        <p:txBody>
          <a:bodyPr anchor="ctr" anchorCtr="0"/>
          <a:lstStyle>
            <a:lvl1pPr algn="ctr">
              <a:defRPr sz="2400" b="1">
                <a:solidFill>
                  <a:schemeClr val="tx1">
                    <a:lumMod val="75000"/>
                    <a:lumOff val="25000"/>
                  </a:schemeClr>
                </a:solidFill>
              </a:defRPr>
            </a:lvl1pPr>
          </a:lstStyle>
          <a:p>
            <a:r>
              <a:rPr lang="en-US"/>
              <a:t>Click to edit Master title style</a:t>
            </a:r>
          </a:p>
        </p:txBody>
      </p:sp>
      <p:pic>
        <p:nvPicPr>
          <p:cNvPr id="5" name="Picture 6">
            <a:extLst>
              <a:ext uri="{FF2B5EF4-FFF2-40B4-BE49-F238E27FC236}">
                <a16:creationId xmlns:a16="http://schemas.microsoft.com/office/drawing/2014/main" id="{BB5E8D9C-4CCC-752B-D92B-F4DD9E86426A}"/>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8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itle and Content (Basic)">
    <p:spTree>
      <p:nvGrpSpPr>
        <p:cNvPr id="1" name=""/>
        <p:cNvGrpSpPr/>
        <p:nvPr/>
      </p:nvGrpSpPr>
      <p:grpSpPr>
        <a:xfrm>
          <a:off x="0" y="0"/>
          <a:ext cx="0" cy="0"/>
          <a:chOff x="0" y="0"/>
          <a:chExt cx="0" cy="0"/>
        </a:xfrm>
      </p:grpSpPr>
      <p:sp>
        <p:nvSpPr>
          <p:cNvPr id="2" name="Footer Placeholder 5">
            <a:extLst>
              <a:ext uri="{FF2B5EF4-FFF2-40B4-BE49-F238E27FC236}">
                <a16:creationId xmlns:a16="http://schemas.microsoft.com/office/drawing/2014/main" id="{F77B87C4-2827-2D67-7F7A-7822361998A3}"/>
              </a:ext>
            </a:extLst>
          </p:cNvPr>
          <p:cNvSpPr>
            <a:spLocks noGrp="1"/>
          </p:cNvSpPr>
          <p:nvPr>
            <p:ph type="ftr" sz="quarter" idx="11"/>
          </p:nvPr>
        </p:nvSpPr>
        <p:spPr>
          <a:xfrm>
            <a:off x="457200" y="4718630"/>
            <a:ext cx="5105400" cy="274637"/>
          </a:xfrm>
          <a:prstGeom prst="rect">
            <a:avLst/>
          </a:prstGeom>
        </p:spPr>
        <p:txBody>
          <a:bodyPr anchor="ctr"/>
          <a:lstStyle>
            <a:lvl1pPr algn="r">
              <a:defRPr sz="1000">
                <a:solidFill>
                  <a:srgbClr val="7F7F7F"/>
                </a:solidFill>
              </a:defRPr>
            </a:lvl1pPr>
          </a:lstStyle>
          <a:p>
            <a:endParaRPr lang="en-US"/>
          </a:p>
        </p:txBody>
      </p:sp>
      <p:sp>
        <p:nvSpPr>
          <p:cNvPr id="4" name="TextBox 1">
            <a:extLst>
              <a:ext uri="{FF2B5EF4-FFF2-40B4-BE49-F238E27FC236}">
                <a16:creationId xmlns:a16="http://schemas.microsoft.com/office/drawing/2014/main" id="{08B9D736-24A9-35FE-C7F2-AF09CCAAAFF9}"/>
              </a:ext>
            </a:extLst>
          </p:cNvPr>
          <p:cNvSpPr txBox="1">
            <a:spLocks noChangeArrowheads="1"/>
          </p:cNvSpPr>
          <p:nvPr userDrawn="1"/>
        </p:nvSpPr>
        <p:spPr bwMode="auto">
          <a:xfrm>
            <a:off x="6270567" y="4740532"/>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pic>
        <p:nvPicPr>
          <p:cNvPr id="9" name="Picture 7">
            <a:extLst>
              <a:ext uri="{FF2B5EF4-FFF2-40B4-BE49-F238E27FC236}">
                <a16:creationId xmlns:a16="http://schemas.microsoft.com/office/drawing/2014/main" id="{4DAB6DDB-DDEB-0F43-5934-83876A1820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776951" y="1"/>
            <a:ext cx="2367049" cy="5143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a:extLs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73917" t="66" r="8515" b="-66"/>
          <a:stretch/>
        </p:blipFill>
        <p:spPr bwMode="auto">
          <a:xfrm>
            <a:off x="6776951" y="1"/>
            <a:ext cx="2366839" cy="5143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32551B08-8A67-4AFA-A316-667FD292E3E5}"/>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 name="Content Placeholder 2"/>
          <p:cNvSpPr>
            <a:spLocks noGrp="1"/>
          </p:cNvSpPr>
          <p:nvPr>
            <p:ph idx="1"/>
          </p:nvPr>
        </p:nvSpPr>
        <p:spPr>
          <a:xfrm>
            <a:off x="457200" y="362146"/>
            <a:ext cx="6195060" cy="4412435"/>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p:cNvSpPr>
            <a:spLocks noGrp="1"/>
          </p:cNvSpPr>
          <p:nvPr>
            <p:ph type="title"/>
          </p:nvPr>
        </p:nvSpPr>
        <p:spPr>
          <a:xfrm>
            <a:off x="6951518" y="362146"/>
            <a:ext cx="1791393" cy="4418390"/>
          </a:xfrm>
          <a:prstGeom prst="rect">
            <a:avLst/>
          </a:prstGeom>
        </p:spPr>
        <p:txBody>
          <a:bodyPr anchor="t" anchorCtr="0"/>
          <a:lstStyle>
            <a:lvl1pPr algn="l">
              <a:defRPr sz="2400" b="1">
                <a:solidFill>
                  <a:schemeClr val="bg1"/>
                </a:solidFill>
              </a:defRPr>
            </a:lvl1pPr>
          </a:lstStyle>
          <a:p>
            <a:r>
              <a:rPr lang="en-US"/>
              <a:t>Click to edit Master title style</a:t>
            </a:r>
          </a:p>
        </p:txBody>
      </p:sp>
      <p:pic>
        <p:nvPicPr>
          <p:cNvPr id="10" name="Picture 6">
            <a:extLst>
              <a:ext uri="{FF2B5EF4-FFF2-40B4-BE49-F238E27FC236}">
                <a16:creationId xmlns:a16="http://schemas.microsoft.com/office/drawing/2014/main" id="{990955D7-8163-1061-4B51-19376019BB43}"/>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3135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Title and Content (Basic)">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365DB1-1597-4BAE-9B61-19CA76812764}"/>
              </a:ext>
            </a:extLst>
          </p:cNvPr>
          <p:cNvSpPr/>
          <p:nvPr userDrawn="1"/>
        </p:nvSpPr>
        <p:spPr>
          <a:xfrm>
            <a:off x="6776951" y="0"/>
            <a:ext cx="2367049" cy="5143500"/>
          </a:xfrm>
          <a:prstGeom prst="rect">
            <a:avLst/>
          </a:prstGeom>
          <a:solidFill>
            <a:schemeClr val="tx1">
              <a:lumMod val="75000"/>
              <a:lumOff val="25000"/>
            </a:schemeClr>
          </a:solidFill>
          <a:ln>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pic>
        <p:nvPicPr>
          <p:cNvPr id="10" name="Picture 7">
            <a:extLst>
              <a:ext uri="{FF2B5EF4-FFF2-40B4-BE49-F238E27FC236}">
                <a16:creationId xmlns:a16="http://schemas.microsoft.com/office/drawing/2014/main" id="{6EDAF68D-83B1-3F7E-F832-7BBF3342174E}"/>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73917" t="66" r="8515" b="-66"/>
          <a:stretch/>
        </p:blipFill>
        <p:spPr bwMode="auto">
          <a:xfrm>
            <a:off x="6776951" y="1"/>
            <a:ext cx="2366839" cy="5143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p:cNvSpPr>
            <a:spLocks noGrp="1"/>
          </p:cNvSpPr>
          <p:nvPr>
            <p:ph type="title"/>
          </p:nvPr>
        </p:nvSpPr>
        <p:spPr>
          <a:xfrm>
            <a:off x="6951518" y="362146"/>
            <a:ext cx="1791393" cy="4418390"/>
          </a:xfrm>
          <a:prstGeom prst="rect">
            <a:avLst/>
          </a:prstGeom>
        </p:spPr>
        <p:txBody>
          <a:bodyPr anchor="t" anchorCtr="0"/>
          <a:lstStyle>
            <a:lvl1pPr algn="l">
              <a:defRPr sz="2400" b="1">
                <a:solidFill>
                  <a:schemeClr val="bg1"/>
                </a:solidFill>
              </a:defRPr>
            </a:lvl1pPr>
          </a:lstStyle>
          <a:p>
            <a:r>
              <a:rPr lang="en-US"/>
              <a:t>Click to edit Master title style</a:t>
            </a:r>
          </a:p>
        </p:txBody>
      </p:sp>
      <p:sp>
        <p:nvSpPr>
          <p:cNvPr id="3" name="Content Placeholder 2"/>
          <p:cNvSpPr>
            <a:spLocks noGrp="1"/>
          </p:cNvSpPr>
          <p:nvPr>
            <p:ph idx="1"/>
          </p:nvPr>
        </p:nvSpPr>
        <p:spPr>
          <a:xfrm>
            <a:off x="457200" y="362146"/>
            <a:ext cx="6195060" cy="4412435"/>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98BA2ABB-3E45-4D91-A616-7D46DDCAB9FD}"/>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 name="Footer Placeholder 5">
            <a:extLst>
              <a:ext uri="{FF2B5EF4-FFF2-40B4-BE49-F238E27FC236}">
                <a16:creationId xmlns:a16="http://schemas.microsoft.com/office/drawing/2014/main" id="{0D4FCE93-5C0F-EF39-9E3D-D4A8F5ECAF24}"/>
              </a:ext>
            </a:extLst>
          </p:cNvPr>
          <p:cNvSpPr>
            <a:spLocks noGrp="1"/>
          </p:cNvSpPr>
          <p:nvPr>
            <p:ph type="ftr" sz="quarter" idx="11"/>
          </p:nvPr>
        </p:nvSpPr>
        <p:spPr>
          <a:xfrm>
            <a:off x="457200" y="4718630"/>
            <a:ext cx="5105400" cy="274637"/>
          </a:xfrm>
          <a:prstGeom prst="rect">
            <a:avLst/>
          </a:prstGeom>
        </p:spPr>
        <p:txBody>
          <a:bodyPr anchor="ctr"/>
          <a:lstStyle>
            <a:lvl1pPr algn="r">
              <a:defRPr sz="1000">
                <a:solidFill>
                  <a:srgbClr val="7F7F7F"/>
                </a:solidFill>
              </a:defRPr>
            </a:lvl1pPr>
          </a:lstStyle>
          <a:p>
            <a:endParaRPr lang="en-US"/>
          </a:p>
        </p:txBody>
      </p:sp>
      <p:sp>
        <p:nvSpPr>
          <p:cNvPr id="4" name="TextBox 1">
            <a:extLst>
              <a:ext uri="{FF2B5EF4-FFF2-40B4-BE49-F238E27FC236}">
                <a16:creationId xmlns:a16="http://schemas.microsoft.com/office/drawing/2014/main" id="{A314CFC8-A4BE-8138-9A32-E43CFE702A29}"/>
              </a:ext>
            </a:extLst>
          </p:cNvPr>
          <p:cNvSpPr txBox="1">
            <a:spLocks noChangeArrowheads="1"/>
          </p:cNvSpPr>
          <p:nvPr userDrawn="1"/>
        </p:nvSpPr>
        <p:spPr bwMode="auto">
          <a:xfrm>
            <a:off x="6270567" y="4740532"/>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pic>
        <p:nvPicPr>
          <p:cNvPr id="6" name="Picture 6">
            <a:extLst>
              <a:ext uri="{FF2B5EF4-FFF2-40B4-BE49-F238E27FC236}">
                <a16:creationId xmlns:a16="http://schemas.microsoft.com/office/drawing/2014/main" id="{6F4D772E-6809-ADBF-C83C-5CC872F001C3}"/>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8072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Title and Content (Basic)">
    <p:spTree>
      <p:nvGrpSpPr>
        <p:cNvPr id="1" name=""/>
        <p:cNvGrpSpPr/>
        <p:nvPr/>
      </p:nvGrpSpPr>
      <p:grpSpPr>
        <a:xfrm>
          <a:off x="0" y="0"/>
          <a:ext cx="0" cy="0"/>
          <a:chOff x="0" y="0"/>
          <a:chExt cx="0" cy="0"/>
        </a:xfrm>
      </p:grpSpPr>
      <p:pic>
        <p:nvPicPr>
          <p:cNvPr id="7"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0" y="1"/>
            <a:ext cx="2367049" cy="5143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7">
            <a:extLst>
              <a:ext uri="{FF2B5EF4-FFF2-40B4-BE49-F238E27FC236}">
                <a16:creationId xmlns:a16="http://schemas.microsoft.com/office/drawing/2014/main" id="{0055A1E2-F326-54BE-1FB9-E15657967E73}"/>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73917" t="66" r="8515" b="-66"/>
          <a:stretch/>
        </p:blipFill>
        <p:spPr bwMode="auto">
          <a:xfrm>
            <a:off x="0" y="1"/>
            <a:ext cx="2366839" cy="5143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p:cNvSpPr>
            <a:spLocks noGrp="1"/>
          </p:cNvSpPr>
          <p:nvPr>
            <p:ph type="title"/>
          </p:nvPr>
        </p:nvSpPr>
        <p:spPr>
          <a:xfrm>
            <a:off x="342900" y="356191"/>
            <a:ext cx="1791393" cy="4418390"/>
          </a:xfrm>
          <a:prstGeom prst="rect">
            <a:avLst/>
          </a:prstGeom>
        </p:spPr>
        <p:txBody>
          <a:bodyPr anchor="t" anchorCtr="0"/>
          <a:lstStyle>
            <a:lvl1pPr algn="l">
              <a:defRPr sz="2400" b="1">
                <a:solidFill>
                  <a:schemeClr val="bg1"/>
                </a:solidFill>
              </a:defRPr>
            </a:lvl1pPr>
          </a:lstStyle>
          <a:p>
            <a:r>
              <a:rPr lang="en-US"/>
              <a:t>Click to edit Master title style</a:t>
            </a:r>
          </a:p>
        </p:txBody>
      </p:sp>
      <p:sp>
        <p:nvSpPr>
          <p:cNvPr id="3" name="Content Placeholder 2"/>
          <p:cNvSpPr>
            <a:spLocks noGrp="1"/>
          </p:cNvSpPr>
          <p:nvPr>
            <p:ph idx="1"/>
          </p:nvPr>
        </p:nvSpPr>
        <p:spPr>
          <a:xfrm>
            <a:off x="2491739" y="356191"/>
            <a:ext cx="6195060" cy="4412435"/>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38B3E92B-5B9B-4DA3-B532-65365C1ECC56}"/>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2" name="Picture 6" descr="Small_Logo.jpg">
            <a:extLst>
              <a:ext uri="{FF2B5EF4-FFF2-40B4-BE49-F238E27FC236}">
                <a16:creationId xmlns:a16="http://schemas.microsoft.com/office/drawing/2014/main" id="{8A27DC70-F96B-47E1-B74C-86CD9FAB5BBD}"/>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
            <a:extLst>
              <a:ext uri="{FF2B5EF4-FFF2-40B4-BE49-F238E27FC236}">
                <a16:creationId xmlns:a16="http://schemas.microsoft.com/office/drawing/2014/main" id="{4B6EA7F7-9624-418B-8EAD-717C5D3051F1}"/>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6" name="Footer Placeholder 5">
            <a:extLst>
              <a:ext uri="{FF2B5EF4-FFF2-40B4-BE49-F238E27FC236}">
                <a16:creationId xmlns:a16="http://schemas.microsoft.com/office/drawing/2014/main" id="{AE29D02A-5715-292E-C7D3-75DE2D2D7A81}"/>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spTree>
    <p:extLst>
      <p:ext uri="{BB962C8B-B14F-4D97-AF65-F5344CB8AC3E}">
        <p14:creationId xmlns:p14="http://schemas.microsoft.com/office/powerpoint/2010/main" val="23182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Content (Basic)">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36E378F-4C15-4256-896A-FEFCBA278CB9}"/>
              </a:ext>
            </a:extLst>
          </p:cNvPr>
          <p:cNvSpPr/>
          <p:nvPr userDrawn="1"/>
        </p:nvSpPr>
        <p:spPr>
          <a:xfrm>
            <a:off x="0" y="0"/>
            <a:ext cx="2367049" cy="5143500"/>
          </a:xfrm>
          <a:prstGeom prst="rect">
            <a:avLst/>
          </a:prstGeom>
          <a:solidFill>
            <a:schemeClr val="tx1">
              <a:lumMod val="75000"/>
              <a:lumOff val="25000"/>
            </a:schemeClr>
          </a:solidFill>
          <a:ln>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pic>
        <p:nvPicPr>
          <p:cNvPr id="4" name="Picture 7">
            <a:extLst>
              <a:ext uri="{FF2B5EF4-FFF2-40B4-BE49-F238E27FC236}">
                <a16:creationId xmlns:a16="http://schemas.microsoft.com/office/drawing/2014/main" id="{2C317CCE-DD98-54FA-25DA-2DAEEEEEE8C8}"/>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73917" t="66" r="8515" b="-66"/>
          <a:stretch/>
        </p:blipFill>
        <p:spPr bwMode="auto">
          <a:xfrm>
            <a:off x="0" y="1"/>
            <a:ext cx="2366839" cy="5143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p:cNvSpPr>
            <a:spLocks noGrp="1"/>
          </p:cNvSpPr>
          <p:nvPr>
            <p:ph type="title"/>
          </p:nvPr>
        </p:nvSpPr>
        <p:spPr>
          <a:xfrm>
            <a:off x="342900" y="356191"/>
            <a:ext cx="1791393" cy="4418390"/>
          </a:xfrm>
          <a:prstGeom prst="rect">
            <a:avLst/>
          </a:prstGeom>
        </p:spPr>
        <p:txBody>
          <a:bodyPr anchor="t" anchorCtr="0"/>
          <a:lstStyle>
            <a:lvl1pPr algn="l">
              <a:defRPr sz="2400" b="1">
                <a:solidFill>
                  <a:schemeClr val="bg1"/>
                </a:solidFill>
              </a:defRPr>
            </a:lvl1pPr>
          </a:lstStyle>
          <a:p>
            <a:r>
              <a:rPr lang="en-US"/>
              <a:t>Click to edit Master title style</a:t>
            </a:r>
          </a:p>
        </p:txBody>
      </p:sp>
      <p:sp>
        <p:nvSpPr>
          <p:cNvPr id="3" name="Content Placeholder 2"/>
          <p:cNvSpPr>
            <a:spLocks noGrp="1"/>
          </p:cNvSpPr>
          <p:nvPr>
            <p:ph idx="1"/>
          </p:nvPr>
        </p:nvSpPr>
        <p:spPr>
          <a:xfrm>
            <a:off x="2491739" y="356191"/>
            <a:ext cx="6195060" cy="4412435"/>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CA1C3700-3B72-4250-8D8C-83239E06D7E2}"/>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5" name="Picture 6" descr="Small_Logo.jpg">
            <a:extLst>
              <a:ext uri="{FF2B5EF4-FFF2-40B4-BE49-F238E27FC236}">
                <a16:creationId xmlns:a16="http://schemas.microsoft.com/office/drawing/2014/main" id="{DE15F43C-F327-4D89-AE81-47A678947A56}"/>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
            <a:extLst>
              <a:ext uri="{FF2B5EF4-FFF2-40B4-BE49-F238E27FC236}">
                <a16:creationId xmlns:a16="http://schemas.microsoft.com/office/drawing/2014/main" id="{75651C82-EAF9-42D7-886A-349181C1E40C}"/>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2" name="Footer Placeholder 5">
            <a:extLst>
              <a:ext uri="{FF2B5EF4-FFF2-40B4-BE49-F238E27FC236}">
                <a16:creationId xmlns:a16="http://schemas.microsoft.com/office/drawing/2014/main" id="{6A00AB35-3C06-4167-D0F1-C8B275DB350E}"/>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spTree>
    <p:extLst>
      <p:ext uri="{BB962C8B-B14F-4D97-AF65-F5344CB8AC3E}">
        <p14:creationId xmlns:p14="http://schemas.microsoft.com/office/powerpoint/2010/main" val="624470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Break_darker-Summit-blue">
    <p:spTree>
      <p:nvGrpSpPr>
        <p:cNvPr id="1" name=""/>
        <p:cNvGrpSpPr/>
        <p:nvPr/>
      </p:nvGrpSpPr>
      <p:grpSpPr>
        <a:xfrm>
          <a:off x="0" y="0"/>
          <a:ext cx="0" cy="0"/>
          <a:chOff x="0" y="0"/>
          <a:chExt cx="0" cy="0"/>
        </a:xfrm>
      </p:grpSpPr>
      <p:pic>
        <p:nvPicPr>
          <p:cNvPr id="7" name="Picture 7">
            <a:extLs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130" t="124" r="6" b="-124"/>
          <a:stretch/>
        </p:blipFill>
        <p:spPr bwMode="auto">
          <a:xfrm>
            <a:off x="0" y="1"/>
            <a:ext cx="9143188" cy="516254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5" name="Title 4"/>
          <p:cNvSpPr>
            <a:spLocks noGrp="1"/>
          </p:cNvSpPr>
          <p:nvPr>
            <p:ph type="title"/>
          </p:nvPr>
        </p:nvSpPr>
        <p:spPr>
          <a:xfrm>
            <a:off x="342900" y="356191"/>
            <a:ext cx="8343899" cy="4418390"/>
          </a:xfrm>
          <a:prstGeom prst="rect">
            <a:avLst/>
          </a:prstGeom>
        </p:spPr>
        <p:txBody>
          <a:bodyPr lIns="914400" tIns="914400" rIns="914400" bIns="914400" anchor="ctr" anchorCtr="0"/>
          <a:lstStyle>
            <a:lvl1pPr algn="ctr">
              <a:defRPr sz="3000" b="1">
                <a:solidFill>
                  <a:schemeClr val="bg1"/>
                </a:solidFill>
              </a:defRPr>
            </a:lvl1pPr>
          </a:lstStyle>
          <a:p>
            <a:r>
              <a:rPr lang="en-US"/>
              <a:t>Click to edit Master title style</a:t>
            </a:r>
          </a:p>
        </p:txBody>
      </p:sp>
      <p:cxnSp>
        <p:nvCxnSpPr>
          <p:cNvPr id="2" name="Straight Connector 1">
            <a:extLst>
              <a:ext uri="{FF2B5EF4-FFF2-40B4-BE49-F238E27FC236}">
                <a16:creationId xmlns:a16="http://schemas.microsoft.com/office/drawing/2014/main" id="{4F463550-E89F-8CF5-023E-6867BFDBF67C}"/>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3" name="Picture 6" descr="Small_Logo.jpg">
            <a:extLst>
              <a:ext uri="{FF2B5EF4-FFF2-40B4-BE49-F238E27FC236}">
                <a16:creationId xmlns:a16="http://schemas.microsoft.com/office/drawing/2014/main" id="{3394A911-CD7E-55BE-B47F-BC9ED4A24CC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4" name="TextBox 1">
            <a:extLst>
              <a:ext uri="{FF2B5EF4-FFF2-40B4-BE49-F238E27FC236}">
                <a16:creationId xmlns:a16="http://schemas.microsoft.com/office/drawing/2014/main" id="{71363C25-9E26-DACD-F8BF-BAF5D19CDE9C}"/>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chemeClr val="bg1"/>
                </a:solidFill>
              </a:rPr>
              <a:pPr algn="r" defTabSz="342900" eaLnBrk="1" fontAlgn="base" hangingPunct="1">
                <a:spcBef>
                  <a:spcPct val="0"/>
                </a:spcBef>
                <a:spcAft>
                  <a:spcPct val="0"/>
                </a:spcAft>
                <a:defRPr/>
              </a:pPr>
              <a:t>‹#›</a:t>
            </a:fld>
            <a:endParaRPr lang="en-US" sz="800">
              <a:solidFill>
                <a:schemeClr val="bg1"/>
              </a:solidFill>
            </a:endParaRPr>
          </a:p>
        </p:txBody>
      </p:sp>
      <p:sp>
        <p:nvSpPr>
          <p:cNvPr id="6" name="Footer Placeholder 5">
            <a:extLst>
              <a:ext uri="{FF2B5EF4-FFF2-40B4-BE49-F238E27FC236}">
                <a16:creationId xmlns:a16="http://schemas.microsoft.com/office/drawing/2014/main" id="{F499EA23-0707-51BC-1D2F-59218A6762CA}"/>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chemeClr val="bg1"/>
                </a:solidFill>
              </a:defRPr>
            </a:lvl1pPr>
          </a:lstStyle>
          <a:p>
            <a:endParaRPr lang="en-US"/>
          </a:p>
        </p:txBody>
      </p:sp>
    </p:spTree>
    <p:extLst>
      <p:ext uri="{BB962C8B-B14F-4D97-AF65-F5344CB8AC3E}">
        <p14:creationId xmlns:p14="http://schemas.microsoft.com/office/powerpoint/2010/main" val="26092169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Break_gray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3ADE84-A431-4DD9-B72F-973CA4D36907}"/>
              </a:ext>
            </a:extLst>
          </p:cNvPr>
          <p:cNvSpPr/>
          <p:nvPr userDrawn="1"/>
        </p:nvSpPr>
        <p:spPr>
          <a:xfrm>
            <a:off x="0" y="0"/>
            <a:ext cx="9144000" cy="5143500"/>
          </a:xfrm>
          <a:prstGeom prst="rect">
            <a:avLst/>
          </a:prstGeom>
          <a:solidFill>
            <a:schemeClr val="tx1">
              <a:lumMod val="75000"/>
              <a:lumOff val="25000"/>
            </a:schemeClr>
          </a:solidFill>
          <a:ln>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pic>
        <p:nvPicPr>
          <p:cNvPr id="3" name="Picture 7">
            <a:extLst>
              <a:ext uri="{FF2B5EF4-FFF2-40B4-BE49-F238E27FC236}">
                <a16:creationId xmlns:a16="http://schemas.microsoft.com/office/drawing/2014/main" id="{AA6BE99A-6AFF-83F8-0277-F07EB2E82895}"/>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32130" t="124" r="6" b="-124"/>
          <a:stretch/>
        </p:blipFill>
        <p:spPr bwMode="auto">
          <a:xfrm>
            <a:off x="0" y="1"/>
            <a:ext cx="9143188" cy="5143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p:cNvSpPr>
            <a:spLocks noGrp="1"/>
          </p:cNvSpPr>
          <p:nvPr>
            <p:ph type="title"/>
          </p:nvPr>
        </p:nvSpPr>
        <p:spPr>
          <a:xfrm>
            <a:off x="342900" y="356191"/>
            <a:ext cx="8343899" cy="4418390"/>
          </a:xfrm>
          <a:prstGeom prst="rect">
            <a:avLst/>
          </a:prstGeom>
        </p:spPr>
        <p:txBody>
          <a:bodyPr lIns="914400" tIns="914400" rIns="914400" bIns="914400" anchor="ctr" anchorCtr="0"/>
          <a:lstStyle>
            <a:lvl1pPr algn="ctr">
              <a:defRPr sz="3000" b="1">
                <a:solidFill>
                  <a:schemeClr val="bg1"/>
                </a:solidFill>
              </a:defRPr>
            </a:lvl1pPr>
          </a:lstStyle>
          <a:p>
            <a:r>
              <a:rPr lang="en-US"/>
              <a:t>Click to edit Master title style</a:t>
            </a:r>
          </a:p>
        </p:txBody>
      </p:sp>
      <p:cxnSp>
        <p:nvCxnSpPr>
          <p:cNvPr id="10" name="Straight Connector 9">
            <a:extLst>
              <a:ext uri="{FF2B5EF4-FFF2-40B4-BE49-F238E27FC236}">
                <a16:creationId xmlns:a16="http://schemas.microsoft.com/office/drawing/2014/main" id="{E70F8476-EAD7-AFC5-96BA-A0116EA2C3B7}"/>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1" name="Picture 6" descr="Small_Logo.jpg">
            <a:extLst>
              <a:ext uri="{FF2B5EF4-FFF2-40B4-BE49-F238E27FC236}">
                <a16:creationId xmlns:a16="http://schemas.microsoft.com/office/drawing/2014/main" id="{E8A446B7-DF4A-02E8-D017-827D2E0AE81F}"/>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2" name="TextBox 1">
            <a:extLst>
              <a:ext uri="{FF2B5EF4-FFF2-40B4-BE49-F238E27FC236}">
                <a16:creationId xmlns:a16="http://schemas.microsoft.com/office/drawing/2014/main" id="{D0F784DD-3777-90F1-C2F3-6FAE93E2BE3D}"/>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chemeClr val="bg1"/>
                </a:solidFill>
              </a:rPr>
              <a:pPr algn="r" defTabSz="342900" eaLnBrk="1" fontAlgn="base" hangingPunct="1">
                <a:spcBef>
                  <a:spcPct val="0"/>
                </a:spcBef>
                <a:spcAft>
                  <a:spcPct val="0"/>
                </a:spcAft>
                <a:defRPr/>
              </a:pPr>
              <a:t>‹#›</a:t>
            </a:fld>
            <a:endParaRPr lang="en-US" sz="800">
              <a:solidFill>
                <a:schemeClr val="bg1"/>
              </a:solidFill>
            </a:endParaRPr>
          </a:p>
        </p:txBody>
      </p:sp>
      <p:sp>
        <p:nvSpPr>
          <p:cNvPr id="13" name="Footer Placeholder 5">
            <a:extLst>
              <a:ext uri="{FF2B5EF4-FFF2-40B4-BE49-F238E27FC236}">
                <a16:creationId xmlns:a16="http://schemas.microsoft.com/office/drawing/2014/main" id="{FA636234-7141-50EE-2188-D952F68F5D89}"/>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chemeClr val="bg1"/>
                </a:solidFill>
              </a:defRPr>
            </a:lvl1pPr>
          </a:lstStyle>
          <a:p>
            <a:endParaRPr lang="en-US"/>
          </a:p>
        </p:txBody>
      </p:sp>
    </p:spTree>
    <p:extLst>
      <p:ext uri="{BB962C8B-B14F-4D97-AF65-F5344CB8AC3E}">
        <p14:creationId xmlns:p14="http://schemas.microsoft.com/office/powerpoint/2010/main" val="26177379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Break_paler-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3ADE84-A431-4DD9-B72F-973CA4D36907}"/>
              </a:ext>
            </a:extLst>
          </p:cNvPr>
          <p:cNvSpPr/>
          <p:nvPr userDrawn="1"/>
        </p:nvSpPr>
        <p:spPr>
          <a:xfrm>
            <a:off x="0" y="0"/>
            <a:ext cx="9144000" cy="5143500"/>
          </a:xfrm>
          <a:prstGeom prst="rect">
            <a:avLst/>
          </a:prstGeom>
          <a:solidFill>
            <a:srgbClr val="52B6E8"/>
          </a:solidFill>
          <a:ln>
            <a:solidFill>
              <a:schemeClr val="tx1">
                <a:lumMod val="75000"/>
                <a:lumOff val="2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pic>
        <p:nvPicPr>
          <p:cNvPr id="6" name="Picture 7">
            <a:extLst>
              <a:ext uri="{FF2B5EF4-FFF2-40B4-BE49-F238E27FC236}">
                <a16:creationId xmlns:a16="http://schemas.microsoft.com/office/drawing/2014/main" id="{AA988FEB-B3D8-35DB-B567-0534967F5F09}"/>
              </a:ext>
              <a:ext uri="{C183D7F6-B498-43B3-948B-1728B52AA6E4}">
                <adec:decorative xmlns:adec="http://schemas.microsoft.com/office/drawing/2017/decorative" val="1"/>
              </a:ext>
            </a:extLst>
          </p:cNvPr>
          <p:cNvPicPr>
            <a:picLocks noChangeAspect="1"/>
          </p:cNvPicPr>
          <p:nvPr userDrawn="1"/>
        </p:nvPicPr>
        <p:blipFill rotWithShape="1">
          <a:blip r:embed="rId2">
            <a:duotone>
              <a:schemeClr val="accent1">
                <a:shade val="45000"/>
                <a:satMod val="135000"/>
              </a:schemeClr>
              <a:prstClr val="white"/>
            </a:duotone>
            <a:alphaModFix amt="35000"/>
            <a:extLst>
              <a:ext uri="{28A0092B-C50C-407E-A947-70E740481C1C}">
                <a14:useLocalDpi xmlns:a14="http://schemas.microsoft.com/office/drawing/2010/main" val="0"/>
              </a:ext>
            </a:extLst>
          </a:blip>
          <a:srcRect l="32130" t="124" r="6" b="-124"/>
          <a:stretch/>
        </p:blipFill>
        <p:spPr bwMode="auto">
          <a:xfrm>
            <a:off x="0" y="-19050"/>
            <a:ext cx="9143188" cy="5143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p:cNvSpPr>
            <a:spLocks noGrp="1"/>
          </p:cNvSpPr>
          <p:nvPr>
            <p:ph type="title"/>
          </p:nvPr>
        </p:nvSpPr>
        <p:spPr>
          <a:xfrm>
            <a:off x="342900" y="356191"/>
            <a:ext cx="8343899" cy="4418390"/>
          </a:xfrm>
          <a:prstGeom prst="rect">
            <a:avLst/>
          </a:prstGeom>
        </p:spPr>
        <p:txBody>
          <a:bodyPr lIns="914400" tIns="914400" rIns="914400" bIns="914400" anchor="ctr" anchorCtr="0"/>
          <a:lstStyle>
            <a:lvl1pPr algn="ctr">
              <a:defRPr sz="3000" b="1">
                <a:solidFill>
                  <a:schemeClr val="tx1">
                    <a:lumMod val="75000"/>
                    <a:lumOff val="25000"/>
                  </a:schemeClr>
                </a:solidFill>
              </a:defRPr>
            </a:lvl1pPr>
          </a:lstStyle>
          <a:p>
            <a:r>
              <a:rPr lang="en-US"/>
              <a:t>Click to edit Master title style</a:t>
            </a:r>
          </a:p>
        </p:txBody>
      </p:sp>
      <p:cxnSp>
        <p:nvCxnSpPr>
          <p:cNvPr id="3" name="Straight Connector 2">
            <a:extLst>
              <a:ext uri="{FF2B5EF4-FFF2-40B4-BE49-F238E27FC236}">
                <a16:creationId xmlns:a16="http://schemas.microsoft.com/office/drawing/2014/main" id="{185B4F0E-E2C8-D6B1-2BEC-01A6AB2B15FB}"/>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4" name="Picture 6" descr="Small_Logo.jpg">
            <a:extLst>
              <a:ext uri="{FF2B5EF4-FFF2-40B4-BE49-F238E27FC236}">
                <a16:creationId xmlns:a16="http://schemas.microsoft.com/office/drawing/2014/main" id="{CB5220E6-779D-A4FA-9A0C-990EDC751C0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8" name="TextBox 1">
            <a:extLst>
              <a:ext uri="{FF2B5EF4-FFF2-40B4-BE49-F238E27FC236}">
                <a16:creationId xmlns:a16="http://schemas.microsoft.com/office/drawing/2014/main" id="{9653FCE1-2660-2ED8-070A-266315BE53B2}"/>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chemeClr val="tx1">
                    <a:lumMod val="75000"/>
                    <a:lumOff val="25000"/>
                  </a:schemeClr>
                </a:solidFill>
              </a:rPr>
              <a:pPr algn="r" defTabSz="342900" eaLnBrk="1" fontAlgn="base" hangingPunct="1">
                <a:spcBef>
                  <a:spcPct val="0"/>
                </a:spcBef>
                <a:spcAft>
                  <a:spcPct val="0"/>
                </a:spcAft>
                <a:defRPr/>
              </a:pPr>
              <a:t>‹#›</a:t>
            </a:fld>
            <a:endParaRPr lang="en-US" sz="800">
              <a:solidFill>
                <a:schemeClr val="tx1">
                  <a:lumMod val="75000"/>
                  <a:lumOff val="25000"/>
                </a:schemeClr>
              </a:solidFill>
            </a:endParaRPr>
          </a:p>
        </p:txBody>
      </p:sp>
      <p:sp>
        <p:nvSpPr>
          <p:cNvPr id="9" name="Footer Placeholder 5">
            <a:extLst>
              <a:ext uri="{FF2B5EF4-FFF2-40B4-BE49-F238E27FC236}">
                <a16:creationId xmlns:a16="http://schemas.microsoft.com/office/drawing/2014/main" id="{796C8122-AAF4-1DC0-A8AD-F45262E82ED3}"/>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chemeClr val="tx1">
                    <a:lumMod val="75000"/>
                    <a:lumOff val="25000"/>
                  </a:schemeClr>
                </a:solidFill>
              </a:defRPr>
            </a:lvl1pPr>
          </a:lstStyle>
          <a:p>
            <a:endParaRPr lang="en-US"/>
          </a:p>
        </p:txBody>
      </p:sp>
    </p:spTree>
    <p:extLst>
      <p:ext uri="{BB962C8B-B14F-4D97-AF65-F5344CB8AC3E}">
        <p14:creationId xmlns:p14="http://schemas.microsoft.com/office/powerpoint/2010/main" val="6619852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Title and Content (Basic)">
    <p:spTree>
      <p:nvGrpSpPr>
        <p:cNvPr id="1" name=""/>
        <p:cNvGrpSpPr/>
        <p:nvPr/>
      </p:nvGrpSpPr>
      <p:grpSpPr>
        <a:xfrm>
          <a:off x="0" y="0"/>
          <a:ext cx="0" cy="0"/>
          <a:chOff x="0" y="0"/>
          <a:chExt cx="0" cy="0"/>
        </a:xfrm>
      </p:grpSpPr>
      <p:pic>
        <p:nvPicPr>
          <p:cNvPr id="11" name="Picture 7">
            <a:extLst>
              <a:ext uri="{FF2B5EF4-FFF2-40B4-BE49-F238E27FC236}">
                <a16:creationId xmlns:a16="http://schemas.microsoft.com/office/drawing/2014/main" id="{8DBD7DD8-8D53-0AC6-BD0C-CC217A5E771A}"/>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130" t="124" r="6" b="-124"/>
          <a:stretch/>
        </p:blipFill>
        <p:spPr bwMode="auto">
          <a:xfrm>
            <a:off x="0" y="0"/>
            <a:ext cx="9143188" cy="516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p:cNvSpPr>
            <a:spLocks noGrp="1"/>
          </p:cNvSpPr>
          <p:nvPr>
            <p:ph type="title"/>
          </p:nvPr>
        </p:nvSpPr>
        <p:spPr>
          <a:xfrm>
            <a:off x="457200" y="513159"/>
            <a:ext cx="8229600" cy="4002301"/>
          </a:xfrm>
          <a:prstGeom prst="rect">
            <a:avLst/>
          </a:prstGeom>
          <a:solidFill>
            <a:schemeClr val="bg1"/>
          </a:solidFill>
        </p:spPr>
        <p:txBody>
          <a:bodyPr lIns="731520" tIns="548640" rIns="731520" bIns="548640" anchor="ctr" anchorCtr="0"/>
          <a:lstStyle>
            <a:lvl1pPr algn="ctr">
              <a:defRPr sz="3000" b="1">
                <a:solidFill>
                  <a:schemeClr val="tx1">
                    <a:lumMod val="75000"/>
                    <a:lumOff val="25000"/>
                  </a:schemeClr>
                </a:solidFill>
              </a:defRPr>
            </a:lvl1pPr>
          </a:lstStyle>
          <a:p>
            <a:r>
              <a:rPr lang="en-US"/>
              <a:t>Click to edit Master title style</a:t>
            </a:r>
          </a:p>
        </p:txBody>
      </p:sp>
      <p:cxnSp>
        <p:nvCxnSpPr>
          <p:cNvPr id="2" name="Straight Connector 1">
            <a:extLst>
              <a:ext uri="{FF2B5EF4-FFF2-40B4-BE49-F238E27FC236}">
                <a16:creationId xmlns:a16="http://schemas.microsoft.com/office/drawing/2014/main" id="{4F463550-E89F-8CF5-023E-6867BFDBF67C}"/>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3" name="Picture 6" descr="Small_Logo.jpg">
            <a:extLst>
              <a:ext uri="{FF2B5EF4-FFF2-40B4-BE49-F238E27FC236}">
                <a16:creationId xmlns:a16="http://schemas.microsoft.com/office/drawing/2014/main" id="{3394A911-CD7E-55BE-B47F-BC9ED4A24CC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4" name="TextBox 1">
            <a:extLst>
              <a:ext uri="{FF2B5EF4-FFF2-40B4-BE49-F238E27FC236}">
                <a16:creationId xmlns:a16="http://schemas.microsoft.com/office/drawing/2014/main" id="{71363C25-9E26-DACD-F8BF-BAF5D19CDE9C}"/>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chemeClr val="bg1"/>
                </a:solidFill>
              </a:rPr>
              <a:pPr algn="r" defTabSz="342900" eaLnBrk="1" fontAlgn="base" hangingPunct="1">
                <a:spcBef>
                  <a:spcPct val="0"/>
                </a:spcBef>
                <a:spcAft>
                  <a:spcPct val="0"/>
                </a:spcAft>
                <a:defRPr/>
              </a:pPr>
              <a:t>‹#›</a:t>
            </a:fld>
            <a:endParaRPr lang="en-US" sz="800">
              <a:solidFill>
                <a:schemeClr val="bg1"/>
              </a:solidFill>
            </a:endParaRPr>
          </a:p>
        </p:txBody>
      </p:sp>
      <p:sp>
        <p:nvSpPr>
          <p:cNvPr id="6" name="Footer Placeholder 5">
            <a:extLst>
              <a:ext uri="{FF2B5EF4-FFF2-40B4-BE49-F238E27FC236}">
                <a16:creationId xmlns:a16="http://schemas.microsoft.com/office/drawing/2014/main" id="{F499EA23-0707-51BC-1D2F-59218A6762CA}"/>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chemeClr val="bg1"/>
                </a:solidFill>
              </a:defRPr>
            </a:lvl1pPr>
          </a:lstStyle>
          <a:p>
            <a:endParaRPr lang="en-US"/>
          </a:p>
        </p:txBody>
      </p:sp>
    </p:spTree>
    <p:extLst>
      <p:ext uri="{BB962C8B-B14F-4D97-AF65-F5344CB8AC3E}">
        <p14:creationId xmlns:p14="http://schemas.microsoft.com/office/powerpoint/2010/main" val="357141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itle and Content (Basic)">
    <p:spTree>
      <p:nvGrpSpPr>
        <p:cNvPr id="1" name=""/>
        <p:cNvGrpSpPr/>
        <p:nvPr/>
      </p:nvGrpSpPr>
      <p:grpSpPr>
        <a:xfrm>
          <a:off x="0" y="0"/>
          <a:ext cx="0" cy="0"/>
          <a:chOff x="0" y="0"/>
          <a:chExt cx="0" cy="0"/>
        </a:xfrm>
      </p:grpSpPr>
      <p:pic>
        <p:nvPicPr>
          <p:cNvPr id="7"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0" y="181118"/>
            <a:ext cx="9144000" cy="74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7">
            <a:extLst>
              <a:ext uri="{FF2B5EF4-FFF2-40B4-BE49-F238E27FC236}">
                <a16:creationId xmlns:a16="http://schemas.microsoft.com/office/drawing/2014/main" id="{45E3D361-2268-6262-E1BE-9A099D3355D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t="12494" b="12494"/>
          <a:stretch/>
        </p:blipFill>
        <p:spPr bwMode="auto">
          <a:xfrm>
            <a:off x="0" y="181118"/>
            <a:ext cx="9142554" cy="74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p:cNvSpPr>
            <a:spLocks noGrp="1"/>
          </p:cNvSpPr>
          <p:nvPr>
            <p:ph type="title"/>
          </p:nvPr>
        </p:nvSpPr>
        <p:spPr>
          <a:xfrm>
            <a:off x="0" y="181118"/>
            <a:ext cx="8686800" cy="733283"/>
          </a:xfrm>
          <a:prstGeom prst="rect">
            <a:avLst/>
          </a:prstGeom>
        </p:spPr>
        <p:txBody>
          <a:bodyPr anchor="ctr" anchorCtr="0"/>
          <a:lstStyle>
            <a:lvl1pPr algn="l">
              <a:defRPr sz="2400" b="1">
                <a:solidFill>
                  <a:schemeClr val="bg1"/>
                </a:solidFill>
              </a:defRPr>
            </a:lvl1pPr>
          </a:lstStyle>
          <a:p>
            <a:r>
              <a:rPr lang="en-US"/>
              <a:t>Click to edit Master title style</a:t>
            </a:r>
          </a:p>
        </p:txBody>
      </p:sp>
      <p:cxnSp>
        <p:nvCxnSpPr>
          <p:cNvPr id="6" name="Straight Connector 5">
            <a:extLst>
              <a:ext uri="{FF2B5EF4-FFF2-40B4-BE49-F238E27FC236}">
                <a16:creationId xmlns:a16="http://schemas.microsoft.com/office/drawing/2014/main" id="{1995CDE4-82DE-4A2C-B55A-9D1B56029B32}"/>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1" name="Picture 6" descr="Small_Logo.jpg">
            <a:extLst>
              <a:ext uri="{FF2B5EF4-FFF2-40B4-BE49-F238E27FC236}">
                <a16:creationId xmlns:a16="http://schemas.microsoft.com/office/drawing/2014/main" id="{09FFC916-6DE7-43DA-84A2-C55B80B2F18E}"/>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
            <a:extLst>
              <a:ext uri="{FF2B5EF4-FFF2-40B4-BE49-F238E27FC236}">
                <a16:creationId xmlns:a16="http://schemas.microsoft.com/office/drawing/2014/main" id="{559ED76E-E85E-45C3-A991-A4C502561D86}"/>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2" name="Footer Placeholder 5">
            <a:extLst>
              <a:ext uri="{FF2B5EF4-FFF2-40B4-BE49-F238E27FC236}">
                <a16:creationId xmlns:a16="http://schemas.microsoft.com/office/drawing/2014/main" id="{6654DB20-BDA7-8D51-59F4-83E03A83597A}"/>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spTree>
    <p:extLst>
      <p:ext uri="{BB962C8B-B14F-4D97-AF65-F5344CB8AC3E}">
        <p14:creationId xmlns:p14="http://schemas.microsoft.com/office/powerpoint/2010/main" val="17046002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le and Content (Basic)">
    <p:spTree>
      <p:nvGrpSpPr>
        <p:cNvPr id="1" name=""/>
        <p:cNvGrpSpPr/>
        <p:nvPr/>
      </p:nvGrpSpPr>
      <p:grpSpPr>
        <a:xfrm>
          <a:off x="0" y="0"/>
          <a:ext cx="0" cy="0"/>
          <a:chOff x="0" y="0"/>
          <a:chExt cx="0" cy="0"/>
        </a:xfrm>
      </p:grpSpPr>
      <p:pic>
        <p:nvPicPr>
          <p:cNvPr id="7"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0" y="181118"/>
            <a:ext cx="9144000" cy="74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7">
            <a:extLst>
              <a:ext uri="{FF2B5EF4-FFF2-40B4-BE49-F238E27FC236}">
                <a16:creationId xmlns:a16="http://schemas.microsoft.com/office/drawing/2014/main" id="{D2801B1C-9809-610B-AA7D-31E7A94951B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t="12494" b="12494"/>
          <a:stretch/>
        </p:blipFill>
        <p:spPr bwMode="auto">
          <a:xfrm>
            <a:off x="0" y="181118"/>
            <a:ext cx="9142554" cy="74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p:cNvSpPr>
            <a:spLocks noGrp="1"/>
          </p:cNvSpPr>
          <p:nvPr>
            <p:ph type="title"/>
          </p:nvPr>
        </p:nvSpPr>
        <p:spPr>
          <a:xfrm>
            <a:off x="0" y="181118"/>
            <a:ext cx="8686800" cy="733283"/>
          </a:xfrm>
          <a:prstGeom prst="rect">
            <a:avLst/>
          </a:prstGeom>
        </p:spPr>
        <p:txBody>
          <a:bodyPr anchor="ctr" anchorCtr="0"/>
          <a:lstStyle>
            <a:lvl1pPr algn="l">
              <a:defRPr sz="2400" b="1">
                <a:solidFill>
                  <a:schemeClr val="bg1"/>
                </a:solidFill>
              </a:defRPr>
            </a:lvl1pPr>
          </a:lstStyle>
          <a:p>
            <a:r>
              <a:rPr lang="en-US"/>
              <a:t>Click to edit Master title style</a:t>
            </a:r>
          </a:p>
        </p:txBody>
      </p:sp>
      <p:cxnSp>
        <p:nvCxnSpPr>
          <p:cNvPr id="6" name="Straight Connector 5">
            <a:extLst>
              <a:ext uri="{FF2B5EF4-FFF2-40B4-BE49-F238E27FC236}">
                <a16:creationId xmlns:a16="http://schemas.microsoft.com/office/drawing/2014/main" id="{39FEC237-CB0B-488E-A7AB-97171D6FD705}"/>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1" name="Picture 6" descr="Small_Logo.jpg">
            <a:extLst>
              <a:ext uri="{FF2B5EF4-FFF2-40B4-BE49-F238E27FC236}">
                <a16:creationId xmlns:a16="http://schemas.microsoft.com/office/drawing/2014/main" id="{2077E9CE-CBA6-4E31-9F59-8A436D085F0C}"/>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
            <a:extLst>
              <a:ext uri="{FF2B5EF4-FFF2-40B4-BE49-F238E27FC236}">
                <a16:creationId xmlns:a16="http://schemas.microsoft.com/office/drawing/2014/main" id="{52FF047F-E78C-4EDB-86A4-09856BC96282}"/>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2" name="Footer Placeholder 5">
            <a:extLst>
              <a:ext uri="{FF2B5EF4-FFF2-40B4-BE49-F238E27FC236}">
                <a16:creationId xmlns:a16="http://schemas.microsoft.com/office/drawing/2014/main" id="{0B9900F5-C527-DC66-F790-50C5103EB892}"/>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spTree>
    <p:extLst>
      <p:ext uri="{BB962C8B-B14F-4D97-AF65-F5344CB8AC3E}">
        <p14:creationId xmlns:p14="http://schemas.microsoft.com/office/powerpoint/2010/main" val="37977358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_Break_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9126D-B89C-4901-8702-196DF0289838}"/>
              </a:ext>
            </a:extLst>
          </p:cNvPr>
          <p:cNvSpPr>
            <a:spLocks noGrp="1"/>
          </p:cNvSpPr>
          <p:nvPr>
            <p:ph type="title"/>
          </p:nvPr>
        </p:nvSpPr>
        <p:spPr>
          <a:xfrm>
            <a:off x="1031876" y="1353146"/>
            <a:ext cx="7080250" cy="2437209"/>
          </a:xfrm>
          <a:prstGeom prst="rect">
            <a:avLst/>
          </a:prstGeom>
        </p:spPr>
        <p:txBody>
          <a:bodyPr anchor="ctr">
            <a:normAutofit/>
          </a:bodyPr>
          <a:lstStyle>
            <a:lvl1pPr>
              <a:defRPr b="1">
                <a:solidFill>
                  <a:srgbClr val="177BAD"/>
                </a:solidFill>
              </a:defRPr>
            </a:lvl1pPr>
          </a:lstStyle>
          <a:p>
            <a:r>
              <a:rPr lang="en-US"/>
              <a:t>Click to edit Master title style</a:t>
            </a:r>
          </a:p>
        </p:txBody>
      </p:sp>
      <p:cxnSp>
        <p:nvCxnSpPr>
          <p:cNvPr id="3" name="Straight Connector 2">
            <a:extLst>
              <a:ext uri="{FF2B5EF4-FFF2-40B4-BE49-F238E27FC236}">
                <a16:creationId xmlns:a16="http://schemas.microsoft.com/office/drawing/2014/main" id="{E3FF3F38-5144-4D23-BA9D-391E8F583089}"/>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5" name="Picture 6" descr="Small_Logo.jpg">
            <a:extLst>
              <a:ext uri="{FF2B5EF4-FFF2-40B4-BE49-F238E27FC236}">
                <a16:creationId xmlns:a16="http://schemas.microsoft.com/office/drawing/2014/main" id="{88206D68-FD36-4C6E-8D2F-F63EC13DCAF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1">
            <a:extLst>
              <a:ext uri="{FF2B5EF4-FFF2-40B4-BE49-F238E27FC236}">
                <a16:creationId xmlns:a16="http://schemas.microsoft.com/office/drawing/2014/main" id="{9BFFD0CF-E15B-4B36-BAC8-9CB61DC4A33A}"/>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4" name="Footer Placeholder 5">
            <a:extLst>
              <a:ext uri="{FF2B5EF4-FFF2-40B4-BE49-F238E27FC236}">
                <a16:creationId xmlns:a16="http://schemas.microsoft.com/office/drawing/2014/main" id="{7F84FAF9-3950-CFF4-B7FA-B1F8734E594B}"/>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spTree>
    <p:extLst>
      <p:ext uri="{BB962C8B-B14F-4D97-AF65-F5344CB8AC3E}">
        <p14:creationId xmlns:p14="http://schemas.microsoft.com/office/powerpoint/2010/main" val="30848623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ection_Break_Titl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F630E832-831E-6E9C-6205-B4567DED7E8D}"/>
              </a:ext>
            </a:extLst>
          </p:cNvPr>
          <p:cNvSpPr>
            <a:spLocks noGrp="1"/>
          </p:cNvSpPr>
          <p:nvPr>
            <p:ph type="pic" sz="quarter" idx="12"/>
          </p:nvPr>
        </p:nvSpPr>
        <p:spPr>
          <a:xfrm>
            <a:off x="0" y="0"/>
            <a:ext cx="9144000" cy="5143500"/>
          </a:xfrm>
          <a:prstGeom prst="rect">
            <a:avLst/>
          </a:prstGeom>
          <a:ln>
            <a:noFill/>
          </a:ln>
        </p:spPr>
        <p:txBody>
          <a:bodyPr/>
          <a:lstStyle/>
          <a:p>
            <a:r>
              <a:rPr lang="en-US"/>
              <a:t>Click icon to add picture</a:t>
            </a:r>
          </a:p>
        </p:txBody>
      </p:sp>
      <p:sp>
        <p:nvSpPr>
          <p:cNvPr id="10" name="TextBox 1">
            <a:extLst>
              <a:ext uri="{FF2B5EF4-FFF2-40B4-BE49-F238E27FC236}">
                <a16:creationId xmlns:a16="http://schemas.microsoft.com/office/drawing/2014/main" id="{49FF6C51-E437-B47A-2335-719F462A0578}"/>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chemeClr val="tx1"/>
                </a:solidFill>
              </a:rPr>
              <a:pPr algn="r" defTabSz="342900" eaLnBrk="1" fontAlgn="base" hangingPunct="1">
                <a:spcBef>
                  <a:spcPct val="0"/>
                </a:spcBef>
                <a:spcAft>
                  <a:spcPct val="0"/>
                </a:spcAft>
                <a:defRPr/>
              </a:pPr>
              <a:t>‹#›</a:t>
            </a:fld>
            <a:endParaRPr lang="en-US" sz="800">
              <a:solidFill>
                <a:schemeClr val="tx1"/>
              </a:solidFill>
            </a:endParaRPr>
          </a:p>
        </p:txBody>
      </p:sp>
      <p:pic>
        <p:nvPicPr>
          <p:cNvPr id="9" name="Picture 6" descr="Small_Logo.jpg">
            <a:extLst>
              <a:ext uri="{FF2B5EF4-FFF2-40B4-BE49-F238E27FC236}">
                <a16:creationId xmlns:a16="http://schemas.microsoft.com/office/drawing/2014/main" id="{BCDBCC27-BBF9-A6B2-E618-D7A7EC3BA0D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1" name="Footer Placeholder 5">
            <a:extLst>
              <a:ext uri="{FF2B5EF4-FFF2-40B4-BE49-F238E27FC236}">
                <a16:creationId xmlns:a16="http://schemas.microsoft.com/office/drawing/2014/main" id="{4F8BE729-2644-B78E-13AA-8BEE8D0106B9}"/>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chemeClr val="tx1"/>
                </a:solidFill>
              </a:defRPr>
            </a:lvl1pPr>
          </a:lstStyle>
          <a:p>
            <a:endParaRPr lang="en-US"/>
          </a:p>
        </p:txBody>
      </p:sp>
      <p:cxnSp>
        <p:nvCxnSpPr>
          <p:cNvPr id="8" name="Straight Connector 7">
            <a:extLst>
              <a:ext uri="{FF2B5EF4-FFF2-40B4-BE49-F238E27FC236}">
                <a16:creationId xmlns:a16="http://schemas.microsoft.com/office/drawing/2014/main" id="{8993C02D-83AC-7C7D-19BD-1A1F6E1139F5}"/>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4639126D-B89C-4901-8702-196DF0289838}"/>
              </a:ext>
            </a:extLst>
          </p:cNvPr>
          <p:cNvSpPr>
            <a:spLocks noGrp="1"/>
          </p:cNvSpPr>
          <p:nvPr>
            <p:ph type="title"/>
          </p:nvPr>
        </p:nvSpPr>
        <p:spPr>
          <a:xfrm>
            <a:off x="1031876" y="1353146"/>
            <a:ext cx="7080250" cy="2437209"/>
          </a:xfrm>
          <a:prstGeom prst="rect">
            <a:avLst/>
          </a:prstGeom>
          <a:solidFill>
            <a:srgbClr val="177BAD"/>
          </a:solidFill>
        </p:spPr>
        <p:txBody>
          <a:bodyPr lIns="457200" tIns="365760" rIns="457200" bIns="365760" anchor="ctr">
            <a:normAutofit/>
          </a:bodyPr>
          <a:lstStyle>
            <a:lvl1pPr>
              <a:defRPr b="1">
                <a:solidFill>
                  <a:schemeClr val="bg1"/>
                </a:solidFill>
              </a:defRPr>
            </a:lvl1pPr>
          </a:lstStyle>
          <a:p>
            <a:r>
              <a:rPr lang="en-US"/>
              <a:t>Click to edit Master title style</a:t>
            </a:r>
          </a:p>
        </p:txBody>
      </p:sp>
    </p:spTree>
    <p:extLst>
      <p:ext uri="{BB962C8B-B14F-4D97-AF65-F5344CB8AC3E}">
        <p14:creationId xmlns:p14="http://schemas.microsoft.com/office/powerpoint/2010/main" val="20995336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5_Title and Content (Basic)">
    <p:spTree>
      <p:nvGrpSpPr>
        <p:cNvPr id="1" name=""/>
        <p:cNvGrpSpPr/>
        <p:nvPr/>
      </p:nvGrpSpPr>
      <p:grpSpPr>
        <a:xfrm>
          <a:off x="0" y="0"/>
          <a:ext cx="0" cy="0"/>
          <a:chOff x="0" y="0"/>
          <a:chExt cx="0" cy="0"/>
        </a:xfrm>
      </p:grpSpPr>
      <p:pic>
        <p:nvPicPr>
          <p:cNvPr id="2" name="TitleAndEndImages">
            <a:extLst>
              <a:ext uri="{FF2B5EF4-FFF2-40B4-BE49-F238E27FC236}">
                <a16:creationId xmlns:a16="http://schemas.microsoft.com/office/drawing/2014/main" id="{E1E4ADFB-53EA-18BA-BF4C-9CDA63329A41}"/>
              </a:ext>
            </a:extLst>
          </p:cNvPr>
          <p:cNvPicPr>
            <a:picLocks noChangeAspect="1"/>
          </p:cNvPicPr>
          <p:nvPr userDrawn="1">
            <p:custDataLst>
              <p:tags r:id="rId1"/>
            </p:custDataLst>
          </p:nvPr>
        </p:nvPicPr>
        <p:blipFill>
          <a:blip r:embed="rId3">
            <a:extLst>
              <a:ext uri="{28A0092B-C50C-407E-A947-70E740481C1C}">
                <a14:useLocalDpi xmlns:a14="http://schemas.microsoft.com/office/drawing/2010/main" val="0"/>
              </a:ext>
            </a:extLst>
          </a:blip>
          <a:srcRect l="23051" t="5965" r="-5" b="5965"/>
          <a:stretch/>
        </p:blipFill>
        <p:spPr>
          <a:xfrm>
            <a:off x="0" y="0"/>
            <a:ext cx="9182100" cy="5143500"/>
          </a:xfrm>
          <a:prstGeom prst="rect">
            <a:avLst/>
          </a:prstGeom>
        </p:spPr>
      </p:pic>
      <p:sp>
        <p:nvSpPr>
          <p:cNvPr id="5" name="Title 4"/>
          <p:cNvSpPr>
            <a:spLocks noGrp="1"/>
          </p:cNvSpPr>
          <p:nvPr>
            <p:ph type="title"/>
          </p:nvPr>
        </p:nvSpPr>
        <p:spPr>
          <a:xfrm>
            <a:off x="1411125" y="1025203"/>
            <a:ext cx="6321751" cy="3093094"/>
          </a:xfrm>
          <a:prstGeom prst="rect">
            <a:avLst/>
          </a:prstGeom>
          <a:solidFill>
            <a:schemeClr val="bg1"/>
          </a:solidFill>
          <a:ln w="152400">
            <a:solidFill>
              <a:srgbClr val="177BAD"/>
            </a:solidFill>
          </a:ln>
        </p:spPr>
        <p:txBody>
          <a:bodyPr anchor="ctr" anchorCtr="0">
            <a:normAutofit/>
          </a:bodyPr>
          <a:lstStyle>
            <a:lvl1pPr algn="ctr">
              <a:spcBef>
                <a:spcPts val="600"/>
              </a:spcBef>
              <a:spcAft>
                <a:spcPts val="600"/>
              </a:spcAft>
              <a:defRPr sz="3000" b="1">
                <a:solidFill>
                  <a:srgbClr val="177BAD"/>
                </a:solidFill>
              </a:defRPr>
            </a:lvl1pPr>
          </a:lstStyle>
          <a:p>
            <a:r>
              <a:rPr lang="en-US"/>
              <a:t>Click to edit Master title style</a:t>
            </a:r>
          </a:p>
        </p:txBody>
      </p:sp>
      <p:cxnSp>
        <p:nvCxnSpPr>
          <p:cNvPr id="12" name="Straight Connector 11">
            <a:extLst>
              <a:ext uri="{FF2B5EF4-FFF2-40B4-BE49-F238E27FC236}">
                <a16:creationId xmlns:a16="http://schemas.microsoft.com/office/drawing/2014/main" id="{86A65268-301D-4F22-BB31-6EB07C4DB8FA}"/>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3" name="TextBox 1">
            <a:extLst>
              <a:ext uri="{FF2B5EF4-FFF2-40B4-BE49-F238E27FC236}">
                <a16:creationId xmlns:a16="http://schemas.microsoft.com/office/drawing/2014/main" id="{9C9117B8-9CD3-4D77-86D8-180618EA2D6D}"/>
              </a:ext>
            </a:extLst>
          </p:cNvPr>
          <p:cNvSpPr txBox="1">
            <a:spLocks noChangeArrowheads="1"/>
          </p:cNvSpPr>
          <p:nvPr userDrawn="1"/>
        </p:nvSpPr>
        <p:spPr bwMode="auto">
          <a:xfrm>
            <a:off x="8305799" y="4719537"/>
            <a:ext cx="406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750" smtClean="0">
                <a:solidFill>
                  <a:schemeClr val="bg1"/>
                </a:solidFill>
              </a:rPr>
              <a:pPr algn="r" defTabSz="342900" eaLnBrk="1" fontAlgn="base" hangingPunct="1">
                <a:spcBef>
                  <a:spcPct val="0"/>
                </a:spcBef>
                <a:spcAft>
                  <a:spcPct val="0"/>
                </a:spcAft>
                <a:defRPr/>
              </a:pPr>
              <a:t>‹#›</a:t>
            </a:fld>
            <a:endParaRPr lang="en-US" sz="600">
              <a:solidFill>
                <a:schemeClr val="bg1"/>
              </a:solidFill>
            </a:endParaRPr>
          </a:p>
        </p:txBody>
      </p:sp>
    </p:spTree>
    <p:extLst>
      <p:ext uri="{BB962C8B-B14F-4D97-AF65-F5344CB8AC3E}">
        <p14:creationId xmlns:p14="http://schemas.microsoft.com/office/powerpoint/2010/main" val="12188598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ndingCard_OptionA">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81F89DF-CF18-4A9C-9CB4-89ED5F110B2E}"/>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2" name="Picture 6" descr="Small_Logo.jpg">
            <a:extLst>
              <a:ext uri="{FF2B5EF4-FFF2-40B4-BE49-F238E27FC236}">
                <a16:creationId xmlns:a16="http://schemas.microsoft.com/office/drawing/2014/main" id="{53184C88-F0BC-45EC-AF7D-7702865C39A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
            <a:extLst>
              <a:ext uri="{FF2B5EF4-FFF2-40B4-BE49-F238E27FC236}">
                <a16:creationId xmlns:a16="http://schemas.microsoft.com/office/drawing/2014/main" id="{B14D30BB-3AD7-4808-86E2-EF7322A3C8B7}"/>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2" name="Footer Placeholder 5">
            <a:extLst>
              <a:ext uri="{FF2B5EF4-FFF2-40B4-BE49-F238E27FC236}">
                <a16:creationId xmlns:a16="http://schemas.microsoft.com/office/drawing/2014/main" id="{5573EE97-A85E-256F-8B30-0C1036E1DD58}"/>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pic>
        <p:nvPicPr>
          <p:cNvPr id="3" name="Picture 2" descr="Abstract image of connected person icons around a globe in shades of blues">
            <a:extLst>
              <a:ext uri="{FF2B5EF4-FFF2-40B4-BE49-F238E27FC236}">
                <a16:creationId xmlns:a16="http://schemas.microsoft.com/office/drawing/2014/main" id="{700DCA39-4590-CA3B-3651-F7FBD5F682BF}"/>
              </a:ext>
            </a:extLst>
          </p:cNvPr>
          <p:cNvPicPr>
            <a:picLocks noChangeAspect="1"/>
          </p:cNvPicPr>
          <p:nvPr userDrawn="1"/>
        </p:nvPicPr>
        <p:blipFill>
          <a:blip r:embed="rId3">
            <a:extLst>
              <a:ext uri="{28A0092B-C50C-407E-A947-70E740481C1C}">
                <a14:useLocalDpi xmlns:a14="http://schemas.microsoft.com/office/drawing/2010/main" val="0"/>
              </a:ext>
            </a:extLst>
          </a:blip>
          <a:srcRect l="3379" r="-139"/>
          <a:stretch/>
        </p:blipFill>
        <p:spPr>
          <a:xfrm>
            <a:off x="245806" y="403123"/>
            <a:ext cx="8662219" cy="4257367"/>
          </a:xfrm>
          <a:prstGeom prst="rect">
            <a:avLst/>
          </a:prstGeom>
        </p:spPr>
      </p:pic>
      <p:pic>
        <p:nvPicPr>
          <p:cNvPr id="4" name="Picture 7">
            <a:extLst>
              <a:ext uri="{FF2B5EF4-FFF2-40B4-BE49-F238E27FC236}">
                <a16:creationId xmlns:a16="http://schemas.microsoft.com/office/drawing/2014/main" id="{F55D2665-915F-67C2-3FF4-D4B0044EDCF9}"/>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t="27822" b="27822"/>
          <a:stretch/>
        </p:blipFill>
        <p:spPr bwMode="auto">
          <a:xfrm rot="5400000">
            <a:off x="-2446424" y="2446425"/>
            <a:ext cx="5142231" cy="24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a:extLst>
              <a:ext uri="{FF2B5EF4-FFF2-40B4-BE49-F238E27FC236}">
                <a16:creationId xmlns:a16="http://schemas.microsoft.com/office/drawing/2014/main" id="{56C59063-D481-F38D-058A-1BDBC69796C0}"/>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t="27822" b="27822"/>
          <a:stretch/>
        </p:blipFill>
        <p:spPr bwMode="auto">
          <a:xfrm rot="16200000">
            <a:off x="6448195" y="2446425"/>
            <a:ext cx="5142231" cy="24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50960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90D44-2957-FFD7-8DD5-4CB57B958975}"/>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0024751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Card_OptionB-brighterbluebinar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6F9D053-3928-4960-8F1E-225A6A377CD5}"/>
              </a:ext>
            </a:extLst>
          </p:cNvPr>
          <p:cNvSpPr/>
          <p:nvPr userDrawn="1"/>
        </p:nvSpPr>
        <p:spPr>
          <a:xfrm>
            <a:off x="0" y="3959388"/>
            <a:ext cx="9144000" cy="1184113"/>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a:solidFill>
                <a:schemeClr val="bg1"/>
              </a:solidFill>
              <a:latin typeface="+mn-lt"/>
              <a:sym typeface="Trebuchet MS" panose="020B0603020202020204" pitchFamily="34" charset="0"/>
            </a:endParaRPr>
          </a:p>
        </p:txBody>
      </p:sp>
      <p:pic>
        <p:nvPicPr>
          <p:cNvPr id="4" name="Picture 3">
            <a:extLst>
              <a:ext uri="{FF2B5EF4-FFF2-40B4-BE49-F238E27FC236}">
                <a16:creationId xmlns:a16="http://schemas.microsoft.com/office/drawing/2014/main" id="{1A42BDEC-EB38-4ED5-9015-3DC546A29F6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731" t="8741" r="102" b="27"/>
          <a:stretch/>
        </p:blipFill>
        <p:spPr>
          <a:xfrm rot="16200000" flipH="1">
            <a:off x="6353941" y="1479954"/>
            <a:ext cx="435430" cy="5143500"/>
          </a:xfrm>
          <a:prstGeom prst="rect">
            <a:avLst/>
          </a:prstGeom>
        </p:spPr>
      </p:pic>
      <p:pic>
        <p:nvPicPr>
          <p:cNvPr id="5" name="TitleAndEndImages" descr="Blue digital binary data on a screen">
            <a:extLst>
              <a:ext uri="{FF2B5EF4-FFF2-40B4-BE49-F238E27FC236}">
                <a16:creationId xmlns:a16="http://schemas.microsoft.com/office/drawing/2014/main" id="{13A3877F-EB69-4B07-853A-F02E48412B3D}"/>
              </a:ext>
            </a:extLst>
          </p:cNvPr>
          <p:cNvPicPr>
            <a:picLocks noChangeAspect="1"/>
          </p:cNvPicPr>
          <p:nvPr userDrawn="1">
            <p:custDataLst>
              <p:tags r:id="rId1"/>
            </p:custDataLst>
          </p:nvPr>
        </p:nvPicPr>
        <p:blipFill>
          <a:blip r:embed="rId4"/>
          <a:srcRect t="11528" b="11528"/>
          <a:stretch/>
        </p:blipFill>
        <p:spPr>
          <a:xfrm>
            <a:off x="0" y="0"/>
            <a:ext cx="9144000" cy="3957638"/>
          </a:xfrm>
          <a:prstGeom prst="rect">
            <a:avLst/>
          </a:prstGeom>
          <a:solidFill>
            <a:srgbClr val="050D3C"/>
          </a:solidFill>
        </p:spPr>
      </p:pic>
      <p:sp>
        <p:nvSpPr>
          <p:cNvPr id="6" name="Picture Placeholder 8">
            <a:extLst>
              <a:ext uri="{FF2B5EF4-FFF2-40B4-BE49-F238E27FC236}">
                <a16:creationId xmlns:a16="http://schemas.microsoft.com/office/drawing/2014/main" id="{B4BEA21F-8373-433C-B00F-BF428EE51533}"/>
              </a:ext>
            </a:extLst>
          </p:cNvPr>
          <p:cNvSpPr>
            <a:spLocks noGrp="1"/>
          </p:cNvSpPr>
          <p:nvPr>
            <p:ph type="pic" sz="quarter" idx="13" hasCustomPrompt="1"/>
          </p:nvPr>
        </p:nvSpPr>
        <p:spPr>
          <a:xfrm>
            <a:off x="7042277" y="4192047"/>
            <a:ext cx="1400951" cy="672625"/>
          </a:xfrm>
          <a:prstGeom prst="rect">
            <a:avLst/>
          </a:prstGeom>
        </p:spPr>
        <p:txBody>
          <a:bodyPr anchor="b"/>
          <a:lstStyle>
            <a:lvl1pPr algn="ctr">
              <a:defRPr sz="1200">
                <a:solidFill>
                  <a:schemeClr val="bg1"/>
                </a:solidFill>
                <a:latin typeface="Trebuchet MS" panose="020B0603020202020204" pitchFamily="34" charset="0"/>
                <a:sym typeface="Trebuchet MS" panose="020B0603020202020204" pitchFamily="34" charset="0"/>
              </a:defRPr>
            </a:lvl1pPr>
          </a:lstStyle>
          <a:p>
            <a:r>
              <a:rPr lang="en-US"/>
              <a:t>Logo</a:t>
            </a:r>
          </a:p>
        </p:txBody>
      </p:sp>
      <p:sp>
        <p:nvSpPr>
          <p:cNvPr id="7" name="Rectangle 6">
            <a:extLst>
              <a:ext uri="{FF2B5EF4-FFF2-40B4-BE49-F238E27FC236}">
                <a16:creationId xmlns:a16="http://schemas.microsoft.com/office/drawing/2014/main" id="{B24F07D2-0615-40EC-96BC-256CE7A0604F}"/>
              </a:ext>
            </a:extLst>
          </p:cNvPr>
          <p:cNvSpPr/>
          <p:nvPr userDrawn="1"/>
        </p:nvSpPr>
        <p:spPr bwMode="black">
          <a:xfrm>
            <a:off x="473202" y="469650"/>
            <a:ext cx="6093900" cy="4147200"/>
          </a:xfrm>
          <a:prstGeom prst="rect">
            <a:avLst/>
          </a:prstGeom>
          <a:solidFill>
            <a:srgbClr val="177BAD">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1500">
              <a:solidFill>
                <a:schemeClr val="bg1"/>
              </a:solidFill>
              <a:latin typeface="+mn-lt"/>
              <a:sym typeface="Trebuchet MS" panose="020B0603020202020204" pitchFamily="34" charset="0"/>
            </a:endParaRPr>
          </a:p>
        </p:txBody>
      </p:sp>
      <p:sp>
        <p:nvSpPr>
          <p:cNvPr id="8" name="Text Placeholder 6">
            <a:extLst>
              <a:ext uri="{FF2B5EF4-FFF2-40B4-BE49-F238E27FC236}">
                <a16:creationId xmlns:a16="http://schemas.microsoft.com/office/drawing/2014/main" id="{CAFE7881-383E-417F-8E74-886558318EB9}"/>
              </a:ext>
            </a:extLst>
          </p:cNvPr>
          <p:cNvSpPr>
            <a:spLocks noGrp="1"/>
          </p:cNvSpPr>
          <p:nvPr>
            <p:ph type="body" sz="quarter" idx="12" hasCustomPrompt="1"/>
          </p:nvPr>
        </p:nvSpPr>
        <p:spPr bwMode="black">
          <a:xfrm>
            <a:off x="838061" y="4655882"/>
            <a:ext cx="5151600" cy="245361"/>
          </a:xfrm>
          <a:prstGeom prst="rect">
            <a:avLst/>
          </a:prstGeom>
          <a:noFill/>
        </p:spPr>
        <p:txBody>
          <a:bodyPr anchor="ctr"/>
          <a:lstStyle>
            <a:lvl1pPr algn="l">
              <a:lnSpc>
                <a:spcPct val="110000"/>
              </a:lnSpc>
              <a:buNone/>
              <a:defRPr sz="900" b="1" cap="all" baseline="0">
                <a:solidFill>
                  <a:schemeClr val="tx1">
                    <a:lumMod val="75000"/>
                    <a:lumOff val="25000"/>
                  </a:schemeClr>
                </a:solidFill>
                <a:latin typeface="+mn-lt"/>
                <a:sym typeface="Trebuchet MS" panose="020B0603020202020204" pitchFamily="34" charset="0"/>
              </a:defRPr>
            </a:lvl1pPr>
            <a:lvl2pPr algn="ctr">
              <a:buNone/>
              <a:defRPr/>
            </a:lvl2pPr>
            <a:lvl3pPr marL="0" indent="0" algn="ctr">
              <a:buNone/>
              <a:defRPr/>
            </a:lvl3pPr>
            <a:lvl4pPr marL="171450" indent="0" algn="ctr">
              <a:buNone/>
              <a:defRPr/>
            </a:lvl4pPr>
            <a:lvl5pPr marL="342900" indent="0" algn="ctr">
              <a:buNone/>
              <a:defRPr/>
            </a:lvl5pPr>
          </a:lstStyle>
          <a:p>
            <a:pPr lvl="0"/>
            <a:r>
              <a:rPr lang="en-US"/>
              <a:t>Click to edit date/place</a:t>
            </a:r>
          </a:p>
        </p:txBody>
      </p:sp>
      <p:sp>
        <p:nvSpPr>
          <p:cNvPr id="9" name="Subtitle 2">
            <a:extLst>
              <a:ext uri="{FF2B5EF4-FFF2-40B4-BE49-F238E27FC236}">
                <a16:creationId xmlns:a16="http://schemas.microsoft.com/office/drawing/2014/main" id="{032E0489-0435-4054-81DA-4069AFD7B294}"/>
              </a:ext>
            </a:extLst>
          </p:cNvPr>
          <p:cNvSpPr>
            <a:spLocks noGrp="1"/>
          </p:cNvSpPr>
          <p:nvPr>
            <p:ph type="subTitle" idx="1" hasCustomPrompt="1"/>
          </p:nvPr>
        </p:nvSpPr>
        <p:spPr bwMode="white">
          <a:xfrm>
            <a:off x="838061" y="4121780"/>
            <a:ext cx="5151600" cy="327146"/>
          </a:xfrm>
          <a:prstGeom prst="rect">
            <a:avLst/>
          </a:prstGeom>
        </p:spPr>
        <p:txBody>
          <a:bodyPr anchor="ctr"/>
          <a:lstStyle>
            <a:lvl1pPr marL="0" indent="0" algn="l">
              <a:lnSpc>
                <a:spcPct val="110000"/>
              </a:lnSpc>
              <a:buNone/>
              <a:defRPr sz="1200" b="1" baseline="0">
                <a:solidFill>
                  <a:schemeClr val="bg1"/>
                </a:solidFill>
                <a:latin typeface="+mn-lt"/>
                <a:sym typeface="Trebuchet MS" panose="020B0603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in sentence case</a:t>
            </a:r>
          </a:p>
        </p:txBody>
      </p:sp>
      <p:sp>
        <p:nvSpPr>
          <p:cNvPr id="10" name="Title 1">
            <a:extLst>
              <a:ext uri="{FF2B5EF4-FFF2-40B4-BE49-F238E27FC236}">
                <a16:creationId xmlns:a16="http://schemas.microsoft.com/office/drawing/2014/main" id="{9EF9C0ED-15A4-48C6-BFF6-E05060EA8C8D}"/>
              </a:ext>
            </a:extLst>
          </p:cNvPr>
          <p:cNvSpPr>
            <a:spLocks noGrp="1"/>
          </p:cNvSpPr>
          <p:nvPr>
            <p:ph type="ctrTitle" hasCustomPrompt="1"/>
          </p:nvPr>
        </p:nvSpPr>
        <p:spPr bwMode="ltGray">
          <a:xfrm>
            <a:off x="838061" y="1414682"/>
            <a:ext cx="5151600" cy="2353817"/>
          </a:xfrm>
          <a:prstGeom prst="rect">
            <a:avLst/>
          </a:prstGeom>
        </p:spPr>
        <p:txBody>
          <a:bodyPr anchor="b">
            <a:normAutofit/>
          </a:bodyPr>
          <a:lstStyle>
            <a:lvl1pPr algn="l">
              <a:lnSpc>
                <a:spcPct val="93000"/>
              </a:lnSpc>
              <a:defRPr sz="4050" b="1" baseline="0">
                <a:solidFill>
                  <a:schemeClr val="bg1"/>
                </a:solidFill>
                <a:latin typeface="+mj-lt"/>
                <a:sym typeface="Trebuchet MS" panose="020B0603020202020204" pitchFamily="34" charset="0"/>
              </a:defRPr>
            </a:lvl1pPr>
          </a:lstStyle>
          <a:p>
            <a:r>
              <a:rPr lang="en-US"/>
              <a:t>Title in Title Case</a:t>
            </a:r>
          </a:p>
        </p:txBody>
      </p:sp>
      <p:pic>
        <p:nvPicPr>
          <p:cNvPr id="16" name="Picture 15" descr="Summit Consulting, LLC logo">
            <a:extLst>
              <a:ext uri="{FF2B5EF4-FFF2-40B4-BE49-F238E27FC236}">
                <a16:creationId xmlns:a16="http://schemas.microsoft.com/office/drawing/2014/main" id="{766A3110-2610-430D-A16D-5BD6F94FFF1A}"/>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6939290" y="4364127"/>
            <a:ext cx="1831928" cy="357565"/>
          </a:xfrm>
          <a:prstGeom prst="rect">
            <a:avLst/>
          </a:prstGeom>
        </p:spPr>
      </p:pic>
    </p:spTree>
    <p:extLst>
      <p:ext uri="{BB962C8B-B14F-4D97-AF65-F5344CB8AC3E}">
        <p14:creationId xmlns:p14="http://schemas.microsoft.com/office/powerpoint/2010/main" val="40897573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Basic) - brighterbluebinary">
    <p:spTree>
      <p:nvGrpSpPr>
        <p:cNvPr id="1" name=""/>
        <p:cNvGrpSpPr/>
        <p:nvPr/>
      </p:nvGrpSpPr>
      <p:grpSpPr>
        <a:xfrm>
          <a:off x="0" y="0"/>
          <a:ext cx="0" cy="0"/>
          <a:chOff x="0" y="0"/>
          <a:chExt cx="0" cy="0"/>
        </a:xfrm>
      </p:grpSpPr>
      <p:pic>
        <p:nvPicPr>
          <p:cNvPr id="9" name="TitleAndEndImages">
            <a:extLst>
              <a:ext uri="{FF2B5EF4-FFF2-40B4-BE49-F238E27FC236}">
                <a16:creationId xmlns:a16="http://schemas.microsoft.com/office/drawing/2014/main" id="{729389E9-99FB-8CEA-C14F-58671D1E79AF}"/>
              </a:ext>
              <a:ext uri="{C183D7F6-B498-43B3-948B-1728B52AA6E4}">
                <adec:decorative xmlns:adec="http://schemas.microsoft.com/office/drawing/2017/decorative" val="1"/>
              </a:ext>
            </a:extLst>
          </p:cNvPr>
          <p:cNvPicPr>
            <a:picLocks noChangeAspect="1"/>
          </p:cNvPicPr>
          <p:nvPr userDrawn="1">
            <p:custDataLst>
              <p:tags r:id="rId1"/>
            </p:custDataLst>
          </p:nvPr>
        </p:nvPicPr>
        <p:blipFill>
          <a:blip r:embed="rId3"/>
          <a:srcRect t="18125" b="66233"/>
          <a:stretch/>
        </p:blipFill>
        <p:spPr>
          <a:xfrm>
            <a:off x="0" y="170385"/>
            <a:ext cx="9144000" cy="706672"/>
          </a:xfrm>
          <a:prstGeom prst="rect">
            <a:avLst/>
          </a:prstGeom>
          <a:solidFill>
            <a:srgbClr val="050D3C"/>
          </a:solidFill>
        </p:spPr>
      </p:pic>
      <p:sp>
        <p:nvSpPr>
          <p:cNvPr id="5" name="Title 4"/>
          <p:cNvSpPr>
            <a:spLocks noGrp="1"/>
          </p:cNvSpPr>
          <p:nvPr>
            <p:ph type="title"/>
          </p:nvPr>
        </p:nvSpPr>
        <p:spPr>
          <a:xfrm>
            <a:off x="0" y="157080"/>
            <a:ext cx="8686800" cy="733283"/>
          </a:xfrm>
          <a:prstGeom prst="rect">
            <a:avLst/>
          </a:prstGeom>
        </p:spPr>
        <p:txBody>
          <a:bodyPr anchor="ctr" anchorCtr="0"/>
          <a:lstStyle>
            <a:lvl1pPr algn="l">
              <a:defRPr sz="2400" b="1">
                <a:solidFill>
                  <a:schemeClr val="bg1"/>
                </a:solidFill>
              </a:defRPr>
            </a:lvl1pPr>
          </a:lstStyle>
          <a:p>
            <a:r>
              <a:rPr lang="en-US"/>
              <a:t>Click to edit Master title style</a:t>
            </a:r>
          </a:p>
        </p:txBody>
      </p:sp>
      <p:sp>
        <p:nvSpPr>
          <p:cNvPr id="3" name="Content Placeholder 2"/>
          <p:cNvSpPr>
            <a:spLocks noGrp="1"/>
          </p:cNvSpPr>
          <p:nvPr>
            <p:ph idx="1"/>
          </p:nvPr>
        </p:nvSpPr>
        <p:spPr>
          <a:xfrm>
            <a:off x="457200" y="1028702"/>
            <a:ext cx="8229600" cy="3600449"/>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3CC2F84A-AEF4-494F-9BBE-12FD59686C9A}"/>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4" name="TextBox 1">
            <a:extLst>
              <a:ext uri="{FF2B5EF4-FFF2-40B4-BE49-F238E27FC236}">
                <a16:creationId xmlns:a16="http://schemas.microsoft.com/office/drawing/2014/main" id="{3C93042F-C165-479E-8752-AF85B2556ED1}"/>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pic>
        <p:nvPicPr>
          <p:cNvPr id="15" name="Picture 6" descr="Small_Logo.jpg">
            <a:extLst>
              <a:ext uri="{FF2B5EF4-FFF2-40B4-BE49-F238E27FC236}">
                <a16:creationId xmlns:a16="http://schemas.microsoft.com/office/drawing/2014/main" id="{3BEB4C6B-C7B3-4E39-8451-2791488B934B}"/>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ooter Placeholder 5">
            <a:extLst>
              <a:ext uri="{FF2B5EF4-FFF2-40B4-BE49-F238E27FC236}">
                <a16:creationId xmlns:a16="http://schemas.microsoft.com/office/drawing/2014/main" id="{B87707FB-62BF-A775-BAFC-482ECC2A0507}"/>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spTree>
    <p:extLst>
      <p:ext uri="{BB962C8B-B14F-4D97-AF65-F5344CB8AC3E}">
        <p14:creationId xmlns:p14="http://schemas.microsoft.com/office/powerpoint/2010/main" val="22243764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two horiz) - brighterbluebinary">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2"/>
            <a:ext cx="8229600" cy="1758949"/>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5EE4ECB4-BBED-4692-AC19-34454DFB0001}"/>
              </a:ext>
            </a:extLst>
          </p:cNvPr>
          <p:cNvSpPr>
            <a:spLocks noGrp="1"/>
          </p:cNvSpPr>
          <p:nvPr>
            <p:ph idx="10"/>
          </p:nvPr>
        </p:nvSpPr>
        <p:spPr>
          <a:xfrm>
            <a:off x="457200" y="2825751"/>
            <a:ext cx="8229600" cy="1758949"/>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39A2335B-52F6-43FE-B6D9-0A2DB9AAA52D}"/>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3" name="Picture 6" descr="Small_Logo.jpg">
            <a:extLst>
              <a:ext uri="{FF2B5EF4-FFF2-40B4-BE49-F238E27FC236}">
                <a16:creationId xmlns:a16="http://schemas.microsoft.com/office/drawing/2014/main" id="{203F8808-3569-446D-A3E3-E5A89286E57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
            <a:extLst>
              <a:ext uri="{FF2B5EF4-FFF2-40B4-BE49-F238E27FC236}">
                <a16:creationId xmlns:a16="http://schemas.microsoft.com/office/drawing/2014/main" id="{E41BA28F-6B4F-4994-AC63-2B8AF84BB77F}"/>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2" name="Footer Placeholder 5">
            <a:extLst>
              <a:ext uri="{FF2B5EF4-FFF2-40B4-BE49-F238E27FC236}">
                <a16:creationId xmlns:a16="http://schemas.microsoft.com/office/drawing/2014/main" id="{9610F826-C1DA-1BD7-356F-4A1CEEF18FA1}"/>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pic>
        <p:nvPicPr>
          <p:cNvPr id="10" name="TitleAndEndImages">
            <a:extLst>
              <a:ext uri="{FF2B5EF4-FFF2-40B4-BE49-F238E27FC236}">
                <a16:creationId xmlns:a16="http://schemas.microsoft.com/office/drawing/2014/main" id="{C623B71D-2FD0-48B2-91C4-5AEBE470A682}"/>
              </a:ext>
              <a:ext uri="{C183D7F6-B498-43B3-948B-1728B52AA6E4}">
                <adec:decorative xmlns:adec="http://schemas.microsoft.com/office/drawing/2017/decorative" val="1"/>
              </a:ext>
            </a:extLst>
          </p:cNvPr>
          <p:cNvPicPr>
            <a:picLocks noChangeAspect="1"/>
          </p:cNvPicPr>
          <p:nvPr userDrawn="1">
            <p:custDataLst>
              <p:tags r:id="rId1"/>
            </p:custDataLst>
          </p:nvPr>
        </p:nvPicPr>
        <p:blipFill>
          <a:blip r:embed="rId4"/>
          <a:srcRect t="18125" b="66233"/>
          <a:stretch/>
        </p:blipFill>
        <p:spPr>
          <a:xfrm>
            <a:off x="0" y="170385"/>
            <a:ext cx="9144000" cy="706672"/>
          </a:xfrm>
          <a:prstGeom prst="rect">
            <a:avLst/>
          </a:prstGeom>
          <a:solidFill>
            <a:srgbClr val="050D3C"/>
          </a:solidFill>
        </p:spPr>
      </p:pic>
      <p:sp>
        <p:nvSpPr>
          <p:cNvPr id="12" name="Title 4">
            <a:extLst>
              <a:ext uri="{FF2B5EF4-FFF2-40B4-BE49-F238E27FC236}">
                <a16:creationId xmlns:a16="http://schemas.microsoft.com/office/drawing/2014/main" id="{8C27A6B2-4078-4EB9-43AA-5BB0463D4F83}"/>
              </a:ext>
            </a:extLst>
          </p:cNvPr>
          <p:cNvSpPr>
            <a:spLocks noGrp="1"/>
          </p:cNvSpPr>
          <p:nvPr>
            <p:ph type="title"/>
          </p:nvPr>
        </p:nvSpPr>
        <p:spPr>
          <a:xfrm>
            <a:off x="0" y="157080"/>
            <a:ext cx="8686800" cy="733283"/>
          </a:xfrm>
          <a:prstGeom prst="rect">
            <a:avLst/>
          </a:prstGeom>
        </p:spPr>
        <p:txBody>
          <a:bodyPr anchor="ctr" anchorCtr="0"/>
          <a:lstStyle>
            <a:lvl1pPr algn="l">
              <a:defRPr sz="2400" b="1">
                <a:solidFill>
                  <a:schemeClr val="bg1"/>
                </a:solidFill>
              </a:defRPr>
            </a:lvl1pPr>
          </a:lstStyle>
          <a:p>
            <a:r>
              <a:rPr lang="en-US"/>
              <a:t>Click to edit Master title style</a:t>
            </a:r>
          </a:p>
        </p:txBody>
      </p:sp>
    </p:spTree>
    <p:extLst>
      <p:ext uri="{BB962C8B-B14F-4D97-AF65-F5344CB8AC3E}">
        <p14:creationId xmlns:p14="http://schemas.microsoft.com/office/powerpoint/2010/main" val="10195653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Title and Content (Basic)">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28702"/>
            <a:ext cx="4114800" cy="3600449"/>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EDF672AA-1F63-4416-864C-27CA6782DC82}"/>
              </a:ext>
            </a:extLst>
          </p:cNvPr>
          <p:cNvSpPr>
            <a:spLocks noGrp="1"/>
          </p:cNvSpPr>
          <p:nvPr>
            <p:ph idx="10"/>
          </p:nvPr>
        </p:nvSpPr>
        <p:spPr>
          <a:xfrm>
            <a:off x="4571999" y="1028702"/>
            <a:ext cx="4114800" cy="3600449"/>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E14B644-BC19-4A7D-8525-28D85DBD020A}"/>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1" name="Picture 6" descr="Small_Logo.jpg">
            <a:extLst>
              <a:ext uri="{FF2B5EF4-FFF2-40B4-BE49-F238E27FC236}">
                <a16:creationId xmlns:a16="http://schemas.microsoft.com/office/drawing/2014/main" id="{31881A65-CD52-4E67-BA78-E3C5EF74DE6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
            <a:extLst>
              <a:ext uri="{FF2B5EF4-FFF2-40B4-BE49-F238E27FC236}">
                <a16:creationId xmlns:a16="http://schemas.microsoft.com/office/drawing/2014/main" id="{96FF95E1-7B09-482B-989E-AA4566E5E170}"/>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2" name="Footer Placeholder 5">
            <a:extLst>
              <a:ext uri="{FF2B5EF4-FFF2-40B4-BE49-F238E27FC236}">
                <a16:creationId xmlns:a16="http://schemas.microsoft.com/office/drawing/2014/main" id="{D0F185E0-313C-3D2E-DF60-F2634A56D2D9}"/>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pic>
        <p:nvPicPr>
          <p:cNvPr id="6" name="TitleAndEndImages">
            <a:extLst>
              <a:ext uri="{FF2B5EF4-FFF2-40B4-BE49-F238E27FC236}">
                <a16:creationId xmlns:a16="http://schemas.microsoft.com/office/drawing/2014/main" id="{E233C558-941C-160A-F5DE-A9533B9E23E5}"/>
              </a:ext>
              <a:ext uri="{C183D7F6-B498-43B3-948B-1728B52AA6E4}">
                <adec:decorative xmlns:adec="http://schemas.microsoft.com/office/drawing/2017/decorative" val="1"/>
              </a:ext>
            </a:extLst>
          </p:cNvPr>
          <p:cNvPicPr>
            <a:picLocks noChangeAspect="1"/>
          </p:cNvPicPr>
          <p:nvPr userDrawn="1">
            <p:custDataLst>
              <p:tags r:id="rId1"/>
            </p:custDataLst>
          </p:nvPr>
        </p:nvPicPr>
        <p:blipFill>
          <a:blip r:embed="rId4"/>
          <a:srcRect t="18125" b="66233"/>
          <a:stretch/>
        </p:blipFill>
        <p:spPr>
          <a:xfrm>
            <a:off x="0" y="170385"/>
            <a:ext cx="9144000" cy="706672"/>
          </a:xfrm>
          <a:prstGeom prst="rect">
            <a:avLst/>
          </a:prstGeom>
          <a:solidFill>
            <a:srgbClr val="050D3C"/>
          </a:solidFill>
        </p:spPr>
      </p:pic>
      <p:sp>
        <p:nvSpPr>
          <p:cNvPr id="10" name="Title 4">
            <a:extLst>
              <a:ext uri="{FF2B5EF4-FFF2-40B4-BE49-F238E27FC236}">
                <a16:creationId xmlns:a16="http://schemas.microsoft.com/office/drawing/2014/main" id="{BEE1DA5E-66FC-797C-C6C3-C839FCA8843D}"/>
              </a:ext>
            </a:extLst>
          </p:cNvPr>
          <p:cNvSpPr>
            <a:spLocks noGrp="1"/>
          </p:cNvSpPr>
          <p:nvPr>
            <p:ph type="title"/>
          </p:nvPr>
        </p:nvSpPr>
        <p:spPr>
          <a:xfrm>
            <a:off x="0" y="157080"/>
            <a:ext cx="8686800" cy="733283"/>
          </a:xfrm>
          <a:prstGeom prst="rect">
            <a:avLst/>
          </a:prstGeom>
        </p:spPr>
        <p:txBody>
          <a:bodyPr anchor="ctr" anchorCtr="0"/>
          <a:lstStyle>
            <a:lvl1pPr algn="l">
              <a:defRPr sz="2400" b="1">
                <a:solidFill>
                  <a:schemeClr val="bg1"/>
                </a:solidFill>
              </a:defRPr>
            </a:lvl1pPr>
          </a:lstStyle>
          <a:p>
            <a:r>
              <a:rPr lang="en-US"/>
              <a:t>Click to edit Master title style</a:t>
            </a:r>
          </a:p>
        </p:txBody>
      </p:sp>
    </p:spTree>
    <p:extLst>
      <p:ext uri="{BB962C8B-B14F-4D97-AF65-F5344CB8AC3E}">
        <p14:creationId xmlns:p14="http://schemas.microsoft.com/office/powerpoint/2010/main" val="32954612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Side_Blue_Bars_Empty_Middl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81F89DF-CF18-4A9C-9CB4-89ED5F110B2E}"/>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2" name="Picture 6" descr="Small_Logo.jpg">
            <a:extLst>
              <a:ext uri="{FF2B5EF4-FFF2-40B4-BE49-F238E27FC236}">
                <a16:creationId xmlns:a16="http://schemas.microsoft.com/office/drawing/2014/main" id="{53184C88-F0BC-45EC-AF7D-7702865C39A0}"/>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
            <a:extLst>
              <a:ext uri="{FF2B5EF4-FFF2-40B4-BE49-F238E27FC236}">
                <a16:creationId xmlns:a16="http://schemas.microsoft.com/office/drawing/2014/main" id="{B14D30BB-3AD7-4808-86E2-EF7322A3C8B7}"/>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2" name="Footer Placeholder 5">
            <a:extLst>
              <a:ext uri="{FF2B5EF4-FFF2-40B4-BE49-F238E27FC236}">
                <a16:creationId xmlns:a16="http://schemas.microsoft.com/office/drawing/2014/main" id="{5573EE97-A85E-256F-8B30-0C1036E1DD58}"/>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pic>
        <p:nvPicPr>
          <p:cNvPr id="8" name="TitleAndEndImages">
            <a:extLst>
              <a:ext uri="{FF2B5EF4-FFF2-40B4-BE49-F238E27FC236}">
                <a16:creationId xmlns:a16="http://schemas.microsoft.com/office/drawing/2014/main" id="{85F592C1-7339-4AD8-AA95-14752A04F769}"/>
              </a:ext>
              <a:ext uri="{C183D7F6-B498-43B3-948B-1728B52AA6E4}">
                <adec:decorative xmlns:adec="http://schemas.microsoft.com/office/drawing/2017/decorative" val="1"/>
              </a:ext>
            </a:extLst>
          </p:cNvPr>
          <p:cNvPicPr>
            <a:picLocks noChangeAspect="1"/>
          </p:cNvPicPr>
          <p:nvPr userDrawn="1">
            <p:custDataLst>
              <p:tags r:id="rId1"/>
            </p:custDataLst>
          </p:nvPr>
        </p:nvPicPr>
        <p:blipFill>
          <a:blip r:embed="rId5"/>
          <a:srcRect l="96125" t="517" r="816" b="-88"/>
          <a:stretch/>
        </p:blipFill>
        <p:spPr>
          <a:xfrm>
            <a:off x="-7607" y="-7142"/>
            <a:ext cx="279733" cy="5157783"/>
          </a:xfrm>
          <a:prstGeom prst="rect">
            <a:avLst/>
          </a:prstGeom>
          <a:solidFill>
            <a:srgbClr val="050D3C"/>
          </a:solidFill>
        </p:spPr>
      </p:pic>
      <p:pic>
        <p:nvPicPr>
          <p:cNvPr id="9" name="TitleAndEndImages">
            <a:extLst>
              <a:ext uri="{FF2B5EF4-FFF2-40B4-BE49-F238E27FC236}">
                <a16:creationId xmlns:a16="http://schemas.microsoft.com/office/drawing/2014/main" id="{D7BABF7D-BC0C-FF42-5226-44889D1F0607}"/>
              </a:ext>
              <a:ext uri="{C183D7F6-B498-43B3-948B-1728B52AA6E4}">
                <adec:decorative xmlns:adec="http://schemas.microsoft.com/office/drawing/2017/decorative" val="1"/>
              </a:ext>
            </a:extLst>
          </p:cNvPr>
          <p:cNvPicPr>
            <a:picLocks noChangeAspect="1"/>
          </p:cNvPicPr>
          <p:nvPr userDrawn="1">
            <p:custDataLst>
              <p:tags r:id="rId2"/>
            </p:custDataLst>
          </p:nvPr>
        </p:nvPicPr>
        <p:blipFill>
          <a:blip r:embed="rId5"/>
          <a:srcRect l="96125" t="517" r="816" b="-88"/>
          <a:stretch/>
        </p:blipFill>
        <p:spPr>
          <a:xfrm>
            <a:off x="8864267" y="0"/>
            <a:ext cx="279733" cy="5157783"/>
          </a:xfrm>
          <a:prstGeom prst="rect">
            <a:avLst/>
          </a:prstGeom>
          <a:solidFill>
            <a:srgbClr val="050D3C"/>
          </a:solidFill>
        </p:spPr>
      </p:pic>
    </p:spTree>
    <p:extLst>
      <p:ext uri="{BB962C8B-B14F-4D97-AF65-F5344CB8AC3E}">
        <p14:creationId xmlns:p14="http://schemas.microsoft.com/office/powerpoint/2010/main" val="24035174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Side_Blue_Bars_Title_Only_Top">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2D419C0F-439F-4845-9F52-D248E220632B}"/>
              </a:ext>
            </a:extLst>
          </p:cNvPr>
          <p:cNvSpPr>
            <a:spLocks noGrp="1"/>
          </p:cNvSpPr>
          <p:nvPr>
            <p:ph type="title"/>
          </p:nvPr>
        </p:nvSpPr>
        <p:spPr>
          <a:xfrm>
            <a:off x="457201" y="132305"/>
            <a:ext cx="8229599" cy="553494"/>
          </a:xfrm>
          <a:prstGeom prst="rect">
            <a:avLst/>
          </a:prstGeom>
        </p:spPr>
        <p:txBody>
          <a:bodyPr anchor="ctr" anchorCtr="0"/>
          <a:lstStyle>
            <a:lvl1pPr algn="ctr">
              <a:defRPr sz="2400" b="1">
                <a:solidFill>
                  <a:srgbClr val="050D3C"/>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D3242A25-B843-4463-9FAE-B7A31955CDB8}"/>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3" name="Picture 6" descr="Small_Logo.jpg">
            <a:extLst>
              <a:ext uri="{FF2B5EF4-FFF2-40B4-BE49-F238E27FC236}">
                <a16:creationId xmlns:a16="http://schemas.microsoft.com/office/drawing/2014/main" id="{483BE72D-FC36-4870-BFED-61E9F9B11AB6}"/>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
            <a:extLst>
              <a:ext uri="{FF2B5EF4-FFF2-40B4-BE49-F238E27FC236}">
                <a16:creationId xmlns:a16="http://schemas.microsoft.com/office/drawing/2014/main" id="{BF25F6E4-0F40-4D43-9125-4B9290144428}"/>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2" name="Footer Placeholder 5">
            <a:extLst>
              <a:ext uri="{FF2B5EF4-FFF2-40B4-BE49-F238E27FC236}">
                <a16:creationId xmlns:a16="http://schemas.microsoft.com/office/drawing/2014/main" id="{8D287AF1-5551-0FBF-6B30-29463525B0F8}"/>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pic>
        <p:nvPicPr>
          <p:cNvPr id="3" name="TitleAndEndImages">
            <a:extLst>
              <a:ext uri="{FF2B5EF4-FFF2-40B4-BE49-F238E27FC236}">
                <a16:creationId xmlns:a16="http://schemas.microsoft.com/office/drawing/2014/main" id="{7675BEA5-412E-9A69-E439-3B19EDD9C3D5}"/>
              </a:ext>
              <a:ext uri="{C183D7F6-B498-43B3-948B-1728B52AA6E4}">
                <adec:decorative xmlns:adec="http://schemas.microsoft.com/office/drawing/2017/decorative" val="1"/>
              </a:ext>
            </a:extLst>
          </p:cNvPr>
          <p:cNvPicPr>
            <a:picLocks noChangeAspect="1"/>
          </p:cNvPicPr>
          <p:nvPr userDrawn="1">
            <p:custDataLst>
              <p:tags r:id="rId1"/>
            </p:custDataLst>
          </p:nvPr>
        </p:nvPicPr>
        <p:blipFill>
          <a:blip r:embed="rId5"/>
          <a:srcRect l="96125" t="517" r="816" b="-88"/>
          <a:stretch/>
        </p:blipFill>
        <p:spPr>
          <a:xfrm>
            <a:off x="-7607" y="-7142"/>
            <a:ext cx="279733" cy="5157783"/>
          </a:xfrm>
          <a:prstGeom prst="rect">
            <a:avLst/>
          </a:prstGeom>
          <a:solidFill>
            <a:srgbClr val="050D3C"/>
          </a:solidFill>
        </p:spPr>
      </p:pic>
      <p:pic>
        <p:nvPicPr>
          <p:cNvPr id="9" name="TitleAndEndImages">
            <a:extLst>
              <a:ext uri="{FF2B5EF4-FFF2-40B4-BE49-F238E27FC236}">
                <a16:creationId xmlns:a16="http://schemas.microsoft.com/office/drawing/2014/main" id="{CBE34C1E-8178-9F46-21C5-1713DA01ECCE}"/>
              </a:ext>
              <a:ext uri="{C183D7F6-B498-43B3-948B-1728B52AA6E4}">
                <adec:decorative xmlns:adec="http://schemas.microsoft.com/office/drawing/2017/decorative" val="1"/>
              </a:ext>
            </a:extLst>
          </p:cNvPr>
          <p:cNvPicPr>
            <a:picLocks noChangeAspect="1"/>
          </p:cNvPicPr>
          <p:nvPr userDrawn="1">
            <p:custDataLst>
              <p:tags r:id="rId2"/>
            </p:custDataLst>
          </p:nvPr>
        </p:nvPicPr>
        <p:blipFill>
          <a:blip r:embed="rId5"/>
          <a:srcRect l="96125" t="517" r="816" b="-88"/>
          <a:stretch/>
        </p:blipFill>
        <p:spPr>
          <a:xfrm>
            <a:off x="8864267" y="0"/>
            <a:ext cx="279733" cy="5157783"/>
          </a:xfrm>
          <a:prstGeom prst="rect">
            <a:avLst/>
          </a:prstGeom>
          <a:solidFill>
            <a:srgbClr val="050D3C"/>
          </a:solidFill>
        </p:spPr>
      </p:pic>
    </p:spTree>
    <p:extLst>
      <p:ext uri="{BB962C8B-B14F-4D97-AF65-F5344CB8AC3E}">
        <p14:creationId xmlns:p14="http://schemas.microsoft.com/office/powerpoint/2010/main" val="7103056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Side_Blue_Bars_Empty_Middl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81F89DF-CF18-4A9C-9CB4-89ED5F110B2E}"/>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2" name="Picture 6" descr="Small_Logo.jpg">
            <a:extLst>
              <a:ext uri="{FF2B5EF4-FFF2-40B4-BE49-F238E27FC236}">
                <a16:creationId xmlns:a16="http://schemas.microsoft.com/office/drawing/2014/main" id="{53184C88-F0BC-45EC-AF7D-7702865C39A0}"/>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
            <a:extLst>
              <a:ext uri="{FF2B5EF4-FFF2-40B4-BE49-F238E27FC236}">
                <a16:creationId xmlns:a16="http://schemas.microsoft.com/office/drawing/2014/main" id="{B14D30BB-3AD7-4808-86E2-EF7322A3C8B7}"/>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2" name="Footer Placeholder 5">
            <a:extLst>
              <a:ext uri="{FF2B5EF4-FFF2-40B4-BE49-F238E27FC236}">
                <a16:creationId xmlns:a16="http://schemas.microsoft.com/office/drawing/2014/main" id="{5573EE97-A85E-256F-8B30-0C1036E1DD58}"/>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pic>
        <p:nvPicPr>
          <p:cNvPr id="8" name="TitleAndEndImages">
            <a:extLst>
              <a:ext uri="{FF2B5EF4-FFF2-40B4-BE49-F238E27FC236}">
                <a16:creationId xmlns:a16="http://schemas.microsoft.com/office/drawing/2014/main" id="{85F592C1-7339-4AD8-AA95-14752A04F769}"/>
              </a:ext>
              <a:ext uri="{C183D7F6-B498-43B3-948B-1728B52AA6E4}">
                <adec:decorative xmlns:adec="http://schemas.microsoft.com/office/drawing/2017/decorative" val="1"/>
              </a:ext>
            </a:extLst>
          </p:cNvPr>
          <p:cNvPicPr>
            <a:picLocks noChangeAspect="1"/>
          </p:cNvPicPr>
          <p:nvPr userDrawn="1">
            <p:custDataLst>
              <p:tags r:id="rId1"/>
            </p:custDataLst>
          </p:nvPr>
        </p:nvPicPr>
        <p:blipFill>
          <a:blip r:embed="rId5"/>
          <a:srcRect l="96125" t="517" r="816" b="-88"/>
          <a:stretch/>
        </p:blipFill>
        <p:spPr>
          <a:xfrm>
            <a:off x="-7607" y="-7142"/>
            <a:ext cx="279733" cy="5157783"/>
          </a:xfrm>
          <a:prstGeom prst="rect">
            <a:avLst/>
          </a:prstGeom>
          <a:solidFill>
            <a:srgbClr val="050D3C"/>
          </a:solidFill>
        </p:spPr>
      </p:pic>
      <p:pic>
        <p:nvPicPr>
          <p:cNvPr id="9" name="TitleAndEndImages">
            <a:extLst>
              <a:ext uri="{FF2B5EF4-FFF2-40B4-BE49-F238E27FC236}">
                <a16:creationId xmlns:a16="http://schemas.microsoft.com/office/drawing/2014/main" id="{D7BABF7D-BC0C-FF42-5226-44889D1F0607}"/>
              </a:ext>
              <a:ext uri="{C183D7F6-B498-43B3-948B-1728B52AA6E4}">
                <adec:decorative xmlns:adec="http://schemas.microsoft.com/office/drawing/2017/decorative" val="1"/>
              </a:ext>
            </a:extLst>
          </p:cNvPr>
          <p:cNvPicPr>
            <a:picLocks noChangeAspect="1"/>
          </p:cNvPicPr>
          <p:nvPr userDrawn="1">
            <p:custDataLst>
              <p:tags r:id="rId2"/>
            </p:custDataLst>
          </p:nvPr>
        </p:nvPicPr>
        <p:blipFill>
          <a:blip r:embed="rId5"/>
          <a:srcRect l="96125" t="517" r="816" b="-88"/>
          <a:stretch/>
        </p:blipFill>
        <p:spPr>
          <a:xfrm>
            <a:off x="8864267" y="0"/>
            <a:ext cx="279733" cy="5157783"/>
          </a:xfrm>
          <a:prstGeom prst="rect">
            <a:avLst/>
          </a:prstGeom>
          <a:solidFill>
            <a:srgbClr val="050D3C"/>
          </a:solidFill>
        </p:spPr>
      </p:pic>
      <p:sp>
        <p:nvSpPr>
          <p:cNvPr id="3" name="Title 4">
            <a:extLst>
              <a:ext uri="{FF2B5EF4-FFF2-40B4-BE49-F238E27FC236}">
                <a16:creationId xmlns:a16="http://schemas.microsoft.com/office/drawing/2014/main" id="{FAE621BA-B68B-C61C-8245-D5EE1B20081E}"/>
              </a:ext>
            </a:extLst>
          </p:cNvPr>
          <p:cNvSpPr>
            <a:spLocks noGrp="1"/>
          </p:cNvSpPr>
          <p:nvPr>
            <p:ph type="title"/>
          </p:nvPr>
        </p:nvSpPr>
        <p:spPr>
          <a:xfrm>
            <a:off x="3868243" y="1265933"/>
            <a:ext cx="4114800" cy="2480066"/>
          </a:xfrm>
          <a:prstGeom prst="rect">
            <a:avLst/>
          </a:prstGeom>
          <a:noFill/>
        </p:spPr>
        <p:txBody>
          <a:bodyPr lIns="457200" tIns="457200" rIns="457200" bIns="457200" anchor="ctr" anchorCtr="0"/>
          <a:lstStyle>
            <a:lvl1pPr algn="ctr">
              <a:defRPr sz="3000" b="1">
                <a:solidFill>
                  <a:srgbClr val="050D3C"/>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60885A96-606A-EEB7-0218-9BB5A323D6F5}"/>
              </a:ext>
            </a:extLst>
          </p:cNvPr>
          <p:cNvSpPr>
            <a:spLocks noGrp="1"/>
          </p:cNvSpPr>
          <p:nvPr>
            <p:ph type="pic" sz="quarter" idx="12"/>
          </p:nvPr>
        </p:nvSpPr>
        <p:spPr>
          <a:xfrm>
            <a:off x="1143000" y="1362966"/>
            <a:ext cx="2286000" cy="2286000"/>
          </a:xfrm>
          <a:prstGeom prst="rect">
            <a:avLst/>
          </a:prstGeom>
        </p:spPr>
        <p:txBody>
          <a:bodyPr/>
          <a:lstStyle/>
          <a:p>
            <a:r>
              <a:rPr lang="en-US"/>
              <a:t>Click icon to add picture</a:t>
            </a:r>
          </a:p>
        </p:txBody>
      </p:sp>
    </p:spTree>
    <p:extLst>
      <p:ext uri="{BB962C8B-B14F-4D97-AF65-F5344CB8AC3E}">
        <p14:creationId xmlns:p14="http://schemas.microsoft.com/office/powerpoint/2010/main" val="40411838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8_Title and Content (Basic)">
    <p:spTree>
      <p:nvGrpSpPr>
        <p:cNvPr id="1" name=""/>
        <p:cNvGrpSpPr/>
        <p:nvPr/>
      </p:nvGrpSpPr>
      <p:grpSpPr>
        <a:xfrm>
          <a:off x="0" y="0"/>
          <a:ext cx="0" cy="0"/>
          <a:chOff x="0" y="0"/>
          <a:chExt cx="0" cy="0"/>
        </a:xfrm>
      </p:grpSpPr>
      <p:pic>
        <p:nvPicPr>
          <p:cNvPr id="10" name="TitleAndEndImages">
            <a:extLst>
              <a:ext uri="{FF2B5EF4-FFF2-40B4-BE49-F238E27FC236}">
                <a16:creationId xmlns:a16="http://schemas.microsoft.com/office/drawing/2014/main" id="{3C7B8E0B-6E0A-3BD7-93D5-48DFA44115D6}"/>
              </a:ext>
              <a:ext uri="{C183D7F6-B498-43B3-948B-1728B52AA6E4}">
                <adec:decorative xmlns:adec="http://schemas.microsoft.com/office/drawing/2017/decorative" val="1"/>
              </a:ext>
            </a:extLst>
          </p:cNvPr>
          <p:cNvPicPr>
            <a:picLocks noChangeAspect="1"/>
          </p:cNvPicPr>
          <p:nvPr userDrawn="1">
            <p:custDataLst>
              <p:tags r:id="rId1"/>
            </p:custDataLst>
          </p:nvPr>
        </p:nvPicPr>
        <p:blipFill>
          <a:blip r:embed="rId3"/>
          <a:srcRect l="423" t="280" r="73693" b="149"/>
          <a:stretch/>
        </p:blipFill>
        <p:spPr>
          <a:xfrm>
            <a:off x="6776951" y="0"/>
            <a:ext cx="2367049" cy="5157783"/>
          </a:xfrm>
          <a:prstGeom prst="rect">
            <a:avLst/>
          </a:prstGeom>
          <a:solidFill>
            <a:srgbClr val="050D3C"/>
          </a:solidFill>
        </p:spPr>
      </p:pic>
      <p:sp>
        <p:nvSpPr>
          <p:cNvPr id="5" name="Title 4"/>
          <p:cNvSpPr>
            <a:spLocks noGrp="1"/>
          </p:cNvSpPr>
          <p:nvPr>
            <p:ph type="title"/>
          </p:nvPr>
        </p:nvSpPr>
        <p:spPr>
          <a:xfrm>
            <a:off x="6951518" y="362146"/>
            <a:ext cx="1791393" cy="4418390"/>
          </a:xfrm>
          <a:prstGeom prst="rect">
            <a:avLst/>
          </a:prstGeom>
        </p:spPr>
        <p:txBody>
          <a:bodyPr anchor="t" anchorCtr="0"/>
          <a:lstStyle>
            <a:lvl1pPr algn="l">
              <a:defRPr sz="2400" b="1">
                <a:solidFill>
                  <a:schemeClr val="bg1"/>
                </a:solidFill>
              </a:defRPr>
            </a:lvl1pPr>
          </a:lstStyle>
          <a:p>
            <a:r>
              <a:rPr lang="en-US"/>
              <a:t>Click to edit Master title style</a:t>
            </a:r>
          </a:p>
        </p:txBody>
      </p:sp>
      <p:sp>
        <p:nvSpPr>
          <p:cNvPr id="3" name="Content Placeholder 2"/>
          <p:cNvSpPr>
            <a:spLocks noGrp="1"/>
          </p:cNvSpPr>
          <p:nvPr>
            <p:ph idx="1"/>
          </p:nvPr>
        </p:nvSpPr>
        <p:spPr>
          <a:xfrm>
            <a:off x="457200" y="362146"/>
            <a:ext cx="6195060" cy="4412435"/>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32551B08-8A67-4AFA-A316-667FD292E3E5}"/>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 name="Footer Placeholder 5">
            <a:extLst>
              <a:ext uri="{FF2B5EF4-FFF2-40B4-BE49-F238E27FC236}">
                <a16:creationId xmlns:a16="http://schemas.microsoft.com/office/drawing/2014/main" id="{F77B87C4-2827-2D67-7F7A-7822361998A3}"/>
              </a:ext>
            </a:extLst>
          </p:cNvPr>
          <p:cNvSpPr>
            <a:spLocks noGrp="1"/>
          </p:cNvSpPr>
          <p:nvPr>
            <p:ph type="ftr" sz="quarter" idx="11"/>
          </p:nvPr>
        </p:nvSpPr>
        <p:spPr>
          <a:xfrm>
            <a:off x="457200" y="4718630"/>
            <a:ext cx="5105400" cy="274637"/>
          </a:xfrm>
          <a:prstGeom prst="rect">
            <a:avLst/>
          </a:prstGeom>
        </p:spPr>
        <p:txBody>
          <a:bodyPr anchor="ctr"/>
          <a:lstStyle>
            <a:lvl1pPr algn="r">
              <a:defRPr sz="1000">
                <a:solidFill>
                  <a:srgbClr val="7F7F7F"/>
                </a:solidFill>
              </a:defRPr>
            </a:lvl1pPr>
          </a:lstStyle>
          <a:p>
            <a:endParaRPr lang="en-US"/>
          </a:p>
        </p:txBody>
      </p:sp>
      <p:sp>
        <p:nvSpPr>
          <p:cNvPr id="4" name="TextBox 1">
            <a:extLst>
              <a:ext uri="{FF2B5EF4-FFF2-40B4-BE49-F238E27FC236}">
                <a16:creationId xmlns:a16="http://schemas.microsoft.com/office/drawing/2014/main" id="{08B9D736-24A9-35FE-C7F2-AF09CCAAAFF9}"/>
              </a:ext>
            </a:extLst>
          </p:cNvPr>
          <p:cNvSpPr txBox="1">
            <a:spLocks noChangeArrowheads="1"/>
          </p:cNvSpPr>
          <p:nvPr userDrawn="1"/>
        </p:nvSpPr>
        <p:spPr bwMode="auto">
          <a:xfrm>
            <a:off x="6270567" y="4740532"/>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pic>
        <p:nvPicPr>
          <p:cNvPr id="6" name="Picture 6" descr="Small_Logo.jpg">
            <a:extLst>
              <a:ext uri="{FF2B5EF4-FFF2-40B4-BE49-F238E27FC236}">
                <a16:creationId xmlns:a16="http://schemas.microsoft.com/office/drawing/2014/main" id="{601AD5A5-A086-3BE4-CA4D-1970731896D9}"/>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37712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4_Title and Content (Basic)">
    <p:spTree>
      <p:nvGrpSpPr>
        <p:cNvPr id="1" name=""/>
        <p:cNvGrpSpPr/>
        <p:nvPr/>
      </p:nvGrpSpPr>
      <p:grpSpPr>
        <a:xfrm>
          <a:off x="0" y="0"/>
          <a:ext cx="0" cy="0"/>
          <a:chOff x="0" y="0"/>
          <a:chExt cx="0" cy="0"/>
        </a:xfrm>
      </p:grpSpPr>
      <p:pic>
        <p:nvPicPr>
          <p:cNvPr id="4" name="TitleAndEndImages">
            <a:extLst>
              <a:ext uri="{FF2B5EF4-FFF2-40B4-BE49-F238E27FC236}">
                <a16:creationId xmlns:a16="http://schemas.microsoft.com/office/drawing/2014/main" id="{07D3DEBF-718A-FAF1-030B-88904844DFF5}"/>
              </a:ext>
              <a:ext uri="{C183D7F6-B498-43B3-948B-1728B52AA6E4}">
                <adec:decorative xmlns:adec="http://schemas.microsoft.com/office/drawing/2017/decorative" val="1"/>
              </a:ext>
            </a:extLst>
          </p:cNvPr>
          <p:cNvPicPr>
            <a:picLocks noChangeAspect="1"/>
          </p:cNvPicPr>
          <p:nvPr userDrawn="1">
            <p:custDataLst>
              <p:tags r:id="rId1"/>
            </p:custDataLst>
          </p:nvPr>
        </p:nvPicPr>
        <p:blipFill>
          <a:blip r:embed="rId3"/>
          <a:srcRect l="423" t="280" r="73693" b="149"/>
          <a:stretch/>
        </p:blipFill>
        <p:spPr>
          <a:xfrm>
            <a:off x="0" y="0"/>
            <a:ext cx="2367049" cy="5157783"/>
          </a:xfrm>
          <a:prstGeom prst="rect">
            <a:avLst/>
          </a:prstGeom>
          <a:solidFill>
            <a:srgbClr val="050D3C"/>
          </a:solidFill>
        </p:spPr>
      </p:pic>
      <p:sp>
        <p:nvSpPr>
          <p:cNvPr id="5" name="Title 4"/>
          <p:cNvSpPr>
            <a:spLocks noGrp="1"/>
          </p:cNvSpPr>
          <p:nvPr>
            <p:ph type="title"/>
          </p:nvPr>
        </p:nvSpPr>
        <p:spPr>
          <a:xfrm>
            <a:off x="342900" y="356191"/>
            <a:ext cx="1791393" cy="4418390"/>
          </a:xfrm>
          <a:prstGeom prst="rect">
            <a:avLst/>
          </a:prstGeom>
        </p:spPr>
        <p:txBody>
          <a:bodyPr anchor="t" anchorCtr="0"/>
          <a:lstStyle>
            <a:lvl1pPr algn="l">
              <a:defRPr sz="2400" b="1">
                <a:solidFill>
                  <a:schemeClr val="bg1"/>
                </a:solidFill>
              </a:defRPr>
            </a:lvl1pPr>
          </a:lstStyle>
          <a:p>
            <a:r>
              <a:rPr lang="en-US"/>
              <a:t>Click to edit Master title style</a:t>
            </a:r>
          </a:p>
        </p:txBody>
      </p:sp>
      <p:sp>
        <p:nvSpPr>
          <p:cNvPr id="3" name="Content Placeholder 2"/>
          <p:cNvSpPr>
            <a:spLocks noGrp="1"/>
          </p:cNvSpPr>
          <p:nvPr>
            <p:ph idx="1"/>
          </p:nvPr>
        </p:nvSpPr>
        <p:spPr>
          <a:xfrm>
            <a:off x="2491739" y="356191"/>
            <a:ext cx="6195060" cy="4412435"/>
          </a:xfrm>
          <a:prstGeom prst="rect">
            <a:avLst/>
          </a:prstGeom>
        </p:spPr>
        <p:txBody>
          <a:bodyPr>
            <a:normAutofit/>
          </a:bodyPr>
          <a:lstStyle>
            <a:lvl1pPr>
              <a:spcBef>
                <a:spcPts val="1200"/>
              </a:spcBef>
              <a:spcAft>
                <a:spcPts val="600"/>
              </a:spcAft>
              <a:defRPr sz="2400" b="0"/>
            </a:lvl1pPr>
            <a:lvl2pPr>
              <a:spcBef>
                <a:spcPts val="0"/>
              </a:spcBef>
              <a:spcAft>
                <a:spcPts val="600"/>
              </a:spcAft>
              <a:defRPr sz="2200"/>
            </a:lvl2pPr>
            <a:lvl3pPr>
              <a:spcBef>
                <a:spcPts val="0"/>
              </a:spcBef>
              <a:spcAft>
                <a:spcPts val="600"/>
              </a:spcAft>
              <a:defRPr sz="2000"/>
            </a:lvl3pPr>
            <a:lvl4pPr>
              <a:spcBef>
                <a:spcPts val="0"/>
              </a:spcBef>
              <a:spcAft>
                <a:spcPts val="600"/>
              </a:spcAft>
              <a:defRPr sz="1800"/>
            </a:lvl4pPr>
            <a:lvl5pPr>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38B3E92B-5B9B-4DA3-B532-65365C1ECC56}"/>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2" name="Picture 6" descr="Small_Logo.jpg">
            <a:extLst>
              <a:ext uri="{FF2B5EF4-FFF2-40B4-BE49-F238E27FC236}">
                <a16:creationId xmlns:a16="http://schemas.microsoft.com/office/drawing/2014/main" id="{8A27DC70-F96B-47E1-B74C-86CD9FAB5BBD}"/>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
            <a:extLst>
              <a:ext uri="{FF2B5EF4-FFF2-40B4-BE49-F238E27FC236}">
                <a16:creationId xmlns:a16="http://schemas.microsoft.com/office/drawing/2014/main" id="{4B6EA7F7-9624-418B-8EAD-717C5D3051F1}"/>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rgbClr val="7F7F7F"/>
                </a:solidFill>
              </a:rPr>
              <a:pPr algn="r" defTabSz="342900" eaLnBrk="1" fontAlgn="base" hangingPunct="1">
                <a:spcBef>
                  <a:spcPct val="0"/>
                </a:spcBef>
                <a:spcAft>
                  <a:spcPct val="0"/>
                </a:spcAft>
                <a:defRPr/>
              </a:pPr>
              <a:t>‹#›</a:t>
            </a:fld>
            <a:endParaRPr lang="en-US" sz="800">
              <a:solidFill>
                <a:srgbClr val="7F7F7F"/>
              </a:solidFill>
            </a:endParaRPr>
          </a:p>
        </p:txBody>
      </p:sp>
      <p:sp>
        <p:nvSpPr>
          <p:cNvPr id="6" name="Footer Placeholder 5">
            <a:extLst>
              <a:ext uri="{FF2B5EF4-FFF2-40B4-BE49-F238E27FC236}">
                <a16:creationId xmlns:a16="http://schemas.microsoft.com/office/drawing/2014/main" id="{AE29D02A-5715-292E-C7D3-75DE2D2D7A81}"/>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rgbClr val="7F7F7F"/>
                </a:solidFill>
              </a:defRPr>
            </a:lvl1pPr>
          </a:lstStyle>
          <a:p>
            <a:endParaRPr lang="en-US"/>
          </a:p>
        </p:txBody>
      </p:sp>
    </p:spTree>
    <p:extLst>
      <p:ext uri="{BB962C8B-B14F-4D97-AF65-F5344CB8AC3E}">
        <p14:creationId xmlns:p14="http://schemas.microsoft.com/office/powerpoint/2010/main" val="11053150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SectionBreak_darker-Summit-blu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9A00AA-F577-845C-52C4-DC2664E97352}"/>
              </a:ext>
              <a:ext uri="{C183D7F6-B498-43B3-948B-1728B52AA6E4}">
                <adec:decorative xmlns:adec="http://schemas.microsoft.com/office/drawing/2017/decorative" val="1"/>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rcRect l="11787" r="11442"/>
          <a:stretch/>
        </p:blipFill>
        <p:spPr>
          <a:xfrm>
            <a:off x="0" y="0"/>
            <a:ext cx="9144000" cy="5161359"/>
          </a:xfrm>
          <a:prstGeom prst="rect">
            <a:avLst/>
          </a:prstGeom>
          <a:solidFill>
            <a:srgbClr val="050D3C"/>
          </a:solidFill>
          <a:ln>
            <a:noFill/>
          </a:ln>
        </p:spPr>
      </p:pic>
      <p:pic>
        <p:nvPicPr>
          <p:cNvPr id="3" name="Picture 6" descr="Small_Logo.jpg">
            <a:extLst>
              <a:ext uri="{FF2B5EF4-FFF2-40B4-BE49-F238E27FC236}">
                <a16:creationId xmlns:a16="http://schemas.microsoft.com/office/drawing/2014/main" id="{3394A911-CD7E-55BE-B47F-BC9ED4A24CC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4" name="TextBox 1">
            <a:extLst>
              <a:ext uri="{FF2B5EF4-FFF2-40B4-BE49-F238E27FC236}">
                <a16:creationId xmlns:a16="http://schemas.microsoft.com/office/drawing/2014/main" id="{71363C25-9E26-DACD-F8BF-BAF5D19CDE9C}"/>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chemeClr val="bg1"/>
                </a:solidFill>
              </a:rPr>
              <a:pPr algn="r" defTabSz="342900" eaLnBrk="1" fontAlgn="base" hangingPunct="1">
                <a:spcBef>
                  <a:spcPct val="0"/>
                </a:spcBef>
                <a:spcAft>
                  <a:spcPct val="0"/>
                </a:spcAft>
                <a:defRPr/>
              </a:pPr>
              <a:t>‹#›</a:t>
            </a:fld>
            <a:endParaRPr lang="en-US" sz="800">
              <a:solidFill>
                <a:schemeClr val="bg1"/>
              </a:solidFill>
            </a:endParaRPr>
          </a:p>
        </p:txBody>
      </p:sp>
      <p:sp>
        <p:nvSpPr>
          <p:cNvPr id="6" name="Footer Placeholder 5">
            <a:extLst>
              <a:ext uri="{FF2B5EF4-FFF2-40B4-BE49-F238E27FC236}">
                <a16:creationId xmlns:a16="http://schemas.microsoft.com/office/drawing/2014/main" id="{F499EA23-0707-51BC-1D2F-59218A6762CA}"/>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chemeClr val="bg1"/>
                </a:solidFill>
              </a:defRPr>
            </a:lvl1pPr>
          </a:lstStyle>
          <a:p>
            <a:endParaRPr lang="en-US"/>
          </a:p>
        </p:txBody>
      </p:sp>
      <p:cxnSp>
        <p:nvCxnSpPr>
          <p:cNvPr id="2" name="Straight Connector 1">
            <a:extLst>
              <a:ext uri="{FF2B5EF4-FFF2-40B4-BE49-F238E27FC236}">
                <a16:creationId xmlns:a16="http://schemas.microsoft.com/office/drawing/2014/main" id="{4F463550-E89F-8CF5-023E-6867BFDBF67C}"/>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itle 4"/>
          <p:cNvSpPr>
            <a:spLocks noGrp="1"/>
          </p:cNvSpPr>
          <p:nvPr>
            <p:ph type="title"/>
          </p:nvPr>
        </p:nvSpPr>
        <p:spPr>
          <a:xfrm>
            <a:off x="1409700" y="1706165"/>
            <a:ext cx="6324599" cy="1749027"/>
          </a:xfrm>
          <a:prstGeom prst="rect">
            <a:avLst/>
          </a:prstGeom>
          <a:solidFill>
            <a:srgbClr val="050D3C"/>
          </a:solidFill>
        </p:spPr>
        <p:txBody>
          <a:bodyPr lIns="914400" tIns="914400" rIns="914400" bIns="914400" anchor="ctr" anchorCtr="0"/>
          <a:lstStyle>
            <a:lvl1pPr algn="ctr">
              <a:defRPr sz="3000" b="1">
                <a:solidFill>
                  <a:schemeClr val="bg1"/>
                </a:solidFill>
              </a:defRPr>
            </a:lvl1pPr>
          </a:lstStyle>
          <a:p>
            <a:r>
              <a:rPr lang="en-US"/>
              <a:t>Click to edit Master title style</a:t>
            </a:r>
          </a:p>
        </p:txBody>
      </p:sp>
    </p:spTree>
    <p:extLst>
      <p:ext uri="{BB962C8B-B14F-4D97-AF65-F5344CB8AC3E}">
        <p14:creationId xmlns:p14="http://schemas.microsoft.com/office/powerpoint/2010/main" val="42114307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EndingCard_OptionB">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6F9D053-3928-4960-8F1E-225A6A377CD5}"/>
              </a:ext>
            </a:extLst>
          </p:cNvPr>
          <p:cNvSpPr/>
          <p:nvPr userDrawn="1"/>
        </p:nvSpPr>
        <p:spPr>
          <a:xfrm>
            <a:off x="0" y="3959388"/>
            <a:ext cx="9144000" cy="1184113"/>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a:solidFill>
                <a:schemeClr val="bg1"/>
              </a:solidFill>
              <a:latin typeface="+mn-lt"/>
              <a:sym typeface="Trebuchet MS" panose="020B0603020202020204" pitchFamily="34" charset="0"/>
            </a:endParaRPr>
          </a:p>
        </p:txBody>
      </p:sp>
      <p:pic>
        <p:nvPicPr>
          <p:cNvPr id="4" name="Picture 3">
            <a:extLst>
              <a:ext uri="{FF2B5EF4-FFF2-40B4-BE49-F238E27FC236}">
                <a16:creationId xmlns:a16="http://schemas.microsoft.com/office/drawing/2014/main" id="{1A42BDEC-EB38-4ED5-9015-3DC546A29F6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731" t="8741" r="102" b="27"/>
          <a:stretch/>
        </p:blipFill>
        <p:spPr>
          <a:xfrm rot="16200000" flipH="1">
            <a:off x="6353941" y="1479954"/>
            <a:ext cx="435430" cy="5143500"/>
          </a:xfrm>
          <a:prstGeom prst="rect">
            <a:avLst/>
          </a:prstGeom>
        </p:spPr>
      </p:pic>
      <p:pic>
        <p:nvPicPr>
          <p:cNvPr id="5" name="TitleAndEndImages" descr="Blue digital binary data on a screen">
            <a:extLst>
              <a:ext uri="{FF2B5EF4-FFF2-40B4-BE49-F238E27FC236}">
                <a16:creationId xmlns:a16="http://schemas.microsoft.com/office/drawing/2014/main" id="{13A3877F-EB69-4B07-853A-F02E48412B3D}"/>
              </a:ext>
            </a:extLst>
          </p:cNvPr>
          <p:cNvPicPr>
            <a:picLocks noChangeAspect="1"/>
          </p:cNvPicPr>
          <p:nvPr userDrawn="1">
            <p:custDataLst>
              <p:tags r:id="rId1"/>
            </p:custDataLst>
          </p:nvPr>
        </p:nvPicPr>
        <p:blipFill>
          <a:blip r:embed="rId4">
            <a:alphaModFix/>
          </a:blip>
          <a:srcRect t="11528" b="11528"/>
          <a:stretch/>
        </p:blipFill>
        <p:spPr>
          <a:xfrm>
            <a:off x="0" y="0"/>
            <a:ext cx="9144000" cy="5162550"/>
          </a:xfrm>
          <a:prstGeom prst="rect">
            <a:avLst/>
          </a:prstGeom>
        </p:spPr>
      </p:pic>
    </p:spTree>
    <p:extLst>
      <p:ext uri="{BB962C8B-B14F-4D97-AF65-F5344CB8AC3E}">
        <p14:creationId xmlns:p14="http://schemas.microsoft.com/office/powerpoint/2010/main" val="16118666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4DC0A-86A6-6DBC-EBA7-EE1E4A9299DF}"/>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5603875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Card_OptionC">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525E5E5-BAA5-16E5-A72D-EC695BDB6CCF}"/>
              </a:ext>
            </a:extLst>
          </p:cNvPr>
          <p:cNvSpPr>
            <a:spLocks noGrp="1"/>
          </p:cNvSpPr>
          <p:nvPr>
            <p:ph type="pic" sz="quarter" idx="14"/>
          </p:nvPr>
        </p:nvSpPr>
        <p:spPr>
          <a:xfrm>
            <a:off x="-594" y="0"/>
            <a:ext cx="9144000" cy="3913218"/>
          </a:xfrm>
          <a:prstGeom prst="rect">
            <a:avLst/>
          </a:prstGeom>
        </p:spPr>
        <p:txBody>
          <a:bodyPr/>
          <a:lstStyle/>
          <a:p>
            <a:r>
              <a:rPr lang="en-US"/>
              <a:t>Click icon to add picture</a:t>
            </a:r>
          </a:p>
        </p:txBody>
      </p:sp>
      <p:sp>
        <p:nvSpPr>
          <p:cNvPr id="3" name="Rectangle 2">
            <a:extLst>
              <a:ext uri="{FF2B5EF4-FFF2-40B4-BE49-F238E27FC236}">
                <a16:creationId xmlns:a16="http://schemas.microsoft.com/office/drawing/2014/main" id="{66F9D053-3928-4960-8F1E-225A6A377CD5}"/>
              </a:ext>
            </a:extLst>
          </p:cNvPr>
          <p:cNvSpPr/>
          <p:nvPr userDrawn="1"/>
        </p:nvSpPr>
        <p:spPr>
          <a:xfrm>
            <a:off x="0" y="3959388"/>
            <a:ext cx="9144000" cy="1184113"/>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a:solidFill>
                <a:schemeClr val="bg1"/>
              </a:solidFill>
              <a:latin typeface="+mn-lt"/>
              <a:sym typeface="Trebuchet MS" panose="020B0603020202020204" pitchFamily="34" charset="0"/>
            </a:endParaRPr>
          </a:p>
        </p:txBody>
      </p:sp>
      <p:pic>
        <p:nvPicPr>
          <p:cNvPr id="4" name="Picture 3">
            <a:extLst>
              <a:ext uri="{FF2B5EF4-FFF2-40B4-BE49-F238E27FC236}">
                <a16:creationId xmlns:a16="http://schemas.microsoft.com/office/drawing/2014/main" id="{1A42BDEC-EB38-4ED5-9015-3DC546A29F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731" t="8741" r="102" b="27"/>
          <a:stretch/>
        </p:blipFill>
        <p:spPr>
          <a:xfrm rot="16200000" flipH="1">
            <a:off x="6353941" y="1479954"/>
            <a:ext cx="435430" cy="5143500"/>
          </a:xfrm>
          <a:prstGeom prst="rect">
            <a:avLst/>
          </a:prstGeom>
        </p:spPr>
      </p:pic>
      <p:sp>
        <p:nvSpPr>
          <p:cNvPr id="6" name="Picture Placeholder 8">
            <a:extLst>
              <a:ext uri="{FF2B5EF4-FFF2-40B4-BE49-F238E27FC236}">
                <a16:creationId xmlns:a16="http://schemas.microsoft.com/office/drawing/2014/main" id="{B4BEA21F-8373-433C-B00F-BF428EE51533}"/>
              </a:ext>
            </a:extLst>
          </p:cNvPr>
          <p:cNvSpPr>
            <a:spLocks noGrp="1"/>
          </p:cNvSpPr>
          <p:nvPr>
            <p:ph type="pic" sz="quarter" idx="13" hasCustomPrompt="1"/>
          </p:nvPr>
        </p:nvSpPr>
        <p:spPr>
          <a:xfrm>
            <a:off x="7042277" y="4192047"/>
            <a:ext cx="1400951" cy="672625"/>
          </a:xfrm>
          <a:prstGeom prst="rect">
            <a:avLst/>
          </a:prstGeom>
        </p:spPr>
        <p:txBody>
          <a:bodyPr anchor="b"/>
          <a:lstStyle>
            <a:lvl1pPr algn="ctr">
              <a:defRPr sz="1200">
                <a:solidFill>
                  <a:schemeClr val="bg1"/>
                </a:solidFill>
                <a:latin typeface="Trebuchet MS" panose="020B0603020202020204" pitchFamily="34" charset="0"/>
                <a:sym typeface="Trebuchet MS" panose="020B0603020202020204" pitchFamily="34" charset="0"/>
              </a:defRPr>
            </a:lvl1pPr>
          </a:lstStyle>
          <a:p>
            <a:r>
              <a:rPr lang="en-US"/>
              <a:t>Logo</a:t>
            </a:r>
          </a:p>
        </p:txBody>
      </p:sp>
      <p:pic>
        <p:nvPicPr>
          <p:cNvPr id="16" name="Picture 15" descr="Summit Consulting, LLC logo&#10;">
            <a:extLst>
              <a:ext uri="{FF2B5EF4-FFF2-40B4-BE49-F238E27FC236}">
                <a16:creationId xmlns:a16="http://schemas.microsoft.com/office/drawing/2014/main" id="{766A3110-2610-430D-A16D-5BD6F94FFF1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939290" y="4364127"/>
            <a:ext cx="1831928" cy="357565"/>
          </a:xfrm>
          <a:prstGeom prst="rect">
            <a:avLst/>
          </a:prstGeom>
        </p:spPr>
      </p:pic>
      <p:sp>
        <p:nvSpPr>
          <p:cNvPr id="8" name="Text Placeholder 6">
            <a:extLst>
              <a:ext uri="{FF2B5EF4-FFF2-40B4-BE49-F238E27FC236}">
                <a16:creationId xmlns:a16="http://schemas.microsoft.com/office/drawing/2014/main" id="{CAFE7881-383E-417F-8E74-886558318EB9}"/>
              </a:ext>
            </a:extLst>
          </p:cNvPr>
          <p:cNvSpPr>
            <a:spLocks noGrp="1"/>
          </p:cNvSpPr>
          <p:nvPr>
            <p:ph type="body" sz="quarter" idx="12" hasCustomPrompt="1"/>
          </p:nvPr>
        </p:nvSpPr>
        <p:spPr bwMode="black">
          <a:xfrm>
            <a:off x="838061" y="4655882"/>
            <a:ext cx="5151600" cy="245361"/>
          </a:xfrm>
          <a:prstGeom prst="rect">
            <a:avLst/>
          </a:prstGeom>
          <a:noFill/>
        </p:spPr>
        <p:txBody>
          <a:bodyPr anchor="ctr"/>
          <a:lstStyle>
            <a:lvl1pPr algn="l">
              <a:lnSpc>
                <a:spcPct val="110000"/>
              </a:lnSpc>
              <a:buNone/>
              <a:defRPr sz="1200" b="0" cap="none" baseline="0">
                <a:solidFill>
                  <a:schemeClr val="tx1">
                    <a:lumMod val="75000"/>
                    <a:lumOff val="25000"/>
                  </a:schemeClr>
                </a:solidFill>
                <a:latin typeface="+mn-lt"/>
                <a:sym typeface="Trebuchet MS" panose="020B0603020202020204" pitchFamily="34" charset="0"/>
              </a:defRPr>
            </a:lvl1pPr>
            <a:lvl2pPr algn="ctr">
              <a:buNone/>
              <a:defRPr/>
            </a:lvl2pPr>
            <a:lvl3pPr marL="0" indent="0" algn="ctr">
              <a:buNone/>
              <a:defRPr/>
            </a:lvl3pPr>
            <a:lvl4pPr marL="171450" indent="0" algn="ctr">
              <a:buNone/>
              <a:defRPr/>
            </a:lvl4pPr>
            <a:lvl5pPr marL="342900" indent="0" algn="ctr">
              <a:buNone/>
              <a:defRPr/>
            </a:lvl5pPr>
          </a:lstStyle>
          <a:p>
            <a:pPr lvl="0"/>
            <a:r>
              <a:rPr lang="en-US"/>
              <a:t>Click to edit date/place</a:t>
            </a:r>
          </a:p>
        </p:txBody>
      </p:sp>
      <p:sp>
        <p:nvSpPr>
          <p:cNvPr id="9" name="Subtitle 2">
            <a:extLst>
              <a:ext uri="{FF2B5EF4-FFF2-40B4-BE49-F238E27FC236}">
                <a16:creationId xmlns:a16="http://schemas.microsoft.com/office/drawing/2014/main" id="{032E0489-0435-4054-81DA-4069AFD7B294}"/>
              </a:ext>
            </a:extLst>
          </p:cNvPr>
          <p:cNvSpPr>
            <a:spLocks noGrp="1"/>
          </p:cNvSpPr>
          <p:nvPr>
            <p:ph type="subTitle" idx="1" hasCustomPrompt="1"/>
          </p:nvPr>
        </p:nvSpPr>
        <p:spPr bwMode="white">
          <a:xfrm>
            <a:off x="472608" y="3913218"/>
            <a:ext cx="5928786" cy="703632"/>
          </a:xfrm>
          <a:prstGeom prst="rect">
            <a:avLst/>
          </a:prstGeom>
          <a:solidFill>
            <a:srgbClr val="177BAD"/>
          </a:solidFill>
          <a:ln>
            <a:noFill/>
          </a:ln>
        </p:spPr>
        <p:txBody>
          <a:bodyPr lIns="365760" tIns="91440" anchor="t"/>
          <a:lstStyle>
            <a:lvl1pPr marL="0" indent="0" algn="l">
              <a:lnSpc>
                <a:spcPct val="110000"/>
              </a:lnSpc>
              <a:buNone/>
              <a:defRPr sz="1400" b="1" baseline="0">
                <a:solidFill>
                  <a:schemeClr val="bg1"/>
                </a:solidFill>
                <a:latin typeface="+mn-lt"/>
                <a:sym typeface="Trebuchet MS" panose="020B0603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 in sentence case</a:t>
            </a:r>
          </a:p>
        </p:txBody>
      </p:sp>
      <p:sp>
        <p:nvSpPr>
          <p:cNvPr id="10" name="Title 1">
            <a:extLst>
              <a:ext uri="{FF2B5EF4-FFF2-40B4-BE49-F238E27FC236}">
                <a16:creationId xmlns:a16="http://schemas.microsoft.com/office/drawing/2014/main" id="{9EF9C0ED-15A4-48C6-BFF6-E05060EA8C8D}"/>
              </a:ext>
            </a:extLst>
          </p:cNvPr>
          <p:cNvSpPr>
            <a:spLocks noGrp="1"/>
          </p:cNvSpPr>
          <p:nvPr>
            <p:ph type="ctrTitle" hasCustomPrompt="1"/>
          </p:nvPr>
        </p:nvSpPr>
        <p:spPr bwMode="ltGray">
          <a:xfrm>
            <a:off x="472014" y="526650"/>
            <a:ext cx="5928786" cy="3386568"/>
          </a:xfrm>
          <a:prstGeom prst="rect">
            <a:avLst/>
          </a:prstGeom>
          <a:solidFill>
            <a:srgbClr val="177BAD"/>
          </a:solidFill>
          <a:ln>
            <a:noFill/>
          </a:ln>
        </p:spPr>
        <p:txBody>
          <a:bodyPr lIns="365760" bIns="91440" anchor="b">
            <a:normAutofit/>
          </a:bodyPr>
          <a:lstStyle>
            <a:lvl1pPr algn="l">
              <a:lnSpc>
                <a:spcPct val="93000"/>
              </a:lnSpc>
              <a:defRPr sz="4050" b="1" baseline="0">
                <a:solidFill>
                  <a:schemeClr val="bg1"/>
                </a:solidFill>
                <a:latin typeface="+mj-lt"/>
                <a:sym typeface="Trebuchet MS" panose="020B0603020202020204" pitchFamily="34" charset="0"/>
              </a:defRPr>
            </a:lvl1pPr>
          </a:lstStyle>
          <a:p>
            <a:r>
              <a:rPr lang="en-US"/>
              <a:t>Title in Title Case</a:t>
            </a:r>
          </a:p>
        </p:txBody>
      </p:sp>
    </p:spTree>
    <p:extLst>
      <p:ext uri="{BB962C8B-B14F-4D97-AF65-F5344CB8AC3E}">
        <p14:creationId xmlns:p14="http://schemas.microsoft.com/office/powerpoint/2010/main" val="384330579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ndingCard_OptionC">
    <p:spTree>
      <p:nvGrpSpPr>
        <p:cNvPr id="1" name=""/>
        <p:cNvGrpSpPr/>
        <p:nvPr/>
      </p:nvGrpSpPr>
      <p:grpSpPr>
        <a:xfrm>
          <a:off x="0" y="0"/>
          <a:ext cx="0" cy="0"/>
          <a:chOff x="0" y="0"/>
          <a:chExt cx="0" cy="0"/>
        </a:xfrm>
      </p:grpSpPr>
      <p:sp>
        <p:nvSpPr>
          <p:cNvPr id="9" name="Picture Placeholder 10">
            <a:extLst>
              <a:ext uri="{FF2B5EF4-FFF2-40B4-BE49-F238E27FC236}">
                <a16:creationId xmlns:a16="http://schemas.microsoft.com/office/drawing/2014/main" id="{34F63C4A-9D28-9534-F615-E3D7FC67C94E}"/>
              </a:ext>
            </a:extLst>
          </p:cNvPr>
          <p:cNvSpPr>
            <a:spLocks noGrp="1"/>
          </p:cNvSpPr>
          <p:nvPr>
            <p:ph type="pic" sz="quarter" idx="14"/>
          </p:nvPr>
        </p:nvSpPr>
        <p:spPr>
          <a:xfrm>
            <a:off x="-594" y="0"/>
            <a:ext cx="9144000" cy="5238750"/>
          </a:xfrm>
          <a:prstGeom prst="rect">
            <a:avLst/>
          </a:prstGeom>
        </p:spPr>
        <p:txBody>
          <a:bodyPr/>
          <a:lstStyle/>
          <a:p>
            <a:r>
              <a:rPr lang="en-US"/>
              <a:t>Click icon to add picture</a:t>
            </a:r>
          </a:p>
        </p:txBody>
      </p:sp>
      <p:cxnSp>
        <p:nvCxnSpPr>
          <p:cNvPr id="2" name="Straight Connector 1">
            <a:extLst>
              <a:ext uri="{FF2B5EF4-FFF2-40B4-BE49-F238E27FC236}">
                <a16:creationId xmlns:a16="http://schemas.microsoft.com/office/drawing/2014/main" id="{4F463550-E89F-8CF5-023E-6867BFDBF67C}"/>
              </a:ext>
              <a:ext uri="{C183D7F6-B498-43B3-948B-1728B52AA6E4}">
                <adec:decorative xmlns:adec="http://schemas.microsoft.com/office/drawing/2017/decorative" val="1"/>
              </a:ext>
            </a:extLst>
          </p:cNvPr>
          <p:cNvCxnSpPr/>
          <p:nvPr userDrawn="1"/>
        </p:nvCxnSpPr>
        <p:spPr>
          <a:xfrm>
            <a:off x="457200" y="4629150"/>
            <a:ext cx="8229600" cy="1191"/>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3" name="Picture 6">
            <a:extLst>
              <a:ext uri="{FF2B5EF4-FFF2-40B4-BE49-F238E27FC236}">
                <a16:creationId xmlns:a16="http://schemas.microsoft.com/office/drawing/2014/main" id="{3394A911-CD7E-55BE-B47F-BC9ED4A24CCE}"/>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4" name="TextBox 1">
            <a:extLst>
              <a:ext uri="{FF2B5EF4-FFF2-40B4-BE49-F238E27FC236}">
                <a16:creationId xmlns:a16="http://schemas.microsoft.com/office/drawing/2014/main" id="{71363C25-9E26-DACD-F8BF-BAF5D19CDE9C}"/>
              </a:ext>
            </a:extLst>
          </p:cNvPr>
          <p:cNvSpPr txBox="1">
            <a:spLocks noChangeArrowheads="1"/>
          </p:cNvSpPr>
          <p:nvPr userDrawn="1"/>
        </p:nvSpPr>
        <p:spPr bwMode="auto">
          <a:xfrm>
            <a:off x="7924800" y="4741649"/>
            <a:ext cx="40640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charset="-128"/>
              </a:defRPr>
            </a:lvl9pPr>
          </a:lstStyle>
          <a:p>
            <a:pPr algn="r" defTabSz="342900" eaLnBrk="1" fontAlgn="base" hangingPunct="1">
              <a:spcBef>
                <a:spcPct val="0"/>
              </a:spcBef>
              <a:spcAft>
                <a:spcPct val="0"/>
              </a:spcAft>
              <a:defRPr/>
            </a:pPr>
            <a:fld id="{9EF1F2C7-75B3-446D-9044-6FDDF7DEA1B0}" type="slidenum">
              <a:rPr lang="en-US" sz="900" smtClean="0">
                <a:solidFill>
                  <a:schemeClr val="bg1"/>
                </a:solidFill>
              </a:rPr>
              <a:pPr algn="r" defTabSz="342900" eaLnBrk="1" fontAlgn="base" hangingPunct="1">
                <a:spcBef>
                  <a:spcPct val="0"/>
                </a:spcBef>
                <a:spcAft>
                  <a:spcPct val="0"/>
                </a:spcAft>
                <a:defRPr/>
              </a:pPr>
              <a:t>‹#›</a:t>
            </a:fld>
            <a:endParaRPr lang="en-US" sz="800">
              <a:solidFill>
                <a:schemeClr val="bg1"/>
              </a:solidFill>
            </a:endParaRPr>
          </a:p>
        </p:txBody>
      </p:sp>
      <p:sp>
        <p:nvSpPr>
          <p:cNvPr id="6" name="Footer Placeholder 5">
            <a:extLst>
              <a:ext uri="{FF2B5EF4-FFF2-40B4-BE49-F238E27FC236}">
                <a16:creationId xmlns:a16="http://schemas.microsoft.com/office/drawing/2014/main" id="{F499EA23-0707-51BC-1D2F-59218A6762CA}"/>
              </a:ext>
            </a:extLst>
          </p:cNvPr>
          <p:cNvSpPr>
            <a:spLocks noGrp="1"/>
          </p:cNvSpPr>
          <p:nvPr>
            <p:ph type="ftr" sz="quarter" idx="11"/>
          </p:nvPr>
        </p:nvSpPr>
        <p:spPr>
          <a:xfrm>
            <a:off x="457200" y="4718630"/>
            <a:ext cx="6705600" cy="274637"/>
          </a:xfrm>
          <a:prstGeom prst="rect">
            <a:avLst/>
          </a:prstGeom>
        </p:spPr>
        <p:txBody>
          <a:bodyPr anchor="ctr"/>
          <a:lstStyle>
            <a:lvl1pPr algn="r">
              <a:defRPr sz="1000">
                <a:solidFill>
                  <a:schemeClr val="bg1"/>
                </a:solidFill>
              </a:defRPr>
            </a:lvl1pPr>
          </a:lstStyle>
          <a:p>
            <a:endParaRPr lang="en-US"/>
          </a:p>
        </p:txBody>
      </p:sp>
    </p:spTree>
    <p:extLst>
      <p:ext uri="{BB962C8B-B14F-4D97-AF65-F5344CB8AC3E}">
        <p14:creationId xmlns:p14="http://schemas.microsoft.com/office/powerpoint/2010/main" val="1982458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476503"/>
      </p:ext>
    </p:extLst>
  </p:cSld>
  <p:clrMap bg1="lt1" tx1="dk1" bg2="lt2" tx2="dk2" accent1="accent1" accent2="accent2" accent3="accent3" accent4="accent4" accent5="accent5" accent6="accent6" hlink="hlink" folHlink="folHlink"/>
  <p:sldLayoutIdLst>
    <p:sldLayoutId id="2147483697"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704" r:id="rId16"/>
    <p:sldLayoutId id="2147483693" r:id="rId17"/>
    <p:sldLayoutId id="2147483694" r:id="rId18"/>
    <p:sldLayoutId id="2147483695" r:id="rId19"/>
    <p:sldLayoutId id="2147483703" r:id="rId20"/>
    <p:sldLayoutId id="2147483718" r:id="rId21"/>
    <p:sldLayoutId id="2147483699" r:id="rId22"/>
    <p:sldLayoutId id="2147483705" r:id="rId23"/>
    <p:sldLayoutId id="2147483696" r:id="rId24"/>
    <p:sldLayoutId id="2147483707" r:id="rId25"/>
    <p:sldLayoutId id="2147483708" r:id="rId26"/>
    <p:sldLayoutId id="2147483709" r:id="rId27"/>
    <p:sldLayoutId id="2147483710" r:id="rId28"/>
    <p:sldLayoutId id="2147483711" r:id="rId29"/>
    <p:sldLayoutId id="2147483717" r:id="rId30"/>
    <p:sldLayoutId id="2147483712" r:id="rId31"/>
    <p:sldLayoutId id="2147483714" r:id="rId32"/>
    <p:sldLayoutId id="2147483716" r:id="rId33"/>
    <p:sldLayoutId id="2147483700" r:id="rId34"/>
    <p:sldLayoutId id="2147483706" r:id="rId35"/>
    <p:sldLayoutId id="2147483698" r:id="rId36"/>
    <p:sldLayoutId id="2147483702" r:id="rId37"/>
  </p:sldLayoutIdLst>
  <p:hf sldNum="0" hdr="0" dt="0"/>
  <p:txStyles>
    <p:titleStyle>
      <a:lvl1pPr algn="ctr" defTabSz="342892" rtl="0" eaLnBrk="1" fontAlgn="base" hangingPunct="1">
        <a:spcBef>
          <a:spcPct val="0"/>
        </a:spcBef>
        <a:spcAft>
          <a:spcPct val="0"/>
        </a:spcAft>
        <a:defRPr sz="3300" kern="1200">
          <a:solidFill>
            <a:schemeClr val="tx1"/>
          </a:solidFill>
          <a:latin typeface="+mj-lt"/>
          <a:ea typeface="ＭＳ Ｐゴシック" charset="-128"/>
          <a:cs typeface="ＭＳ Ｐゴシック" charset="-128"/>
        </a:defRPr>
      </a:lvl1pPr>
      <a:lvl2pPr algn="ctr" defTabSz="342892" rtl="0" eaLnBrk="1" fontAlgn="base" hangingPunct="1">
        <a:spcBef>
          <a:spcPct val="0"/>
        </a:spcBef>
        <a:spcAft>
          <a:spcPct val="0"/>
        </a:spcAft>
        <a:defRPr sz="3300">
          <a:solidFill>
            <a:schemeClr val="tx1"/>
          </a:solidFill>
          <a:latin typeface="Calibri" charset="0"/>
          <a:ea typeface="ＭＳ Ｐゴシック" charset="-128"/>
          <a:cs typeface="ＭＳ Ｐゴシック" charset="-128"/>
        </a:defRPr>
      </a:lvl2pPr>
      <a:lvl3pPr algn="ctr" defTabSz="342892" rtl="0" eaLnBrk="1" fontAlgn="base" hangingPunct="1">
        <a:spcBef>
          <a:spcPct val="0"/>
        </a:spcBef>
        <a:spcAft>
          <a:spcPct val="0"/>
        </a:spcAft>
        <a:defRPr sz="3300">
          <a:solidFill>
            <a:schemeClr val="tx1"/>
          </a:solidFill>
          <a:latin typeface="Calibri" charset="0"/>
          <a:ea typeface="ＭＳ Ｐゴシック" charset="-128"/>
          <a:cs typeface="ＭＳ Ｐゴシック" charset="-128"/>
        </a:defRPr>
      </a:lvl3pPr>
      <a:lvl4pPr algn="ctr" defTabSz="342892" rtl="0" eaLnBrk="1" fontAlgn="base" hangingPunct="1">
        <a:spcBef>
          <a:spcPct val="0"/>
        </a:spcBef>
        <a:spcAft>
          <a:spcPct val="0"/>
        </a:spcAft>
        <a:defRPr sz="3300">
          <a:solidFill>
            <a:schemeClr val="tx1"/>
          </a:solidFill>
          <a:latin typeface="Calibri" charset="0"/>
          <a:ea typeface="ＭＳ Ｐゴシック" charset="-128"/>
          <a:cs typeface="ＭＳ Ｐゴシック" charset="-128"/>
        </a:defRPr>
      </a:lvl4pPr>
      <a:lvl5pPr algn="ctr" defTabSz="342892" rtl="0" eaLnBrk="1" fontAlgn="base" hangingPunct="1">
        <a:spcBef>
          <a:spcPct val="0"/>
        </a:spcBef>
        <a:spcAft>
          <a:spcPct val="0"/>
        </a:spcAft>
        <a:defRPr sz="3300">
          <a:solidFill>
            <a:schemeClr val="tx1"/>
          </a:solidFill>
          <a:latin typeface="Calibri" charset="0"/>
          <a:ea typeface="ＭＳ Ｐゴシック" charset="-128"/>
          <a:cs typeface="ＭＳ Ｐゴシック" charset="-128"/>
        </a:defRPr>
      </a:lvl5pPr>
      <a:lvl6pPr marL="342892" algn="ctr" defTabSz="342892" rtl="0" eaLnBrk="1" fontAlgn="base" hangingPunct="1">
        <a:spcBef>
          <a:spcPct val="0"/>
        </a:spcBef>
        <a:spcAft>
          <a:spcPct val="0"/>
        </a:spcAft>
        <a:defRPr sz="3300">
          <a:solidFill>
            <a:schemeClr val="tx1"/>
          </a:solidFill>
          <a:latin typeface="Calibri" charset="0"/>
          <a:ea typeface="ＭＳ Ｐゴシック" charset="-128"/>
          <a:cs typeface="ＭＳ Ｐゴシック" charset="-128"/>
        </a:defRPr>
      </a:lvl6pPr>
      <a:lvl7pPr marL="685783" algn="ctr" defTabSz="342892" rtl="0" eaLnBrk="1" fontAlgn="base" hangingPunct="1">
        <a:spcBef>
          <a:spcPct val="0"/>
        </a:spcBef>
        <a:spcAft>
          <a:spcPct val="0"/>
        </a:spcAft>
        <a:defRPr sz="3300">
          <a:solidFill>
            <a:schemeClr val="tx1"/>
          </a:solidFill>
          <a:latin typeface="Calibri" charset="0"/>
          <a:ea typeface="ＭＳ Ｐゴシック" charset="-128"/>
          <a:cs typeface="ＭＳ Ｐゴシック" charset="-128"/>
        </a:defRPr>
      </a:lvl7pPr>
      <a:lvl8pPr marL="1028675" algn="ctr" defTabSz="342892" rtl="0" eaLnBrk="1" fontAlgn="base" hangingPunct="1">
        <a:spcBef>
          <a:spcPct val="0"/>
        </a:spcBef>
        <a:spcAft>
          <a:spcPct val="0"/>
        </a:spcAft>
        <a:defRPr sz="3300">
          <a:solidFill>
            <a:schemeClr val="tx1"/>
          </a:solidFill>
          <a:latin typeface="Calibri" charset="0"/>
          <a:ea typeface="ＭＳ Ｐゴシック" charset="-128"/>
          <a:cs typeface="ＭＳ Ｐゴシック" charset="-128"/>
        </a:defRPr>
      </a:lvl8pPr>
      <a:lvl9pPr marL="1371566" algn="ctr" defTabSz="342892" rtl="0" eaLnBrk="1" fontAlgn="base" hangingPunct="1">
        <a:spcBef>
          <a:spcPct val="0"/>
        </a:spcBef>
        <a:spcAft>
          <a:spcPct val="0"/>
        </a:spcAft>
        <a:defRPr sz="3300">
          <a:solidFill>
            <a:schemeClr val="tx1"/>
          </a:solidFill>
          <a:latin typeface="Calibri" charset="0"/>
          <a:ea typeface="ＭＳ Ｐゴシック" charset="-128"/>
          <a:cs typeface="ＭＳ Ｐゴシック" charset="-128"/>
        </a:defRPr>
      </a:lvl9pPr>
    </p:titleStyle>
    <p:bodyStyle>
      <a:lvl1pPr marL="257168" indent="-257168" algn="l" defTabSz="342892"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ＭＳ Ｐゴシック" charset="-128"/>
        </a:defRPr>
      </a:lvl1pPr>
      <a:lvl2pPr marL="557199" indent="-214308" algn="l" defTabSz="342892" rtl="0" eaLnBrk="1" fontAlgn="base" hangingPunct="1">
        <a:spcBef>
          <a:spcPct val="20000"/>
        </a:spcBef>
        <a:spcAft>
          <a:spcPct val="0"/>
        </a:spcAft>
        <a:buFont typeface="Arial" charset="0"/>
        <a:buChar char="–"/>
        <a:defRPr sz="2100" kern="1200">
          <a:solidFill>
            <a:schemeClr val="tx1"/>
          </a:solidFill>
          <a:latin typeface="+mn-lt"/>
          <a:ea typeface="ＭＳ Ｐゴシック" charset="-128"/>
          <a:cs typeface="+mn-cs"/>
        </a:defRPr>
      </a:lvl2pPr>
      <a:lvl3pPr marL="857228" indent="-171446" algn="l" defTabSz="342892" rtl="0" eaLnBrk="1" fontAlgn="base" hangingPunct="1">
        <a:spcBef>
          <a:spcPct val="20000"/>
        </a:spcBef>
        <a:spcAft>
          <a:spcPct val="0"/>
        </a:spcAft>
        <a:buFont typeface="Arial" charset="0"/>
        <a:buChar char="•"/>
        <a:defRPr sz="1800" kern="1200">
          <a:solidFill>
            <a:schemeClr val="tx1"/>
          </a:solidFill>
          <a:latin typeface="+mn-lt"/>
          <a:ea typeface="ＭＳ Ｐゴシック" charset="-128"/>
          <a:cs typeface="+mn-cs"/>
        </a:defRPr>
      </a:lvl3pPr>
      <a:lvl4pPr marL="1200120" indent="-171446" algn="l" defTabSz="342892" rtl="0" eaLnBrk="1" fontAlgn="base" hangingPunct="1">
        <a:spcBef>
          <a:spcPct val="20000"/>
        </a:spcBef>
        <a:spcAft>
          <a:spcPct val="0"/>
        </a:spcAft>
        <a:buFont typeface="Arial" charset="0"/>
        <a:buChar char="–"/>
        <a:defRPr sz="1500" kern="1200">
          <a:solidFill>
            <a:schemeClr val="tx1"/>
          </a:solidFill>
          <a:latin typeface="+mn-lt"/>
          <a:ea typeface="ＭＳ Ｐゴシック" charset="-128"/>
          <a:cs typeface="+mn-cs"/>
        </a:defRPr>
      </a:lvl4pPr>
      <a:lvl5pPr marL="1543012" indent="-171446" algn="l" defTabSz="342892" rtl="0" eaLnBrk="1" fontAlgn="base" hangingPunct="1">
        <a:spcBef>
          <a:spcPct val="20000"/>
        </a:spcBef>
        <a:spcAft>
          <a:spcPct val="0"/>
        </a:spcAft>
        <a:buFont typeface="Arial" charset="0"/>
        <a:buChar char="»"/>
        <a:defRPr sz="1500" kern="1200">
          <a:solidFill>
            <a:schemeClr val="tx1"/>
          </a:solidFill>
          <a:latin typeface="+mn-lt"/>
          <a:ea typeface="ＭＳ Ｐゴシック" charset="-128"/>
          <a:cs typeface="+mn-cs"/>
        </a:defRPr>
      </a:lvl5pPr>
      <a:lvl6pPr marL="1885903" indent="-171446" algn="l" defTabSz="342892" rtl="0" eaLnBrk="1" latinLnBrk="0" hangingPunct="1">
        <a:spcBef>
          <a:spcPct val="20000"/>
        </a:spcBef>
        <a:buFont typeface="Arial"/>
        <a:buChar char="•"/>
        <a:defRPr sz="1500" kern="1200">
          <a:solidFill>
            <a:schemeClr val="tx1"/>
          </a:solidFill>
          <a:latin typeface="+mn-lt"/>
          <a:ea typeface="+mn-ea"/>
          <a:cs typeface="+mn-cs"/>
        </a:defRPr>
      </a:lvl6pPr>
      <a:lvl7pPr marL="2228795" indent="-171446" algn="l" defTabSz="342892" rtl="0" eaLnBrk="1" latinLnBrk="0" hangingPunct="1">
        <a:spcBef>
          <a:spcPct val="20000"/>
        </a:spcBef>
        <a:buFont typeface="Arial"/>
        <a:buChar char="•"/>
        <a:defRPr sz="1500" kern="1200">
          <a:solidFill>
            <a:schemeClr val="tx1"/>
          </a:solidFill>
          <a:latin typeface="+mn-lt"/>
          <a:ea typeface="+mn-ea"/>
          <a:cs typeface="+mn-cs"/>
        </a:defRPr>
      </a:lvl7pPr>
      <a:lvl8pPr marL="2571686" indent="-171446" algn="l" defTabSz="342892" rtl="0" eaLnBrk="1" latinLnBrk="0" hangingPunct="1">
        <a:spcBef>
          <a:spcPct val="20000"/>
        </a:spcBef>
        <a:buFont typeface="Arial"/>
        <a:buChar char="•"/>
        <a:defRPr sz="1500" kern="1200">
          <a:solidFill>
            <a:schemeClr val="tx1"/>
          </a:solidFill>
          <a:latin typeface="+mn-lt"/>
          <a:ea typeface="+mn-ea"/>
          <a:cs typeface="+mn-cs"/>
        </a:defRPr>
      </a:lvl8pPr>
      <a:lvl9pPr marL="2914577" indent="-171446" algn="l" defTabSz="342892"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892" rtl="0" eaLnBrk="1" latinLnBrk="0" hangingPunct="1">
        <a:defRPr sz="1350" kern="1200">
          <a:solidFill>
            <a:schemeClr val="tx1"/>
          </a:solidFill>
          <a:latin typeface="+mn-lt"/>
          <a:ea typeface="+mn-ea"/>
          <a:cs typeface="+mn-cs"/>
        </a:defRPr>
      </a:lvl1pPr>
      <a:lvl2pPr marL="342892" algn="l" defTabSz="342892" rtl="0" eaLnBrk="1" latinLnBrk="0" hangingPunct="1">
        <a:defRPr sz="1350" kern="1200">
          <a:solidFill>
            <a:schemeClr val="tx1"/>
          </a:solidFill>
          <a:latin typeface="+mn-lt"/>
          <a:ea typeface="+mn-ea"/>
          <a:cs typeface="+mn-cs"/>
        </a:defRPr>
      </a:lvl2pPr>
      <a:lvl3pPr marL="685783" algn="l" defTabSz="342892" rtl="0" eaLnBrk="1" latinLnBrk="0" hangingPunct="1">
        <a:defRPr sz="1350" kern="1200">
          <a:solidFill>
            <a:schemeClr val="tx1"/>
          </a:solidFill>
          <a:latin typeface="+mn-lt"/>
          <a:ea typeface="+mn-ea"/>
          <a:cs typeface="+mn-cs"/>
        </a:defRPr>
      </a:lvl3pPr>
      <a:lvl4pPr marL="1028675" algn="l" defTabSz="342892" rtl="0" eaLnBrk="1" latinLnBrk="0" hangingPunct="1">
        <a:defRPr sz="1350" kern="1200">
          <a:solidFill>
            <a:schemeClr val="tx1"/>
          </a:solidFill>
          <a:latin typeface="+mn-lt"/>
          <a:ea typeface="+mn-ea"/>
          <a:cs typeface="+mn-cs"/>
        </a:defRPr>
      </a:lvl4pPr>
      <a:lvl5pPr marL="1371566" algn="l" defTabSz="342892" rtl="0" eaLnBrk="1" latinLnBrk="0" hangingPunct="1">
        <a:defRPr sz="1350" kern="1200">
          <a:solidFill>
            <a:schemeClr val="tx1"/>
          </a:solidFill>
          <a:latin typeface="+mn-lt"/>
          <a:ea typeface="+mn-ea"/>
          <a:cs typeface="+mn-cs"/>
        </a:defRPr>
      </a:lvl5pPr>
      <a:lvl6pPr marL="1714457" algn="l" defTabSz="342892" rtl="0" eaLnBrk="1" latinLnBrk="0" hangingPunct="1">
        <a:defRPr sz="1350" kern="1200">
          <a:solidFill>
            <a:schemeClr val="tx1"/>
          </a:solidFill>
          <a:latin typeface="+mn-lt"/>
          <a:ea typeface="+mn-ea"/>
          <a:cs typeface="+mn-cs"/>
        </a:defRPr>
      </a:lvl6pPr>
      <a:lvl7pPr marL="2057348" algn="l" defTabSz="342892" rtl="0" eaLnBrk="1" latinLnBrk="0" hangingPunct="1">
        <a:defRPr sz="1350" kern="1200">
          <a:solidFill>
            <a:schemeClr val="tx1"/>
          </a:solidFill>
          <a:latin typeface="+mn-lt"/>
          <a:ea typeface="+mn-ea"/>
          <a:cs typeface="+mn-cs"/>
        </a:defRPr>
      </a:lvl7pPr>
      <a:lvl8pPr marL="2400240" algn="l" defTabSz="342892" rtl="0" eaLnBrk="1" latinLnBrk="0" hangingPunct="1">
        <a:defRPr sz="1350" kern="1200">
          <a:solidFill>
            <a:schemeClr val="tx1"/>
          </a:solidFill>
          <a:latin typeface="+mn-lt"/>
          <a:ea typeface="+mn-ea"/>
          <a:cs typeface="+mn-cs"/>
        </a:defRPr>
      </a:lvl8pPr>
      <a:lvl9pPr marL="2743132" algn="l" defTabSz="342892"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D9F029E-ED72-2083-3569-58DD1522EA1C}"/>
              </a:ext>
            </a:extLst>
          </p:cNvPr>
          <p:cNvSpPr>
            <a:spLocks noGrp="1"/>
          </p:cNvSpPr>
          <p:nvPr>
            <p:ph type="body" sz="quarter" idx="13"/>
          </p:nvPr>
        </p:nvSpPr>
        <p:spPr/>
        <p:txBody>
          <a:bodyPr/>
          <a:lstStyle/>
          <a:p>
            <a:r>
              <a:rPr lang="en-US"/>
              <a:t>September 14, 2026</a:t>
            </a:r>
          </a:p>
        </p:txBody>
      </p:sp>
      <p:sp>
        <p:nvSpPr>
          <p:cNvPr id="6" name="Text Placeholder 5">
            <a:extLst>
              <a:ext uri="{FF2B5EF4-FFF2-40B4-BE49-F238E27FC236}">
                <a16:creationId xmlns:a16="http://schemas.microsoft.com/office/drawing/2014/main" id="{45F29647-3EEE-B2EA-C33E-F45C737876F5}"/>
              </a:ext>
            </a:extLst>
          </p:cNvPr>
          <p:cNvSpPr>
            <a:spLocks noGrp="1"/>
          </p:cNvSpPr>
          <p:nvPr>
            <p:ph type="body" sz="quarter" idx="11"/>
          </p:nvPr>
        </p:nvSpPr>
        <p:spPr/>
        <p:txBody>
          <a:bodyPr/>
          <a:lstStyle/>
          <a:p>
            <a:r>
              <a:rPr lang="en-US"/>
              <a:t>posit::conf(2026)</a:t>
            </a:r>
          </a:p>
        </p:txBody>
      </p:sp>
      <p:sp>
        <p:nvSpPr>
          <p:cNvPr id="2" name="Title 1">
            <a:extLst>
              <a:ext uri="{FF2B5EF4-FFF2-40B4-BE49-F238E27FC236}">
                <a16:creationId xmlns:a16="http://schemas.microsoft.com/office/drawing/2014/main" id="{C14BE845-99A5-45F4-BFE3-7665717BB9A3}"/>
              </a:ext>
            </a:extLst>
          </p:cNvPr>
          <p:cNvSpPr>
            <a:spLocks noGrp="1"/>
          </p:cNvSpPr>
          <p:nvPr>
            <p:ph type="title"/>
          </p:nvPr>
        </p:nvSpPr>
        <p:spPr>
          <a:xfrm>
            <a:off x="495300" y="1443038"/>
            <a:ext cx="4686300" cy="994172"/>
          </a:xfrm>
        </p:spPr>
        <p:txBody>
          <a:bodyPr anchor="b"/>
          <a:lstStyle/>
          <a:p>
            <a:r>
              <a:rPr lang="en-US"/>
              <a:t>AI/ML SOS IDK</a:t>
            </a:r>
          </a:p>
        </p:txBody>
      </p:sp>
      <p:pic>
        <p:nvPicPr>
          <p:cNvPr id="10" name="Picture Placeholder 9" descr="Maze">
            <a:extLst>
              <a:ext uri="{FF2B5EF4-FFF2-40B4-BE49-F238E27FC236}">
                <a16:creationId xmlns:a16="http://schemas.microsoft.com/office/drawing/2014/main" id="{45EFB39C-6F2D-6BC9-1E19-9CD600BB4D01}"/>
              </a:ext>
            </a:extLst>
          </p:cNvPr>
          <p:cNvPicPr>
            <a:picLocks noGrp="1" noChangeAspect="1"/>
          </p:cNvPicPr>
          <p:nvPr>
            <p:ph type="pic" sz="quarter" idx="14"/>
          </p:nvPr>
        </p:nvPicPr>
        <p:blipFill>
          <a:blip r:embed="rId3" cstate="print">
            <a:extLst>
              <a:ext uri="{28A0092B-C50C-407E-A947-70E740481C1C}">
                <a14:useLocalDpi xmlns:a14="http://schemas.microsoft.com/office/drawing/2010/main" val="0"/>
              </a:ext>
            </a:extLst>
          </a:blip>
          <a:srcRect l="11583" r="11583"/>
          <a:stretch>
            <a:fillRect/>
          </a:stretch>
        </p:blipFill>
        <p:spPr/>
      </p:pic>
      <p:sp>
        <p:nvSpPr>
          <p:cNvPr id="14" name="Text Placeholder 5">
            <a:extLst>
              <a:ext uri="{FF2B5EF4-FFF2-40B4-BE49-F238E27FC236}">
                <a16:creationId xmlns:a16="http://schemas.microsoft.com/office/drawing/2014/main" id="{F429C89D-6030-5CA3-0250-7E5B3E100D2D}"/>
              </a:ext>
            </a:extLst>
          </p:cNvPr>
          <p:cNvSpPr txBox="1">
            <a:spLocks/>
          </p:cNvSpPr>
          <p:nvPr/>
        </p:nvSpPr>
        <p:spPr>
          <a:xfrm>
            <a:off x="495300" y="3793330"/>
            <a:ext cx="4686300" cy="785813"/>
          </a:xfrm>
          <a:prstGeom prst="rect">
            <a:avLst/>
          </a:prstGeom>
        </p:spPr>
        <p:txBody>
          <a:bodyPr anchor="t"/>
          <a:lstStyle>
            <a:lvl1pPr marL="0" indent="0" algn="l" defTabSz="342892" rtl="0" eaLnBrk="1" fontAlgn="base" hangingPunct="1">
              <a:spcBef>
                <a:spcPct val="20000"/>
              </a:spcBef>
              <a:spcAft>
                <a:spcPct val="0"/>
              </a:spcAft>
              <a:buFont typeface="Arial" charset="0"/>
              <a:buNone/>
              <a:defRPr sz="1800" kern="1200" baseline="0">
                <a:solidFill>
                  <a:schemeClr val="tx1">
                    <a:lumMod val="75000"/>
                    <a:lumOff val="25000"/>
                  </a:schemeClr>
                </a:solidFill>
                <a:latin typeface="+mn-lt"/>
                <a:ea typeface="ＭＳ Ｐゴシック" charset="-128"/>
                <a:cs typeface="ＭＳ Ｐゴシック" charset="-128"/>
              </a:defRPr>
            </a:lvl1pPr>
            <a:lvl2pPr marL="557199" indent="-214308" algn="l" defTabSz="342892" rtl="0" eaLnBrk="1" fontAlgn="base" hangingPunct="1">
              <a:spcBef>
                <a:spcPct val="20000"/>
              </a:spcBef>
              <a:spcAft>
                <a:spcPct val="0"/>
              </a:spcAft>
              <a:buFont typeface="Arial" charset="0"/>
              <a:buChar char="–"/>
              <a:defRPr sz="2100" kern="1200">
                <a:solidFill>
                  <a:schemeClr val="tx1"/>
                </a:solidFill>
                <a:latin typeface="+mn-lt"/>
                <a:ea typeface="ＭＳ Ｐゴシック" charset="-128"/>
                <a:cs typeface="+mn-cs"/>
              </a:defRPr>
            </a:lvl2pPr>
            <a:lvl3pPr marL="857228" indent="-171446" algn="l" defTabSz="342892" rtl="0" eaLnBrk="1" fontAlgn="base" hangingPunct="1">
              <a:spcBef>
                <a:spcPct val="20000"/>
              </a:spcBef>
              <a:spcAft>
                <a:spcPct val="0"/>
              </a:spcAft>
              <a:buFont typeface="Arial" charset="0"/>
              <a:buChar char="•"/>
              <a:defRPr sz="1800" kern="1200">
                <a:solidFill>
                  <a:schemeClr val="tx1"/>
                </a:solidFill>
                <a:latin typeface="+mn-lt"/>
                <a:ea typeface="ＭＳ Ｐゴシック" charset="-128"/>
                <a:cs typeface="+mn-cs"/>
              </a:defRPr>
            </a:lvl3pPr>
            <a:lvl4pPr marL="1200120" indent="-171446" algn="l" defTabSz="342892" rtl="0" eaLnBrk="1" fontAlgn="base" hangingPunct="1">
              <a:spcBef>
                <a:spcPct val="20000"/>
              </a:spcBef>
              <a:spcAft>
                <a:spcPct val="0"/>
              </a:spcAft>
              <a:buFont typeface="Arial" charset="0"/>
              <a:buChar char="–"/>
              <a:defRPr sz="1500" kern="1200">
                <a:solidFill>
                  <a:schemeClr val="tx1"/>
                </a:solidFill>
                <a:latin typeface="+mn-lt"/>
                <a:ea typeface="ＭＳ Ｐゴシック" charset="-128"/>
                <a:cs typeface="+mn-cs"/>
              </a:defRPr>
            </a:lvl4pPr>
            <a:lvl5pPr marL="1543012" indent="-171446" algn="l" defTabSz="342892" rtl="0" eaLnBrk="1" fontAlgn="base" hangingPunct="1">
              <a:spcBef>
                <a:spcPct val="20000"/>
              </a:spcBef>
              <a:spcAft>
                <a:spcPct val="0"/>
              </a:spcAft>
              <a:buFont typeface="Arial" charset="0"/>
              <a:buChar char="»"/>
              <a:defRPr sz="1500" kern="1200">
                <a:solidFill>
                  <a:schemeClr val="tx1"/>
                </a:solidFill>
                <a:latin typeface="+mn-lt"/>
                <a:ea typeface="ＭＳ Ｐゴシック" charset="-128"/>
                <a:cs typeface="+mn-cs"/>
              </a:defRPr>
            </a:lvl5pPr>
            <a:lvl6pPr marL="1885903" indent="-171446" algn="l" defTabSz="342892" rtl="0" eaLnBrk="1" latinLnBrk="0" hangingPunct="1">
              <a:spcBef>
                <a:spcPct val="20000"/>
              </a:spcBef>
              <a:buFont typeface="Arial"/>
              <a:buChar char="•"/>
              <a:defRPr sz="1500" kern="1200">
                <a:solidFill>
                  <a:schemeClr val="tx1"/>
                </a:solidFill>
                <a:latin typeface="+mn-lt"/>
                <a:ea typeface="+mn-ea"/>
                <a:cs typeface="+mn-cs"/>
              </a:defRPr>
            </a:lvl6pPr>
            <a:lvl7pPr marL="2228795" indent="-171446" algn="l" defTabSz="342892" rtl="0" eaLnBrk="1" latinLnBrk="0" hangingPunct="1">
              <a:spcBef>
                <a:spcPct val="20000"/>
              </a:spcBef>
              <a:buFont typeface="Arial"/>
              <a:buChar char="•"/>
              <a:defRPr sz="1500" kern="1200">
                <a:solidFill>
                  <a:schemeClr val="tx1"/>
                </a:solidFill>
                <a:latin typeface="+mn-lt"/>
                <a:ea typeface="+mn-ea"/>
                <a:cs typeface="+mn-cs"/>
              </a:defRPr>
            </a:lvl7pPr>
            <a:lvl8pPr marL="2571686" indent="-171446" algn="l" defTabSz="342892" rtl="0" eaLnBrk="1" latinLnBrk="0" hangingPunct="1">
              <a:spcBef>
                <a:spcPct val="20000"/>
              </a:spcBef>
              <a:buFont typeface="Arial"/>
              <a:buChar char="•"/>
              <a:defRPr sz="1500" kern="1200">
                <a:solidFill>
                  <a:schemeClr val="tx1"/>
                </a:solidFill>
                <a:latin typeface="+mn-lt"/>
                <a:ea typeface="+mn-ea"/>
                <a:cs typeface="+mn-cs"/>
              </a:defRPr>
            </a:lvl8pPr>
            <a:lvl9pPr marL="2914577" indent="-171446" algn="l" defTabSz="342892" rtl="0" eaLnBrk="1" latinLnBrk="0" hangingPunct="1">
              <a:spcBef>
                <a:spcPct val="20000"/>
              </a:spcBef>
              <a:buFont typeface="Arial"/>
              <a:buChar char="•"/>
              <a:defRPr sz="1500" kern="1200">
                <a:solidFill>
                  <a:schemeClr val="tx1"/>
                </a:solidFill>
                <a:latin typeface="+mn-lt"/>
                <a:ea typeface="+mn-ea"/>
                <a:cs typeface="+mn-cs"/>
              </a:defRPr>
            </a:lvl9pPr>
          </a:lstStyle>
          <a:p>
            <a:r>
              <a:rPr lang="en-US"/>
              <a:t>Kathryn Cronquist and Olivia Hebner</a:t>
            </a:r>
          </a:p>
        </p:txBody>
      </p:sp>
    </p:spTree>
    <p:extLst>
      <p:ext uri="{BB962C8B-B14F-4D97-AF65-F5344CB8AC3E}">
        <p14:creationId xmlns:p14="http://schemas.microsoft.com/office/powerpoint/2010/main" val="3597496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148D8-9FD6-3A73-876C-6D9ED3888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D23CA-A91B-3498-3C1E-2BBDEADDD35B}"/>
              </a:ext>
            </a:extLst>
          </p:cNvPr>
          <p:cNvSpPr>
            <a:spLocks noGrp="1"/>
          </p:cNvSpPr>
          <p:nvPr>
            <p:ph type="title"/>
          </p:nvPr>
        </p:nvSpPr>
        <p:spPr/>
        <p:txBody>
          <a:bodyPr/>
          <a:lstStyle/>
          <a:p>
            <a:r>
              <a:rPr lang="en-US"/>
              <a:t>Disclaimer(s)</a:t>
            </a:r>
          </a:p>
        </p:txBody>
      </p:sp>
      <p:pic>
        <p:nvPicPr>
          <p:cNvPr id="7" name="Picture 6" descr="Small_Logo.jpg">
            <a:extLst>
              <a:ext uri="{FF2B5EF4-FFF2-40B4-BE49-F238E27FC236}">
                <a16:creationId xmlns:a16="http://schemas.microsoft.com/office/drawing/2014/main" id="{1E67172C-9A34-5B18-F835-C24499DE88C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D5A60B8E-B482-9E48-42D2-382508010740}"/>
              </a:ext>
            </a:extLst>
          </p:cNvPr>
          <p:cNvSpPr txBox="1"/>
          <p:nvPr/>
        </p:nvSpPr>
        <p:spPr>
          <a:xfrm>
            <a:off x="190500" y="1047750"/>
            <a:ext cx="8763000" cy="3170099"/>
          </a:xfrm>
          <a:prstGeom prst="rect">
            <a:avLst/>
          </a:prstGeom>
          <a:noFill/>
        </p:spPr>
        <p:txBody>
          <a:bodyPr wrap="square">
            <a:spAutoFit/>
          </a:bodyPr>
          <a:lstStyle/>
          <a:p>
            <a:pPr marL="285750" indent="-285750">
              <a:buFont typeface="Arial" panose="020B0604020202020204" pitchFamily="34" charset="0"/>
              <a:buChar char="•"/>
            </a:pPr>
            <a:r>
              <a:rPr lang="en-US" sz="2000"/>
              <a:t>The views expressed in this presentation are solely those of the presenters and do not represent the views of Summit Consulting, LLC, the National Women’s Soccer League (NWSL), or the Washington Spirit. This presentation is not affiliated with, sponsored by, or endorsed by the NWSL or the Washington Spirit.</a:t>
            </a:r>
          </a:p>
          <a:p>
            <a:pPr marL="285750" indent="-285750">
              <a:buFont typeface="Arial" panose="020B0604020202020204" pitchFamily="34" charset="0"/>
              <a:buChar char="•"/>
            </a:pPr>
            <a:endParaRPr lang="en-US" sz="2000"/>
          </a:p>
          <a:p>
            <a:pPr marL="285750" indent="-285750">
              <a:buFont typeface="Arial" panose="020B0604020202020204" pitchFamily="34" charset="0"/>
              <a:buChar char="•"/>
            </a:pPr>
            <a:r>
              <a:rPr lang="en-US" sz="2000"/>
              <a:t>We’re data scientists and passionate fans, not soccer experts. Our soccer credentials include cheering loudly, blindly questioning the referee, and always believing in our team. Please direct any complaints about our predictions to the random forest. Go Spirit!</a:t>
            </a:r>
          </a:p>
        </p:txBody>
      </p:sp>
    </p:spTree>
    <p:extLst>
      <p:ext uri="{BB962C8B-B14F-4D97-AF65-F5344CB8AC3E}">
        <p14:creationId xmlns:p14="http://schemas.microsoft.com/office/powerpoint/2010/main" val="2265506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CD213F-CFAF-426B-E65F-FF401BDD3992}"/>
              </a:ext>
            </a:extLst>
          </p:cNvPr>
          <p:cNvSpPr txBox="1"/>
          <p:nvPr/>
        </p:nvSpPr>
        <p:spPr>
          <a:xfrm>
            <a:off x="800100" y="1200150"/>
            <a:ext cx="7543800" cy="2145268"/>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6000" b="1">
                <a:solidFill>
                  <a:srgbClr val="050D3C"/>
                </a:solidFill>
              </a:rPr>
              <a:t>So…you want to try machine learning?</a:t>
            </a:r>
          </a:p>
        </p:txBody>
      </p:sp>
    </p:spTree>
    <p:extLst>
      <p:ext uri="{BB962C8B-B14F-4D97-AF65-F5344CB8AC3E}">
        <p14:creationId xmlns:p14="http://schemas.microsoft.com/office/powerpoint/2010/main" val="2269482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D21B2-68A6-EDD9-2E55-F382C55427C9}"/>
            </a:ext>
          </a:extLst>
        </p:cNvPr>
        <p:cNvGrpSpPr/>
        <p:nvPr/>
      </p:nvGrpSpPr>
      <p:grpSpPr>
        <a:xfrm>
          <a:off x="0" y="0"/>
          <a:ext cx="0" cy="0"/>
          <a:chOff x="0" y="0"/>
          <a:chExt cx="0" cy="0"/>
        </a:xfrm>
      </p:grpSpPr>
      <p:sp>
        <p:nvSpPr>
          <p:cNvPr id="9" name="Term Wall"/>
          <p:cNvSpPr txBox="1"/>
          <p:nvPr/>
        </p:nvSpPr>
        <p:spPr>
          <a:xfrm>
            <a:off x="228600" y="152400"/>
            <a:ext cx="8686800" cy="4457700"/>
          </a:xfrm>
          <a:prstGeom prst="rect">
            <a:avLst/>
          </a:prstGeom>
          <a:noFill/>
        </p:spPr>
        <p:txBody>
          <a:bodyPr wrap="square" lIns="45720" tIns="45720" rIns="45720" bIns="45720" anchor="ctr">
            <a:normAutofit/>
          </a:bodyPr>
          <a:lstStyle/>
          <a:p>
            <a:pPr algn="ctr"/>
            <a:r>
              <a:rPr lang="en-US" sz="1300" b="1">
                <a:solidFill>
                  <a:srgbClr val="050D3C">
                    <a:alpha val="30000"/>
                  </a:srgbClr>
                </a:solidFill>
              </a:rPr>
              <a:t>tidymodels • scikit-learn • TensorFlow • PyTorch • XGBoost • random forest • neural networks • MLflow • recipes • parsnip • workflows • tuning • cross-validation • hyperparameters • feature engineering • MLOps • LLMs • embeddings • transformers • WHAT IS A PARSNIP </a:t>
            </a:r>
            <a:r>
              <a:rPr lang="en-US" sz="1300" b="1">
                <a:solidFill>
                  <a:srgbClr val="050D3C">
                    <a:alpha val="42000"/>
                  </a:srgbClr>
                </a:solidFill>
              </a:rPr>
              <a:t>• tidymodels • scikit-learn • TensorFlow • PyTorch • XGBoost • random forest • neural networks • MLflow • recipes • parsnip • workflows • tuning • cross-validation • hyperparameters • feature engineering • MLOps • LLMs • embeddings • transformers • WHAT IS A PARSNIP • </a:t>
            </a:r>
            <a:r>
              <a:rPr lang="en-US" sz="1300" b="1">
                <a:solidFill>
                  <a:srgbClr val="050D3C">
                    <a:alpha val="54000"/>
                  </a:srgbClr>
                </a:solidFill>
              </a:rPr>
              <a:t>tidymodels • scikit-learn • TensorFlow • PyTorch • XGBoost • random forest • neural networks • MLflow • recipes • parsnip • workflows • tuning • cross-validation • hyperparameters • feature engineering • MLOps • LLMs • embeddings • transformers • WHAT IS A PARSNIP </a:t>
            </a:r>
            <a:r>
              <a:rPr lang="en-US" sz="1300" b="1">
                <a:solidFill>
                  <a:srgbClr val="050D3C">
                    <a:alpha val="42000"/>
                  </a:srgbClr>
                </a:solidFill>
              </a:rPr>
              <a:t>• </a:t>
            </a:r>
            <a:r>
              <a:rPr lang="en-US" sz="1300" b="1">
                <a:solidFill>
                  <a:srgbClr val="050D3C">
                    <a:alpha val="30000"/>
                  </a:srgbClr>
                </a:solidFill>
              </a:rPr>
              <a:t>tidymodels • scikit-learn • TensorFlow • PyTorch • XGBoost • random forest • neural networks • MLflow • recipes • parsnip • workflows • tuning • cross-validation • hyperparameters • feature engineering • MLOps • LLMs • embeddings • transformers • WHAT IS A PARSNIP </a:t>
            </a:r>
            <a:r>
              <a:rPr lang="en-US" sz="1300" b="1">
                <a:solidFill>
                  <a:srgbClr val="050D3C">
                    <a:alpha val="42000"/>
                  </a:srgbClr>
                </a:solidFill>
              </a:rPr>
              <a:t>• tidymodels • scikit-learn • TensorFlow • PyTorch • XGBoost • random forest • neural networks • MLflow • recipes • parsnip • workflows • tuning • cross-validation • hyperparameters • feature engineering • MLOps • LLMs • embeddings • transformers • WHAT IS A PARSNIP • </a:t>
            </a:r>
            <a:r>
              <a:rPr lang="en-US" sz="1300" b="1">
                <a:solidFill>
                  <a:srgbClr val="050D3C">
                    <a:alpha val="54000"/>
                  </a:srgbClr>
                </a:solidFill>
              </a:rPr>
              <a:t>tidymodels • scikit-learn • TensorFlow • PyTorch • XGBoost • random forest • neural networks • MLflow • recipes • parsnip • workflows • tuning • cross-validation • hyperparameters • feature engineering • MLOps • LLMs • embeddings • transformers • WHAT IS A PARSNIP </a:t>
            </a:r>
            <a:r>
              <a:rPr lang="en-US" sz="1300" b="1">
                <a:solidFill>
                  <a:srgbClr val="050D3C">
                    <a:alpha val="42000"/>
                  </a:srgbClr>
                </a:solidFill>
              </a:rPr>
              <a:t>• </a:t>
            </a:r>
            <a:r>
              <a:rPr lang="en-US" sz="1300" b="1">
                <a:solidFill>
                  <a:srgbClr val="050D3C">
                    <a:alpha val="30000"/>
                  </a:srgbClr>
                </a:solidFill>
              </a:rPr>
              <a:t>tidymodels • scikit-learn • TensorFlow • PyTorch • XGBoost • random forest • neural networks • MLflow • recipes • parsnip • workflows • tuning • cross-validation • hyperparameters • feature engineering • MLOps • LLMs • embeddings • transformers • WHAT IS A PARSNIP </a:t>
            </a:r>
            <a:r>
              <a:rPr lang="en-US" sz="1300" b="1">
                <a:solidFill>
                  <a:srgbClr val="050D3C">
                    <a:alpha val="42000"/>
                  </a:srgbClr>
                </a:solidFill>
              </a:rPr>
              <a:t>• tidymodels • scikit-learn • TensorFlow • PyTorch • XGBoost • random forest • neural networks • MLflow • recipes • parsnip • workflows • tuning • cross-validation • hyperparameters • feature engineering • MLOps • LLMs • embeddings • transformers • WHAT IS A PARSNIP • </a:t>
            </a:r>
            <a:r>
              <a:rPr lang="en-US" sz="1300" b="1">
                <a:solidFill>
                  <a:srgbClr val="050D3C">
                    <a:alpha val="54000"/>
                  </a:srgbClr>
                </a:solidFill>
              </a:rPr>
              <a:t>tidymodels • scikit-learn • TensorFlow • PyTorch • XGBoost • random forest • neural networks • MLflow • recipes • parsnip • workflows • tuning • cross-validation • hyperparameters • feature engineering • MLOps • LLMs • embeddings • transformers • WHAT IS A PARSNIP </a:t>
            </a:r>
            <a:r>
              <a:rPr lang="en-US" sz="1300" b="1">
                <a:solidFill>
                  <a:srgbClr val="050D3C">
                    <a:alpha val="42000"/>
                  </a:srgbClr>
                </a:solidFill>
              </a:rPr>
              <a:t>• • </a:t>
            </a:r>
            <a:r>
              <a:rPr lang="en-US" sz="1300" b="1">
                <a:solidFill>
                  <a:srgbClr val="050D3C">
                    <a:alpha val="30000"/>
                  </a:srgbClr>
                </a:solidFill>
              </a:rPr>
              <a:t>tidymodels • scikit-learn • TensorFlow • PyTorch • XGBoost • random forest • neural networks • MLflow • recipes • parsnip • workflows • tuning • cross-validation • hyperparameters • feature engineering • MLOps • LLMs </a:t>
            </a:r>
            <a:endParaRPr lang="en-US" sz="1300" b="1">
              <a:solidFill>
                <a:srgbClr val="050D3C">
                  <a:alpha val="42000"/>
                </a:srgbClr>
              </a:solidFill>
            </a:endParaRPr>
          </a:p>
        </p:txBody>
      </p:sp>
    </p:spTree>
    <p:extLst>
      <p:ext uri="{BB962C8B-B14F-4D97-AF65-F5344CB8AC3E}">
        <p14:creationId xmlns:p14="http://schemas.microsoft.com/office/powerpoint/2010/main" val="2234556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400BD-20D6-7B16-B4C9-02B4A13A72F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5FA407D-FAC0-1C06-D3B7-A4E3A8700A6A}"/>
              </a:ext>
            </a:extLst>
          </p:cNvPr>
          <p:cNvSpPr txBox="1"/>
          <p:nvPr/>
        </p:nvSpPr>
        <p:spPr>
          <a:xfrm>
            <a:off x="800100" y="1809750"/>
            <a:ext cx="7543800" cy="1123712"/>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6000" b="1">
                <a:solidFill>
                  <a:srgbClr val="050D3C"/>
                </a:solidFill>
              </a:rPr>
              <a:t>Be boring!</a:t>
            </a:r>
          </a:p>
        </p:txBody>
      </p:sp>
    </p:spTree>
    <p:extLst>
      <p:ext uri="{BB962C8B-B14F-4D97-AF65-F5344CB8AC3E}">
        <p14:creationId xmlns:p14="http://schemas.microsoft.com/office/powerpoint/2010/main" val="3576704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474C6-B7FA-DB5E-910A-A457D2849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130AE-EF44-98F2-28BE-B179D88DBE12}"/>
              </a:ext>
            </a:extLst>
          </p:cNvPr>
          <p:cNvSpPr>
            <a:spLocks noGrp="1"/>
          </p:cNvSpPr>
          <p:nvPr>
            <p:ph type="title"/>
          </p:nvPr>
        </p:nvSpPr>
        <p:spPr/>
        <p:txBody>
          <a:bodyPr/>
          <a:lstStyle/>
          <a:p>
            <a:r>
              <a:rPr lang="en-US"/>
              <a:t>Purpose</a:t>
            </a:r>
          </a:p>
        </p:txBody>
      </p:sp>
      <p:pic>
        <p:nvPicPr>
          <p:cNvPr id="7" name="Picture 6" descr="Small_Logo.jpg">
            <a:extLst>
              <a:ext uri="{FF2B5EF4-FFF2-40B4-BE49-F238E27FC236}">
                <a16:creationId xmlns:a16="http://schemas.microsoft.com/office/drawing/2014/main" id="{87F493B4-DC0E-A1FF-A028-BC0DB3A1F20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C7DB1845-0F2B-CF91-9A46-A3218FEB26D6}"/>
              </a:ext>
            </a:extLst>
          </p:cNvPr>
          <p:cNvSpPr txBox="1"/>
          <p:nvPr/>
        </p:nvSpPr>
        <p:spPr>
          <a:xfrm>
            <a:off x="190500" y="1047750"/>
            <a:ext cx="8763000" cy="1815882"/>
          </a:xfrm>
          <a:prstGeom prst="rect">
            <a:avLst/>
          </a:prstGeom>
          <a:noFill/>
        </p:spPr>
        <p:txBody>
          <a:bodyPr wrap="square">
            <a:spAutoFit/>
          </a:bodyPr>
          <a:lstStyle/>
          <a:p>
            <a:pPr marL="457200" indent="-457200">
              <a:buFont typeface="Arial" panose="020B0604020202020204" pitchFamily="34" charset="0"/>
              <a:buChar char="•"/>
            </a:pPr>
            <a:r>
              <a:rPr lang="en-US" sz="2800"/>
              <a:t>Build one complete machine learning workflow in R</a:t>
            </a:r>
          </a:p>
          <a:p>
            <a:pPr marL="457200" indent="-457200">
              <a:buFont typeface="Arial" panose="020B0604020202020204" pitchFamily="34" charset="0"/>
              <a:buChar char="•"/>
            </a:pPr>
            <a:endParaRPr lang="en-US" sz="2800"/>
          </a:p>
          <a:p>
            <a:pPr marL="457200" indent="-457200">
              <a:buFont typeface="Arial" panose="020B0604020202020204" pitchFamily="34" charset="0"/>
              <a:buChar char="•"/>
            </a:pPr>
            <a:r>
              <a:rPr lang="en-US" sz="2800"/>
              <a:t>We’ll use </a:t>
            </a:r>
            <a:r>
              <a:rPr lang="en-US" sz="2800" err="1"/>
              <a:t>tidymodels</a:t>
            </a:r>
            <a:r>
              <a:rPr lang="en-US" sz="2800"/>
              <a:t> and a random forest to make a prediction from start to finish</a:t>
            </a:r>
          </a:p>
        </p:txBody>
      </p:sp>
      <p:sp>
        <p:nvSpPr>
          <p:cNvPr id="5" name="TextBox 4">
            <a:extLst>
              <a:ext uri="{FF2B5EF4-FFF2-40B4-BE49-F238E27FC236}">
                <a16:creationId xmlns:a16="http://schemas.microsoft.com/office/drawing/2014/main" id="{CF661053-ABC5-9490-51AA-5A2F42B71572}"/>
              </a:ext>
            </a:extLst>
          </p:cNvPr>
          <p:cNvSpPr txBox="1"/>
          <p:nvPr/>
        </p:nvSpPr>
        <p:spPr>
          <a:xfrm>
            <a:off x="800100" y="3428444"/>
            <a:ext cx="7543800" cy="442674"/>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2000" b="1">
                <a:solidFill>
                  <a:srgbClr val="050D3C"/>
                </a:solidFill>
              </a:rPr>
              <a:t>Split → Preprocess → Specify → Fit → Evaluate</a:t>
            </a:r>
          </a:p>
        </p:txBody>
      </p:sp>
    </p:spTree>
    <p:extLst>
      <p:ext uri="{BB962C8B-B14F-4D97-AF65-F5344CB8AC3E}">
        <p14:creationId xmlns:p14="http://schemas.microsoft.com/office/powerpoint/2010/main" val="574592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41801-D2DD-5A4C-F2FD-A35BA94D76E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7C09353-05C8-DAA0-5128-F40B97647DF2}"/>
              </a:ext>
            </a:extLst>
          </p:cNvPr>
          <p:cNvSpPr txBox="1"/>
          <p:nvPr/>
        </p:nvSpPr>
        <p:spPr>
          <a:xfrm>
            <a:off x="800100" y="742950"/>
            <a:ext cx="7543800" cy="3166824"/>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en-US" sz="6000" b="1">
                <a:solidFill>
                  <a:srgbClr val="050D3C"/>
                </a:solidFill>
              </a:rPr>
              <a:t>Will the Washington Spirit make the 2026 playoffs?</a:t>
            </a:r>
          </a:p>
        </p:txBody>
      </p:sp>
    </p:spTree>
    <p:extLst>
      <p:ext uri="{BB962C8B-B14F-4D97-AF65-F5344CB8AC3E}">
        <p14:creationId xmlns:p14="http://schemas.microsoft.com/office/powerpoint/2010/main" val="3237880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4F5E5-7007-C2A4-1986-091D3AD062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6890A-8C42-CB22-FC11-EED74E8C60C8}"/>
              </a:ext>
            </a:extLst>
          </p:cNvPr>
          <p:cNvSpPr>
            <a:spLocks noGrp="1"/>
          </p:cNvSpPr>
          <p:nvPr>
            <p:ph type="title"/>
          </p:nvPr>
        </p:nvSpPr>
        <p:spPr/>
        <p:txBody>
          <a:bodyPr/>
          <a:lstStyle/>
          <a:p>
            <a:r>
              <a:rPr lang="en-US"/>
              <a:t>Our very not boring prediction!</a:t>
            </a:r>
          </a:p>
        </p:txBody>
      </p:sp>
      <p:pic>
        <p:nvPicPr>
          <p:cNvPr id="7" name="Picture 6" descr="Small_Logo.jpg">
            <a:extLst>
              <a:ext uri="{FF2B5EF4-FFF2-40B4-BE49-F238E27FC236}">
                <a16:creationId xmlns:a16="http://schemas.microsoft.com/office/drawing/2014/main" id="{B5A46F4C-3BA1-B839-2A35-5A76347BCF8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Question Band"/>
          <p:cNvSpPr/>
          <p:nvPr/>
        </p:nvSpPr>
        <p:spPr>
          <a:xfrm>
            <a:off x="457200" y="1160000"/>
            <a:ext cx="8229600" cy="760000"/>
          </a:xfrm>
          <a:prstGeom prst="roundRect">
            <a:avLst>
              <a:gd name="adj" fmla="val 16000"/>
            </a:avLst>
          </a:prstGeom>
          <a:solidFill>
            <a:srgbClr val="0B5583"/>
          </a:solidFill>
          <a:ln>
            <a:solidFill>
              <a:srgbClr val="0B5583"/>
            </a:solidFill>
          </a:ln>
        </p:spPr>
        <p:txBody>
          <a:bodyPr wrap="square" lIns="182880" rIns="182880" anchor="ctr"/>
          <a:lstStyle/>
          <a:p>
            <a:pPr algn="ctr"/>
            <a:r>
              <a:rPr lang="en-US" sz="2200" b="1">
                <a:solidFill>
                  <a:srgbClr val="FFFFFF"/>
                </a:solidFill>
              </a:rPr>
              <a:t>Partway through a season, will this team make the playoffs?</a:t>
            </a:r>
          </a:p>
        </p:txBody>
      </p:sp>
      <p:sp>
        <p:nvSpPr>
          <p:cNvPr id="21" name="Card1 Back"/>
          <p:cNvSpPr/>
          <p:nvPr/>
        </p:nvSpPr>
        <p:spPr>
          <a:xfrm>
            <a:off x="457200" y="2140000"/>
            <a:ext cx="2560320" cy="2320000"/>
          </a:xfrm>
          <a:prstGeom prst="roundRect">
            <a:avLst>
              <a:gd name="adj" fmla="val 9000"/>
            </a:avLst>
          </a:prstGeom>
          <a:solidFill>
            <a:srgbClr val="3AC17E"/>
          </a:solidFill>
          <a:ln>
            <a:solidFill>
              <a:srgbClr val="3AC17E"/>
            </a:solidFill>
          </a:ln>
        </p:spPr>
        <p:txBody>
          <a:bodyPr wrap="square" anchor="t"/>
          <a:lstStyle/>
          <a:p>
            <a:pPr algn="ctr"/>
            <a:r>
              <a:rPr lang="en-US" sz="2000" b="1">
                <a:solidFill>
                  <a:srgbClr val="FFFFFF"/>
                </a:solidFill>
              </a:rPr>
              <a:t>One row</a:t>
            </a:r>
          </a:p>
        </p:txBody>
      </p:sp>
      <p:sp>
        <p:nvSpPr>
          <p:cNvPr id="22" name="Card1 Panel"/>
          <p:cNvSpPr/>
          <p:nvPr/>
        </p:nvSpPr>
        <p:spPr>
          <a:xfrm>
            <a:off x="537200" y="2730000"/>
            <a:ext cx="2400320" cy="1600000"/>
          </a:xfrm>
          <a:prstGeom prst="roundRect">
            <a:avLst>
              <a:gd name="adj" fmla="val 7000"/>
            </a:avLst>
          </a:prstGeom>
          <a:solidFill>
            <a:srgbClr val="FFFFFF"/>
          </a:solidFill>
          <a:ln>
            <a:noFill/>
          </a:ln>
        </p:spPr>
        <p:txBody>
          <a:bodyPr wrap="square" lIns="118872" rIns="118872" anchor="ctr"/>
          <a:lstStyle/>
          <a:p>
            <a:pPr algn="ctr"/>
            <a:r>
              <a:rPr lang="en-US" sz="2000">
                <a:solidFill>
                  <a:srgbClr val="404040"/>
                </a:solidFill>
              </a:rPr>
              <a:t>One team at one point in one season</a:t>
            </a:r>
          </a:p>
        </p:txBody>
      </p:sp>
      <p:sp>
        <p:nvSpPr>
          <p:cNvPr id="23" name="Card2 Back"/>
          <p:cNvSpPr/>
          <p:nvPr/>
        </p:nvSpPr>
        <p:spPr>
          <a:xfrm>
            <a:off x="3291840" y="2140000"/>
            <a:ext cx="2560320" cy="2320000"/>
          </a:xfrm>
          <a:prstGeom prst="roundRect">
            <a:avLst>
              <a:gd name="adj" fmla="val 9000"/>
            </a:avLst>
          </a:prstGeom>
          <a:solidFill>
            <a:srgbClr val="F7864C"/>
          </a:solidFill>
          <a:ln>
            <a:solidFill>
              <a:srgbClr val="F7864C"/>
            </a:solidFill>
          </a:ln>
        </p:spPr>
        <p:txBody>
          <a:bodyPr wrap="square" anchor="t"/>
          <a:lstStyle/>
          <a:p>
            <a:pPr algn="ctr"/>
            <a:r>
              <a:rPr lang="en-US" sz="2000" b="1">
                <a:solidFill>
                  <a:srgbClr val="FFFFFF"/>
                </a:solidFill>
              </a:rPr>
              <a:t>Inputs</a:t>
            </a:r>
          </a:p>
        </p:txBody>
      </p:sp>
      <p:sp>
        <p:nvSpPr>
          <p:cNvPr id="24" name="Card2 Panel"/>
          <p:cNvSpPr/>
          <p:nvPr/>
        </p:nvSpPr>
        <p:spPr>
          <a:xfrm>
            <a:off x="3371840" y="2730000"/>
            <a:ext cx="2400320" cy="1600000"/>
          </a:xfrm>
          <a:prstGeom prst="roundRect">
            <a:avLst>
              <a:gd name="adj" fmla="val 7000"/>
            </a:avLst>
          </a:prstGeom>
          <a:solidFill>
            <a:srgbClr val="FFFFFF"/>
          </a:solidFill>
          <a:ln>
            <a:noFill/>
          </a:ln>
        </p:spPr>
        <p:txBody>
          <a:bodyPr wrap="square" lIns="118872" rIns="118872" anchor="ctr"/>
          <a:lstStyle/>
          <a:p>
            <a:pPr algn="ctr"/>
            <a:r>
              <a:rPr lang="en-US" sz="2000">
                <a:solidFill>
                  <a:srgbClr val="404040"/>
                </a:solidFill>
              </a:rPr>
              <a:t>Performance and context available at that time</a:t>
            </a:r>
          </a:p>
        </p:txBody>
      </p:sp>
      <p:sp>
        <p:nvSpPr>
          <p:cNvPr id="25" name="Card3 Back"/>
          <p:cNvSpPr/>
          <p:nvPr/>
        </p:nvSpPr>
        <p:spPr>
          <a:xfrm>
            <a:off x="6126480" y="2140000"/>
            <a:ext cx="2560320" cy="2320000"/>
          </a:xfrm>
          <a:prstGeom prst="roundRect">
            <a:avLst>
              <a:gd name="adj" fmla="val 9000"/>
            </a:avLst>
          </a:prstGeom>
          <a:solidFill>
            <a:schemeClr val="accent1"/>
          </a:solidFill>
          <a:ln>
            <a:solidFill>
              <a:schemeClr val="accent1"/>
            </a:solidFill>
          </a:ln>
        </p:spPr>
        <p:txBody>
          <a:bodyPr wrap="square" anchor="t"/>
          <a:lstStyle/>
          <a:p>
            <a:pPr algn="ctr"/>
            <a:r>
              <a:rPr lang="en-US" sz="2000" b="1">
                <a:solidFill>
                  <a:srgbClr val="FFFFFF"/>
                </a:solidFill>
              </a:rPr>
              <a:t>Outcome</a:t>
            </a:r>
          </a:p>
        </p:txBody>
      </p:sp>
      <p:sp>
        <p:nvSpPr>
          <p:cNvPr id="26" name="Card3 Panel"/>
          <p:cNvSpPr/>
          <p:nvPr/>
        </p:nvSpPr>
        <p:spPr>
          <a:xfrm>
            <a:off x="6206480" y="2730000"/>
            <a:ext cx="2400320" cy="1600000"/>
          </a:xfrm>
          <a:prstGeom prst="roundRect">
            <a:avLst>
              <a:gd name="adj" fmla="val 7000"/>
            </a:avLst>
          </a:prstGeom>
          <a:solidFill>
            <a:srgbClr val="FFFFFF"/>
          </a:solidFill>
          <a:ln>
            <a:noFill/>
          </a:ln>
        </p:spPr>
        <p:txBody>
          <a:bodyPr wrap="square" lIns="118872" rIns="118872" anchor="ctr"/>
          <a:lstStyle/>
          <a:p>
            <a:pPr algn="ctr"/>
            <a:r>
              <a:rPr lang="en-US" sz="2000">
                <a:solidFill>
                  <a:srgbClr val="404040"/>
                </a:solidFill>
              </a:rPr>
              <a:t>Eventually made the playoffs (Yes/No)</a:t>
            </a:r>
          </a:p>
        </p:txBody>
      </p:sp>
    </p:spTree>
    <p:extLst>
      <p:ext uri="{BB962C8B-B14F-4D97-AF65-F5344CB8AC3E}">
        <p14:creationId xmlns:p14="http://schemas.microsoft.com/office/powerpoint/2010/main" val="2929289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6AD12-FCD5-E34D-E548-F8D1443D9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B37AF-7A0E-8047-18E6-8EE24BA91CF4}"/>
              </a:ext>
            </a:extLst>
          </p:cNvPr>
          <p:cNvSpPr>
            <a:spLocks noGrp="1"/>
          </p:cNvSpPr>
          <p:nvPr>
            <p:ph type="title"/>
          </p:nvPr>
        </p:nvSpPr>
        <p:spPr/>
        <p:txBody>
          <a:bodyPr/>
          <a:lstStyle/>
          <a:p>
            <a:r>
              <a:rPr lang="en-US"/>
              <a:t>Our very not boring prediction!</a:t>
            </a:r>
          </a:p>
        </p:txBody>
      </p:sp>
      <p:pic>
        <p:nvPicPr>
          <p:cNvPr id="7" name="Picture 6" descr="Small_Logo.jpg">
            <a:extLst>
              <a:ext uri="{FF2B5EF4-FFF2-40B4-BE49-F238E27FC236}">
                <a16:creationId xmlns:a16="http://schemas.microsoft.com/office/drawing/2014/main" id="{93B3C1C7-1620-97BA-4DDF-7F808F7D8D8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Content Placeholder 8">
            <a:extLst>
              <a:ext uri="{FF2B5EF4-FFF2-40B4-BE49-F238E27FC236}">
                <a16:creationId xmlns:a16="http://schemas.microsoft.com/office/drawing/2014/main" id="{AEC2B4F3-D6F9-B72E-5E83-C21877AE6711}"/>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57200" y="1448344"/>
            <a:ext cx="8229600" cy="2263140"/>
          </a:xfrm>
          <a:prstGeom prst="rect">
            <a:avLst/>
          </a:prstGeom>
        </p:spPr>
      </p:pic>
    </p:spTree>
    <p:extLst>
      <p:ext uri="{BB962C8B-B14F-4D97-AF65-F5344CB8AC3E}">
        <p14:creationId xmlns:p14="http://schemas.microsoft.com/office/powerpoint/2010/main" val="594099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9EBE9-BC73-58AD-75ED-BD072964E2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B3E59-B64E-3C53-16C8-28945DC5BA3B}"/>
              </a:ext>
            </a:extLst>
          </p:cNvPr>
          <p:cNvSpPr>
            <a:spLocks noGrp="1"/>
          </p:cNvSpPr>
          <p:nvPr>
            <p:ph type="title"/>
          </p:nvPr>
        </p:nvSpPr>
        <p:spPr/>
        <p:txBody>
          <a:bodyPr/>
          <a:lstStyle/>
          <a:p>
            <a:r>
              <a:rPr lang="en-US"/>
              <a:t>You already know more than you think.</a:t>
            </a:r>
          </a:p>
        </p:txBody>
      </p:sp>
      <p:pic>
        <p:nvPicPr>
          <p:cNvPr id="7" name="Picture 6" descr="Small_Logo.jpg">
            <a:extLst>
              <a:ext uri="{FF2B5EF4-FFF2-40B4-BE49-F238E27FC236}">
                <a16:creationId xmlns:a16="http://schemas.microsoft.com/office/drawing/2014/main" id="{C9CC10D6-195B-0089-7086-6F593DF1077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Code Card"/>
          <p:cNvSpPr/>
          <p:nvPr/>
        </p:nvSpPr>
        <p:spPr>
          <a:xfrm>
            <a:off x="685800" y="1451376"/>
            <a:ext cx="7772400" cy="900000"/>
          </a:xfrm>
          <a:prstGeom prst="roundRect">
            <a:avLst>
              <a:gd name="adj" fmla="val 8000"/>
            </a:avLst>
          </a:prstGeom>
          <a:solidFill>
            <a:srgbClr val="0B5583"/>
          </a:solidFill>
          <a:ln w="19050">
            <a:solidFill>
              <a:srgbClr val="116898"/>
            </a:solidFill>
          </a:ln>
        </p:spPr>
        <p:txBody>
          <a:bodyPr wrap="square" lIns="91440" tIns="45720" rIns="91440" bIns="45720" anchor="ctr"/>
          <a:lstStyle/>
          <a:p>
            <a:pPr algn="ctr"/>
            <a:r>
              <a:rPr lang="en-US" sz="2600" b="1" err="1">
                <a:solidFill>
                  <a:srgbClr val="CFE7F5"/>
                </a:solidFill>
                <a:latin typeface="Consolas" pitchFamily="49" charset="0"/>
                <a:cs typeface="Consolas"/>
              </a:rPr>
              <a:t>lm</a:t>
            </a:r>
            <a:r>
              <a:rPr lang="en-US" sz="2600" b="1">
                <a:solidFill>
                  <a:srgbClr val="CFE7F5"/>
                </a:solidFill>
                <a:latin typeface="Consolas" pitchFamily="49" charset="0"/>
                <a:cs typeface="Consolas"/>
              </a:rPr>
              <a:t>(</a:t>
            </a:r>
            <a:r>
              <a:rPr lang="en-US" sz="2600" b="1">
                <a:solidFill>
                  <a:srgbClr val="F7864C"/>
                </a:solidFill>
                <a:latin typeface="Consolas" pitchFamily="49" charset="0"/>
                <a:cs typeface="Consolas"/>
              </a:rPr>
              <a:t>y</a:t>
            </a:r>
            <a:r>
              <a:rPr lang="en-US" sz="2600" b="1">
                <a:solidFill>
                  <a:srgbClr val="CFE7F5"/>
                </a:solidFill>
                <a:latin typeface="Consolas" pitchFamily="49" charset="0"/>
                <a:cs typeface="Consolas"/>
              </a:rPr>
              <a:t> ~ </a:t>
            </a:r>
            <a:r>
              <a:rPr lang="en-US" sz="2600" b="1">
                <a:solidFill>
                  <a:srgbClr val="6CE1B8"/>
                </a:solidFill>
                <a:latin typeface="Consolas" pitchFamily="49" charset="0"/>
                <a:cs typeface="Consolas"/>
              </a:rPr>
              <a:t>x1 + x2</a:t>
            </a:r>
            <a:r>
              <a:rPr lang="en-US" sz="2600" b="1">
                <a:solidFill>
                  <a:srgbClr val="CFE7F5"/>
                </a:solidFill>
                <a:latin typeface="Consolas" pitchFamily="49" charset="0"/>
                <a:cs typeface="Consolas"/>
              </a:rPr>
              <a:t>, data = </a:t>
            </a:r>
            <a:r>
              <a:rPr lang="en-US" sz="2600" b="1">
                <a:solidFill>
                  <a:srgbClr val="9ED3F3"/>
                </a:solidFill>
                <a:latin typeface="Consolas" pitchFamily="49" charset="0"/>
                <a:cs typeface="Consolas"/>
              </a:rPr>
              <a:t>training_data</a:t>
            </a:r>
            <a:r>
              <a:rPr lang="en-US" sz="2600" b="1">
                <a:solidFill>
                  <a:srgbClr val="CFE7F5"/>
                </a:solidFill>
                <a:latin typeface="Consolas" pitchFamily="49" charset="0"/>
                <a:cs typeface="Consolas"/>
              </a:rPr>
              <a:t>)</a:t>
            </a:r>
          </a:p>
          <a:p>
            <a:pPr algn="ctr"/>
            <a:r>
              <a:rPr lang="en-US" i="1">
                <a:solidFill>
                  <a:srgbClr val="9ED3F3"/>
                </a:solidFill>
              </a:rPr>
              <a:t>Outcome + predictors + a model</a:t>
            </a:r>
          </a:p>
        </p:txBody>
      </p:sp>
      <p:sp>
        <p:nvSpPr>
          <p:cNvPr id="21" name="Ann Outcome"/>
          <p:cNvSpPr/>
          <p:nvPr/>
        </p:nvSpPr>
        <p:spPr>
          <a:xfrm>
            <a:off x="685800" y="2791376"/>
            <a:ext cx="2400000" cy="1150000"/>
          </a:xfrm>
          <a:prstGeom prst="roundRect">
            <a:avLst>
              <a:gd name="adj" fmla="val 6000"/>
            </a:avLst>
          </a:prstGeom>
          <a:solidFill>
            <a:srgbClr val="F7864C"/>
          </a:solidFill>
          <a:ln>
            <a:noFill/>
          </a:ln>
        </p:spPr>
        <p:txBody>
          <a:bodyPr wrap="square" lIns="91440" tIns="82000" rIns="91440" bIns="45720" anchor="t"/>
          <a:lstStyle/>
          <a:p>
            <a:pPr algn="ctr"/>
            <a:r>
              <a:rPr lang="en-US" b="1">
                <a:solidFill>
                  <a:srgbClr val="0B3A52"/>
                </a:solidFill>
                <a:latin typeface="Consolas" pitchFamily="49" charset="0"/>
                <a:cs typeface="Consolas"/>
              </a:rPr>
              <a:t>y</a:t>
            </a:r>
          </a:p>
          <a:p>
            <a:pPr algn="ctr"/>
            <a:r>
              <a:rPr lang="en-US" b="1">
                <a:solidFill>
                  <a:srgbClr val="0B3A52"/>
                </a:solidFill>
              </a:rPr>
              <a:t>OUTCOME</a:t>
            </a:r>
          </a:p>
          <a:p>
            <a:pPr algn="ctr"/>
            <a:r>
              <a:rPr lang="en-US" sz="1600">
                <a:solidFill>
                  <a:srgbClr val="0B3A52"/>
                </a:solidFill>
              </a:rPr>
              <a:t>What we’re predicting</a:t>
            </a:r>
          </a:p>
        </p:txBody>
      </p:sp>
      <p:sp>
        <p:nvSpPr>
          <p:cNvPr id="22" name="Ann Predictors"/>
          <p:cNvSpPr/>
          <p:nvPr/>
        </p:nvSpPr>
        <p:spPr>
          <a:xfrm>
            <a:off x="3372000" y="2791376"/>
            <a:ext cx="2400000" cy="1150000"/>
          </a:xfrm>
          <a:prstGeom prst="roundRect">
            <a:avLst>
              <a:gd name="adj" fmla="val 6000"/>
            </a:avLst>
          </a:prstGeom>
          <a:solidFill>
            <a:srgbClr val="3AC17E"/>
          </a:solidFill>
          <a:ln>
            <a:noFill/>
          </a:ln>
        </p:spPr>
        <p:txBody>
          <a:bodyPr wrap="square" lIns="91440" tIns="82000" rIns="91440" bIns="45720" anchor="t"/>
          <a:lstStyle/>
          <a:p>
            <a:pPr algn="ctr"/>
            <a:r>
              <a:rPr lang="en-US" b="1">
                <a:solidFill>
                  <a:srgbClr val="0B3A52"/>
                </a:solidFill>
                <a:latin typeface="Consolas" pitchFamily="49" charset="0"/>
                <a:cs typeface="Consolas"/>
              </a:rPr>
              <a:t>x1 + x2</a:t>
            </a:r>
          </a:p>
          <a:p>
            <a:pPr algn="ctr"/>
            <a:r>
              <a:rPr lang="en-US" b="1">
                <a:solidFill>
                  <a:srgbClr val="0B3A52"/>
                </a:solidFill>
              </a:rPr>
              <a:t>PREDICTORS</a:t>
            </a:r>
          </a:p>
          <a:p>
            <a:pPr algn="ctr"/>
            <a:r>
              <a:rPr lang="en-US" sz="1600">
                <a:solidFill>
                  <a:srgbClr val="0B3A52"/>
                </a:solidFill>
              </a:rPr>
              <a:t>The inputs we use</a:t>
            </a:r>
          </a:p>
        </p:txBody>
      </p:sp>
      <p:sp>
        <p:nvSpPr>
          <p:cNvPr id="23" name="Ann Data"/>
          <p:cNvSpPr/>
          <p:nvPr/>
        </p:nvSpPr>
        <p:spPr>
          <a:xfrm>
            <a:off x="6058200" y="2791376"/>
            <a:ext cx="2400000" cy="1150000"/>
          </a:xfrm>
          <a:prstGeom prst="roundRect">
            <a:avLst>
              <a:gd name="adj" fmla="val 6000"/>
            </a:avLst>
          </a:prstGeom>
          <a:solidFill>
            <a:srgbClr val="52B6E8"/>
          </a:solidFill>
          <a:ln>
            <a:noFill/>
          </a:ln>
        </p:spPr>
        <p:txBody>
          <a:bodyPr wrap="square" lIns="91440" tIns="82000" rIns="91440" bIns="45720" anchor="t"/>
          <a:lstStyle/>
          <a:p>
            <a:pPr algn="ctr"/>
            <a:r>
              <a:rPr lang="en-US" b="1">
                <a:solidFill>
                  <a:srgbClr val="0B3A52"/>
                </a:solidFill>
                <a:latin typeface="Consolas" pitchFamily="49" charset="0"/>
                <a:cs typeface="Consolas"/>
              </a:rPr>
              <a:t>training_data</a:t>
            </a:r>
          </a:p>
          <a:p>
            <a:pPr algn="ctr"/>
            <a:r>
              <a:rPr lang="en-US" b="1">
                <a:solidFill>
                  <a:srgbClr val="0B3A52"/>
                </a:solidFill>
              </a:rPr>
              <a:t>DATA</a:t>
            </a:r>
          </a:p>
          <a:p>
            <a:pPr algn="ctr"/>
            <a:r>
              <a:rPr lang="en-US" sz="1600">
                <a:solidFill>
                  <a:srgbClr val="0B3A52"/>
                </a:solidFill>
              </a:rPr>
              <a:t>What we learn from</a:t>
            </a:r>
          </a:p>
        </p:txBody>
      </p:sp>
      <p:sp>
        <p:nvSpPr>
          <p:cNvPr id="24" name="Analogy Note"/>
          <p:cNvSpPr txBox="1"/>
          <p:nvPr/>
        </p:nvSpPr>
        <p:spPr>
          <a:xfrm>
            <a:off x="685800" y="4610000"/>
            <a:ext cx="7500000" cy="330000"/>
          </a:xfrm>
          <a:prstGeom prst="rect">
            <a:avLst/>
          </a:prstGeom>
          <a:noFill/>
        </p:spPr>
        <p:txBody>
          <a:bodyPr wrap="square" lIns="0" tIns="0" rIns="0" bIns="0" anchor="ctr"/>
          <a:lstStyle/>
          <a:p>
            <a:pPr algn="ctr"/>
            <a:endParaRPr lang="en-US" sz="1050" i="1">
              <a:solidFill>
                <a:srgbClr val="808080"/>
              </a:solidFill>
            </a:endParaRPr>
          </a:p>
        </p:txBody>
      </p:sp>
    </p:spTree>
    <p:extLst>
      <p:ext uri="{BB962C8B-B14F-4D97-AF65-F5344CB8AC3E}">
        <p14:creationId xmlns:p14="http://schemas.microsoft.com/office/powerpoint/2010/main" val="1066801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EE0CD-A74F-0495-1335-2DC1C34525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29766-BF1A-91AC-DE10-FE4E330C12DB}"/>
              </a:ext>
            </a:extLst>
          </p:cNvPr>
          <p:cNvSpPr>
            <a:spLocks noGrp="1"/>
          </p:cNvSpPr>
          <p:nvPr>
            <p:ph type="title"/>
          </p:nvPr>
        </p:nvSpPr>
        <p:spPr>
          <a:xfrm>
            <a:off x="342900" y="356191"/>
            <a:ext cx="1791393" cy="4418390"/>
          </a:xfrm>
        </p:spPr>
        <p:txBody>
          <a:bodyPr/>
          <a:lstStyle/>
          <a:p>
            <a:r>
              <a:rPr lang="en-US"/>
              <a:t>The whole workflow on just one slide!</a:t>
            </a:r>
          </a:p>
        </p:txBody>
      </p:sp>
      <p:graphicFrame>
        <p:nvGraphicFramePr>
          <p:cNvPr id="5" name="Diagram 4">
            <a:extLst>
              <a:ext uri="{FF2B5EF4-FFF2-40B4-BE49-F238E27FC236}">
                <a16:creationId xmlns:a16="http://schemas.microsoft.com/office/drawing/2014/main" id="{DC0199DA-D926-A6B9-2570-15EDC4E71BA7}"/>
              </a:ext>
            </a:extLst>
          </p:cNvPr>
          <p:cNvGraphicFramePr/>
          <p:nvPr>
            <p:extLst>
              <p:ext uri="{D42A27DB-BD31-4B8C-83A1-F6EECF244321}">
                <p14:modId xmlns:p14="http://schemas.microsoft.com/office/powerpoint/2010/main" val="1674295655"/>
              </p:ext>
            </p:extLst>
          </p:nvPr>
        </p:nvGraphicFramePr>
        <p:xfrm>
          <a:off x="2538762" y="356191"/>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8876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7E225-91B2-4A88-B9CF-84DEE4A9D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E36E3-FC55-AD31-6615-8ECB1A6CE91B}"/>
              </a:ext>
            </a:extLst>
          </p:cNvPr>
          <p:cNvSpPr>
            <a:spLocks noGrp="1"/>
          </p:cNvSpPr>
          <p:nvPr>
            <p:ph type="title"/>
          </p:nvPr>
        </p:nvSpPr>
        <p:spPr/>
        <p:txBody>
          <a:bodyPr/>
          <a:lstStyle/>
          <a:p>
            <a:r>
              <a:rPr lang="en-US"/>
              <a:t>Preventing data leakage</a:t>
            </a:r>
          </a:p>
        </p:txBody>
      </p:sp>
      <p:pic>
        <p:nvPicPr>
          <p:cNvPr id="7" name="Picture 6" descr="Small_Logo.jpg">
            <a:extLst>
              <a:ext uri="{FF2B5EF4-FFF2-40B4-BE49-F238E27FC236}">
                <a16:creationId xmlns:a16="http://schemas.microsoft.com/office/drawing/2014/main" id="{B2C29879-E67C-38C6-FDDB-47A7FCA3E7C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0" name="Step Split"/>
          <p:cNvSpPr/>
          <p:nvPr/>
        </p:nvSpPr>
        <p:spPr>
          <a:xfrm>
            <a:off x="432000" y="1140000"/>
            <a:ext cx="1560000" cy="300000"/>
          </a:xfrm>
          <a:prstGeom prst="roundRect">
            <a:avLst>
              <a:gd name="adj" fmla="val 50000"/>
            </a:avLst>
          </a:prstGeom>
          <a:solidFill>
            <a:srgbClr val="1B87B9"/>
          </a:solidFill>
          <a:ln>
            <a:noFill/>
          </a:ln>
        </p:spPr>
        <p:txBody>
          <a:bodyPr wrap="square" lIns="45720" tIns="18000" rIns="45720" bIns="18000" anchor="ctr"/>
          <a:lstStyle/>
          <a:p>
            <a:pPr algn="ctr"/>
            <a:r>
              <a:rPr lang="en-US" sz="1100" b="1">
                <a:solidFill>
                  <a:srgbClr val="FFFFFF"/>
                </a:solidFill>
              </a:rPr>
              <a:t>Split</a:t>
            </a:r>
          </a:p>
        </p:txBody>
      </p:sp>
      <p:sp>
        <p:nvSpPr>
          <p:cNvPr id="901" name="Step Preprocess"/>
          <p:cNvSpPr/>
          <p:nvPr/>
        </p:nvSpPr>
        <p:spPr>
          <a:xfrm>
            <a:off x="211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Preprocess</a:t>
            </a:r>
          </a:p>
        </p:txBody>
      </p:sp>
      <p:sp>
        <p:nvSpPr>
          <p:cNvPr id="902" name="Step Specify"/>
          <p:cNvSpPr/>
          <p:nvPr/>
        </p:nvSpPr>
        <p:spPr>
          <a:xfrm>
            <a:off x="379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Specify</a:t>
            </a:r>
          </a:p>
        </p:txBody>
      </p:sp>
      <p:sp>
        <p:nvSpPr>
          <p:cNvPr id="903" name="Step Fit"/>
          <p:cNvSpPr/>
          <p:nvPr/>
        </p:nvSpPr>
        <p:spPr>
          <a:xfrm>
            <a:off x="547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Fit</a:t>
            </a:r>
          </a:p>
        </p:txBody>
      </p:sp>
      <p:sp>
        <p:nvSpPr>
          <p:cNvPr id="904" name="Step Evaluate"/>
          <p:cNvSpPr/>
          <p:nvPr/>
        </p:nvSpPr>
        <p:spPr>
          <a:xfrm>
            <a:off x="715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Evaluate</a:t>
            </a:r>
          </a:p>
        </p:txBody>
      </p:sp>
      <p:sp>
        <p:nvSpPr>
          <p:cNvPr id="910" name="Prediction Label"/>
          <p:cNvSpPr txBox="1"/>
          <p:nvPr/>
        </p:nvSpPr>
        <p:spPr>
          <a:xfrm>
            <a:off x="3738015" y="1583952"/>
            <a:ext cx="3000000" cy="300000"/>
          </a:xfrm>
          <a:prstGeom prst="rect">
            <a:avLst/>
          </a:prstGeom>
          <a:noFill/>
        </p:spPr>
        <p:txBody>
          <a:bodyPr wrap="square" anchor="ctr"/>
          <a:lstStyle/>
          <a:p>
            <a:pPr algn="ctr">
              <a:buNone/>
            </a:pPr>
            <a:r>
              <a:rPr lang="en-US" sz="1200" b="1">
                <a:solidFill>
                  <a:srgbClr val="ED7D31"/>
                </a:solidFill>
              </a:rPr>
              <a:t>Prediction date: 60% complete</a:t>
            </a:r>
          </a:p>
        </p:txBody>
      </p:sp>
      <p:sp>
        <p:nvSpPr>
          <p:cNvPr id="911" name="Timeline Elapsed"/>
          <p:cNvSpPr/>
          <p:nvPr/>
        </p:nvSpPr>
        <p:spPr>
          <a:xfrm>
            <a:off x="760834" y="1947156"/>
            <a:ext cx="4297680" cy="70000"/>
          </a:xfrm>
          <a:prstGeom prst="roundRect">
            <a:avLst>
              <a:gd name="adj" fmla="val 50000"/>
            </a:avLst>
          </a:prstGeom>
          <a:solidFill>
            <a:srgbClr val="1B87B9"/>
          </a:solidFill>
          <a:ln>
            <a:noFill/>
          </a:ln>
        </p:spPr>
        <p:txBody>
          <a:bodyPr/>
          <a:lstStyle/>
          <a:p>
            <a:endParaRPr lang="en-US"/>
          </a:p>
        </p:txBody>
      </p:sp>
      <p:sp>
        <p:nvSpPr>
          <p:cNvPr id="912" name="Timeline Remaining"/>
          <p:cNvSpPr/>
          <p:nvPr/>
        </p:nvSpPr>
        <p:spPr>
          <a:xfrm>
            <a:off x="5238015" y="1947155"/>
            <a:ext cx="3200400" cy="73205"/>
          </a:xfrm>
          <a:prstGeom prst="roundRect">
            <a:avLst>
              <a:gd name="adj" fmla="val 50000"/>
            </a:avLst>
          </a:prstGeom>
          <a:solidFill>
            <a:srgbClr val="E1E5EA"/>
          </a:solidFill>
          <a:ln>
            <a:noFill/>
          </a:ln>
        </p:spPr>
        <p:txBody>
          <a:bodyPr/>
          <a:lstStyle/>
          <a:p>
            <a:endParaRPr lang="en-US"/>
          </a:p>
        </p:txBody>
      </p:sp>
      <p:sp>
        <p:nvSpPr>
          <p:cNvPr id="913" name="Node Start"/>
          <p:cNvSpPr/>
          <p:nvPr/>
        </p:nvSpPr>
        <p:spPr>
          <a:xfrm>
            <a:off x="620000" y="1899156"/>
            <a:ext cx="160000" cy="160000"/>
          </a:xfrm>
          <a:prstGeom prst="ellipse">
            <a:avLst/>
          </a:prstGeom>
          <a:solidFill>
            <a:srgbClr val="1B87B9"/>
          </a:solidFill>
          <a:ln>
            <a:noFill/>
          </a:ln>
        </p:spPr>
        <p:txBody>
          <a:bodyPr/>
          <a:lstStyle/>
          <a:p>
            <a:endParaRPr lang="en-US"/>
          </a:p>
        </p:txBody>
      </p:sp>
      <p:sp>
        <p:nvSpPr>
          <p:cNvPr id="914" name="Node Prediction"/>
          <p:cNvSpPr/>
          <p:nvPr/>
        </p:nvSpPr>
        <p:spPr>
          <a:xfrm>
            <a:off x="5026731" y="1869156"/>
            <a:ext cx="220000" cy="220000"/>
          </a:xfrm>
          <a:prstGeom prst="ellipse">
            <a:avLst/>
          </a:prstGeom>
          <a:solidFill>
            <a:srgbClr val="ED7D31"/>
          </a:solidFill>
          <a:ln w="19050">
            <a:solidFill>
              <a:srgbClr val="FFFFFF"/>
            </a:solidFill>
          </a:ln>
        </p:spPr>
        <p:txBody>
          <a:bodyPr/>
          <a:lstStyle/>
          <a:p>
            <a:endParaRPr lang="en-US"/>
          </a:p>
        </p:txBody>
      </p:sp>
      <p:sp>
        <p:nvSpPr>
          <p:cNvPr id="915" name="Node End"/>
          <p:cNvSpPr/>
          <p:nvPr/>
        </p:nvSpPr>
        <p:spPr>
          <a:xfrm>
            <a:off x="8364000" y="1899156"/>
            <a:ext cx="160000" cy="160000"/>
          </a:xfrm>
          <a:prstGeom prst="ellipse">
            <a:avLst/>
          </a:prstGeom>
          <a:solidFill>
            <a:srgbClr val="9AA3AD"/>
          </a:solidFill>
          <a:ln>
            <a:noFill/>
          </a:ln>
        </p:spPr>
        <p:txBody>
          <a:bodyPr/>
          <a:lstStyle/>
          <a:p>
            <a:endParaRPr lang="en-US"/>
          </a:p>
        </p:txBody>
      </p:sp>
      <p:sp>
        <p:nvSpPr>
          <p:cNvPr id="916" name="Label Begin"/>
          <p:cNvSpPr txBox="1"/>
          <p:nvPr/>
        </p:nvSpPr>
        <p:spPr>
          <a:xfrm>
            <a:off x="500000" y="2017156"/>
            <a:ext cx="2400000" cy="280000"/>
          </a:xfrm>
          <a:prstGeom prst="rect">
            <a:avLst/>
          </a:prstGeom>
          <a:noFill/>
        </p:spPr>
        <p:txBody>
          <a:bodyPr wrap="square" anchor="ctr"/>
          <a:lstStyle/>
          <a:p>
            <a:pPr algn="l">
              <a:buNone/>
            </a:pPr>
            <a:r>
              <a:rPr lang="en-US" sz="1200" b="1">
                <a:solidFill>
                  <a:srgbClr val="404040"/>
                </a:solidFill>
              </a:rPr>
              <a:t>Season begins</a:t>
            </a:r>
          </a:p>
        </p:txBody>
      </p:sp>
      <p:sp>
        <p:nvSpPr>
          <p:cNvPr id="917" name="Label End"/>
          <p:cNvSpPr txBox="1"/>
          <p:nvPr/>
        </p:nvSpPr>
        <p:spPr>
          <a:xfrm>
            <a:off x="6300000" y="2017156"/>
            <a:ext cx="2412000" cy="280000"/>
          </a:xfrm>
          <a:prstGeom prst="rect">
            <a:avLst/>
          </a:prstGeom>
          <a:noFill/>
        </p:spPr>
        <p:txBody>
          <a:bodyPr wrap="square" anchor="ctr"/>
          <a:lstStyle/>
          <a:p>
            <a:pPr algn="r">
              <a:buNone/>
            </a:pPr>
            <a:r>
              <a:rPr lang="en-US" sz="1200" b="1">
                <a:solidFill>
                  <a:srgbClr val="404040"/>
                </a:solidFill>
              </a:rPr>
              <a:t>Season ends</a:t>
            </a:r>
          </a:p>
        </p:txBody>
      </p:sp>
      <p:sp>
        <p:nvSpPr>
          <p:cNvPr id="920" name="Available Header"/>
          <p:cNvSpPr/>
          <p:nvPr/>
        </p:nvSpPr>
        <p:spPr>
          <a:xfrm>
            <a:off x="432000" y="2367156"/>
            <a:ext cx="4020000" cy="360000"/>
          </a:xfrm>
          <a:prstGeom prst="roundRect">
            <a:avLst>
              <a:gd name="adj" fmla="val 12000"/>
            </a:avLst>
          </a:prstGeom>
          <a:solidFill>
            <a:srgbClr val="3AC17E"/>
          </a:solidFill>
          <a:ln>
            <a:solidFill>
              <a:srgbClr val="3AC17E"/>
            </a:solidFill>
          </a:ln>
        </p:spPr>
        <p:txBody>
          <a:bodyPr wrap="square" lIns="91440" rIns="91440" anchor="ctr"/>
          <a:lstStyle/>
          <a:p>
            <a:pPr algn="ctr">
              <a:buNone/>
            </a:pPr>
            <a:r>
              <a:rPr lang="en-US" sz="1300" b="1">
                <a:solidFill>
                  <a:srgbClr val="FFFFFF"/>
                </a:solidFill>
              </a:rPr>
              <a:t>AVAILABLE AT THE PREDICTION DATE</a:t>
            </a:r>
          </a:p>
        </p:txBody>
      </p:sp>
      <p:sp>
        <p:nvSpPr>
          <p:cNvPr id="921" name="Available List"/>
          <p:cNvSpPr txBox="1"/>
          <p:nvPr/>
        </p:nvSpPr>
        <p:spPr>
          <a:xfrm>
            <a:off x="432000" y="2787156"/>
            <a:ext cx="4020000" cy="1080000"/>
          </a:xfrm>
          <a:prstGeom prst="rect">
            <a:avLst/>
          </a:prstGeom>
          <a:noFill/>
        </p:spPr>
        <p:txBody>
          <a:bodyPr wrap="square" lIns="45720" rIns="45720" anchor="ctr"/>
          <a:lstStyle/>
          <a:p>
            <a:pPr marL="228600" indent="-228600">
              <a:spcBef>
                <a:spcPts val="600"/>
              </a:spcBef>
              <a:buFont typeface="Arial" panose="020B0604020202020204" pitchFamily="34" charset="0"/>
              <a:buChar char="•"/>
            </a:pPr>
            <a:r>
              <a:rPr lang="en-US" sz="1300">
                <a:solidFill>
                  <a:srgbClr val="404040"/>
                </a:solidFill>
              </a:rPr>
              <a:t>Points per game to date</a:t>
            </a:r>
          </a:p>
          <a:p>
            <a:pPr marL="228600" indent="-228600">
              <a:spcBef>
                <a:spcPts val="600"/>
              </a:spcBef>
              <a:buFont typeface="Arial" panose="020B0604020202020204" pitchFamily="34" charset="0"/>
              <a:buChar char="•"/>
            </a:pPr>
            <a:r>
              <a:rPr lang="en-US" sz="1300">
                <a:solidFill>
                  <a:srgbClr val="404040"/>
                </a:solidFill>
              </a:rPr>
              <a:t>Goal difference to date</a:t>
            </a:r>
          </a:p>
          <a:p>
            <a:pPr marL="228600" indent="-228600">
              <a:spcBef>
                <a:spcPts val="600"/>
              </a:spcBef>
              <a:buFont typeface="Arial" panose="020B0604020202020204" pitchFamily="34" charset="0"/>
              <a:buChar char="•"/>
            </a:pPr>
            <a:r>
              <a:rPr lang="en-US" sz="1300">
                <a:solidFill>
                  <a:srgbClr val="404040"/>
                </a:solidFill>
              </a:rPr>
              <a:t>Points from the last five matches</a:t>
            </a:r>
          </a:p>
          <a:p>
            <a:pPr marL="228600" indent="-228600">
              <a:spcBef>
                <a:spcPts val="600"/>
              </a:spcBef>
              <a:buFont typeface="Arial" panose="020B0604020202020204" pitchFamily="34" charset="0"/>
              <a:buChar char="•"/>
            </a:pPr>
            <a:r>
              <a:rPr lang="en-US" sz="1300">
                <a:solidFill>
                  <a:srgbClr val="404040"/>
                </a:solidFill>
              </a:rPr>
              <a:t>Current playoff cutline gap</a:t>
            </a:r>
          </a:p>
        </p:txBody>
      </p:sp>
      <p:sp>
        <p:nvSpPr>
          <p:cNvPr id="922" name="NotAvailable Header"/>
          <p:cNvSpPr/>
          <p:nvPr/>
        </p:nvSpPr>
        <p:spPr>
          <a:xfrm>
            <a:off x="4692000" y="2367156"/>
            <a:ext cx="4020000" cy="360000"/>
          </a:xfrm>
          <a:prstGeom prst="roundRect">
            <a:avLst>
              <a:gd name="adj" fmla="val 12000"/>
            </a:avLst>
          </a:prstGeom>
          <a:solidFill>
            <a:srgbClr val="52B6E8"/>
          </a:solidFill>
          <a:ln>
            <a:solidFill>
              <a:srgbClr val="52B6E8"/>
            </a:solidFill>
          </a:ln>
        </p:spPr>
        <p:txBody>
          <a:bodyPr wrap="square" lIns="91440" rIns="91440" anchor="ctr"/>
          <a:lstStyle/>
          <a:p>
            <a:pPr algn="ctr">
              <a:buNone/>
            </a:pPr>
            <a:r>
              <a:rPr lang="en-US" sz="1300" b="1">
                <a:solidFill>
                  <a:srgbClr val="FFFFFF"/>
                </a:solidFill>
              </a:rPr>
              <a:t>NOT AVAILABLE YET</a:t>
            </a:r>
          </a:p>
        </p:txBody>
      </p:sp>
      <p:sp>
        <p:nvSpPr>
          <p:cNvPr id="923" name="NotAvailable List"/>
          <p:cNvSpPr txBox="1"/>
          <p:nvPr/>
        </p:nvSpPr>
        <p:spPr>
          <a:xfrm>
            <a:off x="4692000" y="2787156"/>
            <a:ext cx="4020000" cy="1080000"/>
          </a:xfrm>
          <a:prstGeom prst="rect">
            <a:avLst/>
          </a:prstGeom>
          <a:noFill/>
        </p:spPr>
        <p:txBody>
          <a:bodyPr wrap="square" lIns="45720" rIns="45720" anchor="ctr"/>
          <a:lstStyle/>
          <a:p>
            <a:pPr marL="228600" indent="-228600">
              <a:spcBef>
                <a:spcPts val="600"/>
              </a:spcBef>
              <a:buFont typeface="Arial" panose="020B0604020202020204" pitchFamily="34" charset="0"/>
              <a:buChar char="•"/>
            </a:pPr>
            <a:r>
              <a:rPr lang="en-US" sz="1300">
                <a:solidFill>
                  <a:srgbClr val="404040"/>
                </a:solidFill>
              </a:rPr>
              <a:t>Results of later matches</a:t>
            </a:r>
          </a:p>
          <a:p>
            <a:pPr marL="228600" indent="-228600">
              <a:spcBef>
                <a:spcPts val="600"/>
              </a:spcBef>
              <a:buFont typeface="Arial" panose="020B0604020202020204" pitchFamily="34" charset="0"/>
              <a:buChar char="•"/>
            </a:pPr>
            <a:r>
              <a:rPr lang="en-US" sz="1300">
                <a:solidFill>
                  <a:srgbClr val="404040"/>
                </a:solidFill>
              </a:rPr>
              <a:t>Final points or final rank</a:t>
            </a:r>
          </a:p>
          <a:p>
            <a:pPr marL="228600" indent="-228600">
              <a:spcBef>
                <a:spcPts val="600"/>
              </a:spcBef>
              <a:buFont typeface="Arial" panose="020B0604020202020204" pitchFamily="34" charset="0"/>
              <a:buChar char="•"/>
            </a:pPr>
            <a:r>
              <a:rPr lang="en-US" sz="1300">
                <a:solidFill>
                  <a:srgbClr val="404040"/>
                </a:solidFill>
              </a:rPr>
              <a:t>End-of-season statistics</a:t>
            </a:r>
          </a:p>
          <a:p>
            <a:pPr marL="228600" indent="-228600">
              <a:spcBef>
                <a:spcPts val="600"/>
              </a:spcBef>
              <a:buFont typeface="Arial" panose="020B0604020202020204" pitchFamily="34" charset="0"/>
              <a:buChar char="•"/>
            </a:pPr>
            <a:r>
              <a:rPr lang="en-US" sz="1300">
                <a:solidFill>
                  <a:srgbClr val="404040"/>
                </a:solidFill>
              </a:rPr>
              <a:t>Final playoff position</a:t>
            </a:r>
          </a:p>
        </p:txBody>
      </p:sp>
      <p:sp>
        <p:nvSpPr>
          <p:cNvPr id="924" name="Bottom Callout"/>
          <p:cNvSpPr/>
          <p:nvPr/>
        </p:nvSpPr>
        <p:spPr>
          <a:xfrm>
            <a:off x="502000" y="4038336"/>
            <a:ext cx="7900000" cy="340000"/>
          </a:xfrm>
          <a:prstGeom prst="roundRect">
            <a:avLst>
              <a:gd name="adj" fmla="val 16000"/>
            </a:avLst>
          </a:prstGeom>
          <a:solidFill>
            <a:srgbClr val="1F497D"/>
          </a:solidFill>
          <a:ln>
            <a:noFill/>
          </a:ln>
        </p:spPr>
        <p:txBody>
          <a:bodyPr wrap="square" lIns="137160" rIns="137160" anchor="ctr"/>
          <a:lstStyle/>
          <a:p>
            <a:pPr algn="ctr">
              <a:buNone/>
            </a:pPr>
            <a:r>
              <a:rPr lang="en-US" sz="1400" b="1">
                <a:solidFill>
                  <a:srgbClr val="FFFFFF"/>
                </a:solidFill>
              </a:rPr>
              <a:t>Use the final playoff result as the historical outcome, never as a predictor.</a:t>
            </a:r>
          </a:p>
        </p:txBody>
      </p:sp>
    </p:spTree>
    <p:extLst>
      <p:ext uri="{BB962C8B-B14F-4D97-AF65-F5344CB8AC3E}">
        <p14:creationId xmlns:p14="http://schemas.microsoft.com/office/powerpoint/2010/main" val="510634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5A46F-FCB3-9CA3-FA47-EA73899F5D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536038-832C-ADC9-3220-C970FAE57626}"/>
              </a:ext>
            </a:extLst>
          </p:cNvPr>
          <p:cNvSpPr>
            <a:spLocks noGrp="1"/>
          </p:cNvSpPr>
          <p:nvPr>
            <p:ph type="title"/>
          </p:nvPr>
        </p:nvSpPr>
        <p:spPr/>
        <p:txBody>
          <a:bodyPr/>
          <a:lstStyle/>
          <a:p>
            <a:r>
              <a:rPr lang="en-US"/>
              <a:t>The test set goes away now!</a:t>
            </a:r>
          </a:p>
        </p:txBody>
      </p:sp>
      <p:pic>
        <p:nvPicPr>
          <p:cNvPr id="7" name="Picture 6" descr="Small_Logo.jpg">
            <a:extLst>
              <a:ext uri="{FF2B5EF4-FFF2-40B4-BE49-F238E27FC236}">
                <a16:creationId xmlns:a16="http://schemas.microsoft.com/office/drawing/2014/main" id="{3EF3A282-76C1-4FB5-D90C-A39B391A224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0" name="Step Split"/>
          <p:cNvSpPr/>
          <p:nvPr/>
        </p:nvSpPr>
        <p:spPr>
          <a:xfrm>
            <a:off x="432000" y="1140000"/>
            <a:ext cx="1560000" cy="300000"/>
          </a:xfrm>
          <a:prstGeom prst="roundRect">
            <a:avLst>
              <a:gd name="adj" fmla="val 50000"/>
            </a:avLst>
          </a:prstGeom>
          <a:solidFill>
            <a:srgbClr val="1B87B9"/>
          </a:solidFill>
          <a:ln>
            <a:noFill/>
          </a:ln>
        </p:spPr>
        <p:txBody>
          <a:bodyPr wrap="square" lIns="45720" tIns="18000" rIns="45720" bIns="18000" anchor="ctr"/>
          <a:lstStyle/>
          <a:p>
            <a:pPr algn="ctr"/>
            <a:r>
              <a:rPr lang="en-US" sz="1100" b="1">
                <a:solidFill>
                  <a:srgbClr val="FFFFFF"/>
                </a:solidFill>
              </a:rPr>
              <a:t>Split</a:t>
            </a:r>
          </a:p>
        </p:txBody>
      </p:sp>
      <p:sp>
        <p:nvSpPr>
          <p:cNvPr id="901" name="Step Preprocess"/>
          <p:cNvSpPr/>
          <p:nvPr/>
        </p:nvSpPr>
        <p:spPr>
          <a:xfrm>
            <a:off x="211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Preprocess</a:t>
            </a:r>
          </a:p>
        </p:txBody>
      </p:sp>
      <p:sp>
        <p:nvSpPr>
          <p:cNvPr id="902" name="Step Specify"/>
          <p:cNvSpPr/>
          <p:nvPr/>
        </p:nvSpPr>
        <p:spPr>
          <a:xfrm>
            <a:off x="379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Specify</a:t>
            </a:r>
          </a:p>
        </p:txBody>
      </p:sp>
      <p:sp>
        <p:nvSpPr>
          <p:cNvPr id="903" name="Step Fit"/>
          <p:cNvSpPr/>
          <p:nvPr/>
        </p:nvSpPr>
        <p:spPr>
          <a:xfrm>
            <a:off x="547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Fit</a:t>
            </a:r>
          </a:p>
        </p:txBody>
      </p:sp>
      <p:sp>
        <p:nvSpPr>
          <p:cNvPr id="904" name="Step Evaluate"/>
          <p:cNvSpPr/>
          <p:nvPr/>
        </p:nvSpPr>
        <p:spPr>
          <a:xfrm>
            <a:off x="715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Evaluate</a:t>
            </a:r>
          </a:p>
        </p:txBody>
      </p:sp>
      <p:sp>
        <p:nvSpPr>
          <p:cNvPr id="30" name="Block Develop"/>
          <p:cNvSpPr/>
          <p:nvPr/>
        </p:nvSpPr>
        <p:spPr>
          <a:xfrm>
            <a:off x="386000" y="1880000"/>
            <a:ext cx="2600000" cy="1780000"/>
          </a:xfrm>
          <a:prstGeom prst="roundRect">
            <a:avLst>
              <a:gd name="adj" fmla="val 6000"/>
            </a:avLst>
          </a:prstGeom>
          <a:solidFill>
            <a:srgbClr val="1B87B9"/>
          </a:solidFill>
          <a:ln w="25400">
            <a:solidFill>
              <a:srgbClr val="1B87B9"/>
            </a:solidFill>
          </a:ln>
        </p:spPr>
        <p:txBody>
          <a:bodyPr wrap="square" lIns="91440" tIns="110000" rIns="91440" bIns="91440" anchor="ctr"/>
          <a:lstStyle/>
          <a:p>
            <a:pPr algn="ctr"/>
            <a:r>
              <a:rPr lang="en-US" sz="1200" b="1" spc="120">
                <a:solidFill>
                  <a:srgbClr val="FFFFFF"/>
                </a:solidFill>
              </a:rPr>
              <a:t>Develop the model</a:t>
            </a:r>
          </a:p>
          <a:p>
            <a:pPr algn="ctr"/>
            <a:r>
              <a:rPr lang="en-US" sz="2600" b="1">
                <a:solidFill>
                  <a:srgbClr val="FFFFFF"/>
                </a:solidFill>
              </a:rPr>
              <a:t>2016–2024</a:t>
            </a:r>
          </a:p>
          <a:p>
            <a:pPr algn="ctr"/>
            <a:r>
              <a:rPr lang="en-US" sz="1150" i="1">
                <a:solidFill>
                  <a:srgbClr val="D6ECF5"/>
                </a:solidFill>
              </a:rPr>
              <a:t>excluding 2020</a:t>
            </a:r>
          </a:p>
        </p:txBody>
      </p:sp>
      <p:sp>
        <p:nvSpPr>
          <p:cNvPr id="31" name="Block Final Test"/>
          <p:cNvSpPr/>
          <p:nvPr/>
        </p:nvSpPr>
        <p:spPr>
          <a:xfrm>
            <a:off x="3272000" y="1880000"/>
            <a:ext cx="2600000" cy="1780000"/>
          </a:xfrm>
          <a:prstGeom prst="roundRect">
            <a:avLst>
              <a:gd name="adj" fmla="val 6000"/>
            </a:avLst>
          </a:prstGeom>
          <a:solidFill>
            <a:srgbClr val="F1F3F5"/>
          </a:solidFill>
          <a:ln w="25400">
            <a:solidFill>
              <a:srgbClr val="B8C0C7"/>
            </a:solidFill>
            <a:prstDash val="dash"/>
          </a:ln>
        </p:spPr>
        <p:txBody>
          <a:bodyPr wrap="square" lIns="91440" tIns="110000" rIns="91440" bIns="91440" anchor="ctr"/>
          <a:lstStyle/>
          <a:p>
            <a:pPr algn="ctr"/>
            <a:r>
              <a:rPr lang="en-US" sz="1200" b="1" spc="120">
                <a:solidFill>
                  <a:srgbClr val="8A949B"/>
                </a:solidFill>
              </a:rPr>
              <a:t>Final test</a:t>
            </a:r>
          </a:p>
          <a:p>
            <a:pPr algn="ctr"/>
            <a:r>
              <a:rPr lang="en-US" sz="2600" b="1">
                <a:solidFill>
                  <a:srgbClr val="A7B1B8"/>
                </a:solidFill>
              </a:rPr>
              <a:t>2025</a:t>
            </a:r>
          </a:p>
          <a:p>
            <a:pPr algn="ctr"/>
            <a:r>
              <a:rPr lang="en-US" sz="1150" i="1">
                <a:solidFill>
                  <a:srgbClr val="9AA5AD"/>
                </a:solidFill>
              </a:rPr>
              <a:t>set aside — returns later</a:t>
            </a:r>
          </a:p>
        </p:txBody>
      </p:sp>
      <p:sp>
        <p:nvSpPr>
          <p:cNvPr id="32" name="Block Current"/>
          <p:cNvSpPr/>
          <p:nvPr/>
        </p:nvSpPr>
        <p:spPr>
          <a:xfrm>
            <a:off x="6158000" y="1880000"/>
            <a:ext cx="2600000" cy="1780000"/>
          </a:xfrm>
          <a:prstGeom prst="roundRect">
            <a:avLst>
              <a:gd name="adj" fmla="val 6000"/>
            </a:avLst>
          </a:prstGeom>
          <a:solidFill>
            <a:srgbClr val="FFE3B3"/>
          </a:solidFill>
          <a:ln w="25400">
            <a:solidFill>
              <a:schemeClr val="accent2"/>
            </a:solidFill>
            <a:prstDash val="dash"/>
          </a:ln>
        </p:spPr>
        <p:txBody>
          <a:bodyPr wrap="square" lIns="91440" tIns="110000" rIns="91440" bIns="91440" anchor="ctr"/>
          <a:lstStyle/>
          <a:p>
            <a:pPr algn="ctr"/>
            <a:r>
              <a:rPr lang="en-US" sz="1200" b="1" spc="120">
                <a:solidFill>
                  <a:schemeClr val="bg1"/>
                </a:solidFill>
              </a:rPr>
              <a:t>Current prediction</a:t>
            </a:r>
          </a:p>
          <a:p>
            <a:pPr algn="ctr"/>
            <a:r>
              <a:rPr lang="en-US" sz="2600" b="1">
                <a:solidFill>
                  <a:schemeClr val="bg1"/>
                </a:solidFill>
              </a:rPr>
              <a:t>2026</a:t>
            </a:r>
          </a:p>
          <a:p>
            <a:pPr algn="ctr"/>
            <a:r>
              <a:rPr lang="en-US" sz="1150" i="1">
                <a:solidFill>
                  <a:schemeClr val="bg1"/>
                </a:solidFill>
              </a:rPr>
              <a:t>what we forecast</a:t>
            </a:r>
          </a:p>
        </p:txBody>
      </p:sp>
    </p:spTree>
    <p:extLst>
      <p:ext uri="{BB962C8B-B14F-4D97-AF65-F5344CB8AC3E}">
        <p14:creationId xmlns:p14="http://schemas.microsoft.com/office/powerpoint/2010/main" val="1848176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DEF28-4635-25A8-D6E1-40A13076F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6FA54A-675A-C0C1-C033-CA71310118E0}"/>
              </a:ext>
            </a:extLst>
          </p:cNvPr>
          <p:cNvSpPr>
            <a:spLocks noGrp="1"/>
          </p:cNvSpPr>
          <p:nvPr>
            <p:ph type="title"/>
          </p:nvPr>
        </p:nvSpPr>
        <p:spPr/>
        <p:txBody>
          <a:bodyPr/>
          <a:lstStyle/>
          <a:p>
            <a:r>
              <a:rPr lang="en-US"/>
              <a:t>A recipe records how inputs should be prepared</a:t>
            </a:r>
          </a:p>
        </p:txBody>
      </p:sp>
      <p:pic>
        <p:nvPicPr>
          <p:cNvPr id="7" name="Picture 6" descr="Small_Logo.jpg">
            <a:extLst>
              <a:ext uri="{FF2B5EF4-FFF2-40B4-BE49-F238E27FC236}">
                <a16:creationId xmlns:a16="http://schemas.microsoft.com/office/drawing/2014/main" id="{9BCF5717-F707-B76F-24A2-9CA1665C4DD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0" name="Step Split"/>
          <p:cNvSpPr/>
          <p:nvPr/>
        </p:nvSpPr>
        <p:spPr>
          <a:xfrm>
            <a:off x="43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Split</a:t>
            </a:r>
          </a:p>
        </p:txBody>
      </p:sp>
      <p:sp>
        <p:nvSpPr>
          <p:cNvPr id="901" name="Step Preprocess"/>
          <p:cNvSpPr/>
          <p:nvPr/>
        </p:nvSpPr>
        <p:spPr>
          <a:xfrm>
            <a:off x="2112000" y="1140000"/>
            <a:ext cx="1560000" cy="300000"/>
          </a:xfrm>
          <a:prstGeom prst="roundRect">
            <a:avLst>
              <a:gd name="adj" fmla="val 50000"/>
            </a:avLst>
          </a:prstGeom>
          <a:solidFill>
            <a:srgbClr val="1B87B9"/>
          </a:solidFill>
          <a:ln>
            <a:noFill/>
          </a:ln>
        </p:spPr>
        <p:txBody>
          <a:bodyPr wrap="square" lIns="45720" tIns="18000" rIns="45720" bIns="18000" anchor="ctr"/>
          <a:lstStyle/>
          <a:p>
            <a:pPr algn="ctr"/>
            <a:r>
              <a:rPr lang="en-US" sz="1100" b="1">
                <a:solidFill>
                  <a:srgbClr val="FFFFFF"/>
                </a:solidFill>
              </a:rPr>
              <a:t>Preprocess</a:t>
            </a:r>
          </a:p>
        </p:txBody>
      </p:sp>
      <p:sp>
        <p:nvSpPr>
          <p:cNvPr id="902" name="Step Specify"/>
          <p:cNvSpPr/>
          <p:nvPr/>
        </p:nvSpPr>
        <p:spPr>
          <a:xfrm>
            <a:off x="379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Specify</a:t>
            </a:r>
          </a:p>
        </p:txBody>
      </p:sp>
      <p:sp>
        <p:nvSpPr>
          <p:cNvPr id="903" name="Step Fit"/>
          <p:cNvSpPr/>
          <p:nvPr/>
        </p:nvSpPr>
        <p:spPr>
          <a:xfrm>
            <a:off x="547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Fit</a:t>
            </a:r>
          </a:p>
        </p:txBody>
      </p:sp>
      <p:sp>
        <p:nvSpPr>
          <p:cNvPr id="904" name="Step Evaluate"/>
          <p:cNvSpPr/>
          <p:nvPr/>
        </p:nvSpPr>
        <p:spPr>
          <a:xfrm>
            <a:off x="715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Evaluate</a:t>
            </a:r>
          </a:p>
        </p:txBody>
      </p:sp>
      <p:sp>
        <p:nvSpPr>
          <p:cNvPr id="5" name="Recipe Code"/>
          <p:cNvSpPr/>
          <p:nvPr/>
        </p:nvSpPr>
        <p:spPr>
          <a:xfrm>
            <a:off x="432000" y="1620000"/>
            <a:ext cx="4860000" cy="2943687"/>
          </a:xfrm>
          <a:prstGeom prst="roundRect">
            <a:avLst>
              <a:gd name="adj" fmla="val 5000"/>
            </a:avLst>
          </a:prstGeom>
          <a:solidFill>
            <a:srgbClr val="0B5583"/>
          </a:solidFill>
          <a:ln w="19050">
            <a:solidFill>
              <a:srgbClr val="116898"/>
            </a:solidFill>
          </a:ln>
        </p:spPr>
        <p:txBody>
          <a:bodyPr wrap="square" lIns="182880" tIns="91440" rIns="91440" bIns="91440" anchor="t"/>
          <a:lstStyle/>
          <a:p>
            <a:pPr>
              <a:lnSpc>
                <a:spcPct val="108000"/>
              </a:lnSpc>
              <a:buNone/>
            </a:pPr>
            <a:r>
              <a:rPr lang="en-US" sz="1300" b="1" err="1">
                <a:solidFill>
                  <a:srgbClr val="CFE7F5"/>
                </a:solidFill>
                <a:latin typeface="Consolas"/>
              </a:rPr>
              <a:t>playoff_recipe</a:t>
            </a:r>
            <a:r>
              <a:rPr lang="en-US" sz="1300" b="1">
                <a:solidFill>
                  <a:srgbClr val="CFE7F5"/>
                </a:solidFill>
                <a:latin typeface="Consolas"/>
              </a:rPr>
              <a:t> </a:t>
            </a:r>
            <a:r>
              <a:rPr lang="en-US" sz="1300" b="1">
                <a:solidFill>
                  <a:srgbClr val="FFE3B3"/>
                </a:solidFill>
                <a:latin typeface="Consolas"/>
              </a:rPr>
              <a:t>&lt;-</a:t>
            </a:r>
            <a:r>
              <a:rPr lang="en-US" sz="1300" b="1">
                <a:solidFill>
                  <a:srgbClr val="CFE7F5"/>
                </a:solidFill>
                <a:latin typeface="Consolas"/>
              </a:rPr>
              <a:t> </a:t>
            </a:r>
            <a:r>
              <a:rPr lang="en-US" sz="1300" b="1">
                <a:solidFill>
                  <a:srgbClr val="F7864C"/>
                </a:solidFill>
                <a:latin typeface="Consolas"/>
              </a:rPr>
              <a:t>recipe</a:t>
            </a:r>
            <a:r>
              <a:rPr lang="en-US" sz="1300" b="1">
                <a:solidFill>
                  <a:schemeClr val="bg1"/>
                </a:solidFill>
                <a:latin typeface="Consolas"/>
              </a:rPr>
              <a:t>(</a:t>
            </a:r>
          </a:p>
          <a:p>
            <a:pPr>
              <a:lnSpc>
                <a:spcPct val="108000"/>
              </a:lnSpc>
              <a:buNone/>
            </a:pPr>
            <a:r>
              <a:rPr lang="en-US" sz="1300" b="1">
                <a:solidFill>
                  <a:srgbClr val="CFE7F5"/>
                </a:solidFill>
                <a:latin typeface="Consolas"/>
              </a:rPr>
              <a:t>  </a:t>
            </a:r>
            <a:r>
              <a:rPr lang="en-US" sz="1300" b="1" err="1">
                <a:solidFill>
                  <a:srgbClr val="CFE7F5"/>
                </a:solidFill>
                <a:latin typeface="Consolas"/>
              </a:rPr>
              <a:t>made_playoffs</a:t>
            </a:r>
            <a:r>
              <a:rPr lang="en-US" sz="1300" b="1">
                <a:solidFill>
                  <a:srgbClr val="CFE7F5"/>
                </a:solidFill>
                <a:latin typeface="Consolas"/>
              </a:rPr>
              <a:t> </a:t>
            </a:r>
            <a:r>
              <a:rPr lang="en-US" sz="1300" b="1">
                <a:solidFill>
                  <a:srgbClr val="FFE3B3"/>
                </a:solidFill>
                <a:latin typeface="Consolas"/>
              </a:rPr>
              <a:t>~</a:t>
            </a:r>
          </a:p>
          <a:p>
            <a:pPr>
              <a:lnSpc>
                <a:spcPct val="108000"/>
              </a:lnSpc>
              <a:buNone/>
            </a:pPr>
            <a:r>
              <a:rPr lang="en-US" sz="1300" b="1">
                <a:solidFill>
                  <a:srgbClr val="CFE7F5"/>
                </a:solidFill>
                <a:latin typeface="Consolas"/>
              </a:rPr>
              <a:t>    points</a:t>
            </a:r>
            <a:r>
              <a:rPr lang="en-US" sz="1300" b="1">
                <a:solidFill>
                  <a:srgbClr val="FFE3B3"/>
                </a:solidFill>
                <a:latin typeface="Consolas"/>
              </a:rPr>
              <a:t> + </a:t>
            </a:r>
            <a:r>
              <a:rPr lang="en-US" sz="1300" b="1">
                <a:solidFill>
                  <a:srgbClr val="CFE7F5"/>
                </a:solidFill>
                <a:latin typeface="Consolas"/>
              </a:rPr>
              <a:t>wins</a:t>
            </a:r>
            <a:r>
              <a:rPr lang="en-US" sz="1300" b="1">
                <a:solidFill>
                  <a:srgbClr val="FFE3B3"/>
                </a:solidFill>
                <a:latin typeface="Consolas"/>
              </a:rPr>
              <a:t> + </a:t>
            </a:r>
            <a:r>
              <a:rPr lang="en-US" sz="1300" b="1" err="1">
                <a:solidFill>
                  <a:srgbClr val="CFE7F5"/>
                </a:solidFill>
                <a:latin typeface="Consolas"/>
              </a:rPr>
              <a:t>goal_diff</a:t>
            </a:r>
            <a:r>
              <a:rPr lang="en-US" sz="1300" b="1">
                <a:solidFill>
                  <a:srgbClr val="FFE3B3"/>
                </a:solidFill>
                <a:latin typeface="Consolas"/>
              </a:rPr>
              <a:t> + </a:t>
            </a:r>
            <a:r>
              <a:rPr lang="en-US" sz="1300" b="1" err="1">
                <a:solidFill>
                  <a:srgbClr val="CFE7F5"/>
                </a:solidFill>
                <a:latin typeface="Consolas"/>
              </a:rPr>
              <a:t>games_played</a:t>
            </a:r>
            <a:r>
              <a:rPr lang="en-US" sz="1300" b="1">
                <a:solidFill>
                  <a:srgbClr val="CFE7F5"/>
                </a:solidFill>
                <a:latin typeface="Consolas"/>
              </a:rPr>
              <a:t> </a:t>
            </a:r>
            <a:r>
              <a:rPr lang="en-US" sz="1300" b="1">
                <a:solidFill>
                  <a:srgbClr val="FFE3B3"/>
                </a:solidFill>
                <a:latin typeface="Consolas"/>
              </a:rPr>
              <a:t>+</a:t>
            </a:r>
          </a:p>
          <a:p>
            <a:pPr>
              <a:lnSpc>
                <a:spcPct val="108000"/>
              </a:lnSpc>
              <a:buNone/>
            </a:pPr>
            <a:r>
              <a:rPr lang="en-US" sz="1300" b="1">
                <a:solidFill>
                  <a:srgbClr val="CFE7F5"/>
                </a:solidFill>
                <a:latin typeface="Consolas"/>
              </a:rPr>
              <a:t>    last_5_points </a:t>
            </a:r>
            <a:r>
              <a:rPr lang="en-US" sz="1300" b="1">
                <a:solidFill>
                  <a:srgbClr val="FFE3B3"/>
                </a:solidFill>
                <a:latin typeface="Consolas"/>
              </a:rPr>
              <a:t>+</a:t>
            </a:r>
            <a:r>
              <a:rPr lang="en-US" sz="1300" b="1">
                <a:solidFill>
                  <a:srgbClr val="CFE7F5"/>
                </a:solidFill>
                <a:latin typeface="Consolas"/>
              </a:rPr>
              <a:t> last_5_goal_diff </a:t>
            </a:r>
            <a:r>
              <a:rPr lang="en-US" sz="1300" b="1">
                <a:solidFill>
                  <a:srgbClr val="FFE3B3"/>
                </a:solidFill>
                <a:latin typeface="Consolas"/>
              </a:rPr>
              <a:t>+</a:t>
            </a:r>
          </a:p>
          <a:p>
            <a:pPr>
              <a:lnSpc>
                <a:spcPct val="108000"/>
              </a:lnSpc>
              <a:buNone/>
            </a:pPr>
            <a:r>
              <a:rPr lang="en-US" sz="1300" b="1">
                <a:solidFill>
                  <a:srgbClr val="CFE7F5"/>
                </a:solidFill>
                <a:latin typeface="Consolas"/>
              </a:rPr>
              <a:t>    </a:t>
            </a:r>
            <a:r>
              <a:rPr lang="en-US" sz="1300" b="1" err="1">
                <a:solidFill>
                  <a:srgbClr val="CFE7F5"/>
                </a:solidFill>
                <a:latin typeface="Consolas"/>
              </a:rPr>
              <a:t>points_rank_pct</a:t>
            </a:r>
            <a:r>
              <a:rPr lang="en-US" sz="1300" b="1">
                <a:solidFill>
                  <a:srgbClr val="CFE7F5"/>
                </a:solidFill>
                <a:latin typeface="Consolas"/>
              </a:rPr>
              <a:t> </a:t>
            </a:r>
            <a:r>
              <a:rPr lang="en-US" sz="1300" b="1">
                <a:solidFill>
                  <a:srgbClr val="FFE3B3"/>
                </a:solidFill>
                <a:latin typeface="Consolas"/>
              </a:rPr>
              <a:t>+ </a:t>
            </a:r>
            <a:r>
              <a:rPr lang="en-US" sz="1300" b="1" err="1">
                <a:solidFill>
                  <a:srgbClr val="CFE7F5"/>
                </a:solidFill>
                <a:latin typeface="Consolas"/>
              </a:rPr>
              <a:t>points_gap_to_cutline</a:t>
            </a:r>
            <a:r>
              <a:rPr lang="en-US" sz="1300" b="1">
                <a:solidFill>
                  <a:srgbClr val="FFE3B3"/>
                </a:solidFill>
                <a:latin typeface="Consolas"/>
              </a:rPr>
              <a:t> +</a:t>
            </a:r>
          </a:p>
          <a:p>
            <a:pPr>
              <a:lnSpc>
                <a:spcPct val="108000"/>
              </a:lnSpc>
              <a:buNone/>
            </a:pPr>
            <a:r>
              <a:rPr lang="en-US" sz="1300" b="1">
                <a:solidFill>
                  <a:srgbClr val="CFE7F5"/>
                </a:solidFill>
                <a:latin typeface="Consolas"/>
              </a:rPr>
              <a:t>    </a:t>
            </a:r>
            <a:r>
              <a:rPr lang="en-US" sz="1300" b="1" err="1">
                <a:solidFill>
                  <a:srgbClr val="CFE7F5"/>
                </a:solidFill>
                <a:latin typeface="Consolas"/>
              </a:rPr>
              <a:t>playoff_share</a:t>
            </a:r>
            <a:r>
              <a:rPr lang="en-US" sz="1300" b="1">
                <a:solidFill>
                  <a:srgbClr val="CFE7F5"/>
                </a:solidFill>
                <a:latin typeface="Consolas"/>
              </a:rPr>
              <a:t> </a:t>
            </a:r>
            <a:r>
              <a:rPr lang="en-US" sz="1300" b="1">
                <a:solidFill>
                  <a:srgbClr val="FFE3B3"/>
                </a:solidFill>
                <a:latin typeface="Consolas"/>
              </a:rPr>
              <a:t>+</a:t>
            </a:r>
            <a:r>
              <a:rPr lang="en-US" sz="1300" b="1">
                <a:solidFill>
                  <a:srgbClr val="CFE7F5"/>
                </a:solidFill>
                <a:latin typeface="Consolas"/>
              </a:rPr>
              <a:t> </a:t>
            </a:r>
            <a:r>
              <a:rPr lang="en-US" sz="1300" b="1" err="1">
                <a:solidFill>
                  <a:srgbClr val="CFE7F5"/>
                </a:solidFill>
                <a:latin typeface="Consolas"/>
              </a:rPr>
              <a:t>season_pct</a:t>
            </a:r>
            <a:r>
              <a:rPr lang="en-US" sz="1300" b="1">
                <a:solidFill>
                  <a:srgbClr val="CFE7F5"/>
                </a:solidFill>
                <a:latin typeface="Consolas"/>
              </a:rPr>
              <a:t>,</a:t>
            </a:r>
          </a:p>
          <a:p>
            <a:pPr>
              <a:lnSpc>
                <a:spcPct val="108000"/>
              </a:lnSpc>
              <a:buNone/>
            </a:pPr>
            <a:r>
              <a:rPr lang="en-US" sz="1300" b="1">
                <a:solidFill>
                  <a:srgbClr val="CFE7F5"/>
                </a:solidFill>
                <a:latin typeface="Consolas"/>
              </a:rPr>
              <a:t>  data </a:t>
            </a:r>
            <a:r>
              <a:rPr lang="en-US" sz="1300" b="1">
                <a:solidFill>
                  <a:srgbClr val="FFE3B3"/>
                </a:solidFill>
                <a:latin typeface="Consolas"/>
              </a:rPr>
              <a:t>=</a:t>
            </a:r>
            <a:r>
              <a:rPr lang="en-US" sz="1300" b="1">
                <a:solidFill>
                  <a:srgbClr val="CFE7F5"/>
                </a:solidFill>
                <a:latin typeface="Consolas"/>
              </a:rPr>
              <a:t> train</a:t>
            </a:r>
          </a:p>
          <a:p>
            <a:pPr>
              <a:lnSpc>
                <a:spcPct val="108000"/>
              </a:lnSpc>
              <a:buNone/>
            </a:pPr>
            <a:r>
              <a:rPr lang="en-US" sz="1300" b="1">
                <a:solidFill>
                  <a:schemeClr val="bg1"/>
                </a:solidFill>
                <a:latin typeface="Consolas"/>
              </a:rPr>
              <a:t>)</a:t>
            </a:r>
            <a:r>
              <a:rPr lang="en-US" sz="1300" b="1">
                <a:solidFill>
                  <a:srgbClr val="CFE7F5"/>
                </a:solidFill>
                <a:latin typeface="Consolas"/>
              </a:rPr>
              <a:t> </a:t>
            </a:r>
            <a:r>
              <a:rPr lang="en-US" sz="1300" b="1">
                <a:solidFill>
                  <a:srgbClr val="FFE3B3"/>
                </a:solidFill>
                <a:latin typeface="Consolas"/>
              </a:rPr>
              <a:t>|&gt;</a:t>
            </a:r>
          </a:p>
          <a:p>
            <a:pPr>
              <a:lnSpc>
                <a:spcPct val="108000"/>
              </a:lnSpc>
              <a:buNone/>
            </a:pPr>
            <a:r>
              <a:rPr lang="en-US" sz="1300" b="1">
                <a:solidFill>
                  <a:srgbClr val="CFE7F5"/>
                </a:solidFill>
                <a:latin typeface="Consolas"/>
              </a:rPr>
              <a:t>  </a:t>
            </a:r>
            <a:r>
              <a:rPr lang="en-US" sz="1300" b="1" err="1">
                <a:solidFill>
                  <a:srgbClr val="F7864C"/>
                </a:solidFill>
                <a:latin typeface="Consolas"/>
              </a:rPr>
              <a:t>step_mutate</a:t>
            </a:r>
            <a:r>
              <a:rPr lang="en-US" sz="1300" b="1">
                <a:solidFill>
                  <a:schemeClr val="bg1"/>
                </a:solidFill>
                <a:latin typeface="Consolas"/>
              </a:rPr>
              <a:t>(</a:t>
            </a:r>
          </a:p>
          <a:p>
            <a:pPr>
              <a:lnSpc>
                <a:spcPct val="108000"/>
              </a:lnSpc>
              <a:buNone/>
            </a:pPr>
            <a:r>
              <a:rPr lang="en-US" sz="1300" b="1">
                <a:solidFill>
                  <a:srgbClr val="CFE7F5"/>
                </a:solidFill>
                <a:latin typeface="Consolas"/>
              </a:rPr>
              <a:t>    </a:t>
            </a:r>
            <a:r>
              <a:rPr lang="en-US" sz="1300" b="1" err="1">
                <a:solidFill>
                  <a:srgbClr val="CFE7F5"/>
                </a:solidFill>
                <a:latin typeface="Consolas"/>
              </a:rPr>
              <a:t>points_per_game</a:t>
            </a:r>
            <a:r>
              <a:rPr lang="en-US" sz="1300" b="1">
                <a:solidFill>
                  <a:srgbClr val="CFE7F5"/>
                </a:solidFill>
                <a:latin typeface="Consolas"/>
              </a:rPr>
              <a:t> </a:t>
            </a:r>
            <a:r>
              <a:rPr lang="en-US" sz="1300" b="1">
                <a:solidFill>
                  <a:srgbClr val="FFE3B3"/>
                </a:solidFill>
                <a:latin typeface="Consolas"/>
              </a:rPr>
              <a:t>=</a:t>
            </a:r>
            <a:r>
              <a:rPr lang="en-US" sz="1300" b="1">
                <a:solidFill>
                  <a:srgbClr val="CFE7F5"/>
                </a:solidFill>
                <a:latin typeface="Consolas"/>
              </a:rPr>
              <a:t> points </a:t>
            </a:r>
            <a:r>
              <a:rPr lang="en-US" sz="1300" b="1">
                <a:solidFill>
                  <a:srgbClr val="FFE3B3"/>
                </a:solidFill>
                <a:latin typeface="Consolas"/>
              </a:rPr>
              <a:t>/</a:t>
            </a:r>
            <a:r>
              <a:rPr lang="en-US" sz="1300" b="1">
                <a:solidFill>
                  <a:srgbClr val="CFE7F5"/>
                </a:solidFill>
                <a:latin typeface="Consolas"/>
              </a:rPr>
              <a:t> </a:t>
            </a:r>
            <a:r>
              <a:rPr lang="en-US" sz="1300" b="1" err="1">
                <a:solidFill>
                  <a:srgbClr val="CFE7F5"/>
                </a:solidFill>
                <a:latin typeface="Consolas"/>
              </a:rPr>
              <a:t>games_played</a:t>
            </a:r>
            <a:r>
              <a:rPr lang="en-US" sz="1300" b="1">
                <a:solidFill>
                  <a:srgbClr val="CFE7F5"/>
                </a:solidFill>
                <a:latin typeface="Consolas"/>
              </a:rPr>
              <a:t>,</a:t>
            </a:r>
          </a:p>
          <a:p>
            <a:pPr>
              <a:lnSpc>
                <a:spcPct val="108000"/>
              </a:lnSpc>
              <a:buNone/>
            </a:pPr>
            <a:r>
              <a:rPr lang="en-US" sz="1300" b="1">
                <a:solidFill>
                  <a:srgbClr val="CFE7F5"/>
                </a:solidFill>
                <a:latin typeface="Consolas"/>
              </a:rPr>
              <a:t>    </a:t>
            </a:r>
            <a:r>
              <a:rPr lang="en-US" sz="1300" b="1" err="1">
                <a:solidFill>
                  <a:srgbClr val="CFE7F5"/>
                </a:solidFill>
                <a:latin typeface="Consolas"/>
              </a:rPr>
              <a:t>win_pct</a:t>
            </a:r>
            <a:r>
              <a:rPr lang="en-US" sz="1300" b="1">
                <a:solidFill>
                  <a:srgbClr val="CFE7F5"/>
                </a:solidFill>
                <a:latin typeface="Consolas"/>
              </a:rPr>
              <a:t> </a:t>
            </a:r>
            <a:r>
              <a:rPr lang="en-US" sz="1300" b="1">
                <a:solidFill>
                  <a:srgbClr val="FFE3B3"/>
                </a:solidFill>
                <a:latin typeface="Consolas"/>
              </a:rPr>
              <a:t>=</a:t>
            </a:r>
            <a:r>
              <a:rPr lang="en-US" sz="1300" b="1">
                <a:solidFill>
                  <a:srgbClr val="CFE7F5"/>
                </a:solidFill>
                <a:latin typeface="Consolas"/>
              </a:rPr>
              <a:t> wins </a:t>
            </a:r>
            <a:r>
              <a:rPr lang="en-US" sz="1300" b="1">
                <a:solidFill>
                  <a:srgbClr val="FFE3B3"/>
                </a:solidFill>
                <a:latin typeface="Consolas"/>
              </a:rPr>
              <a:t>/</a:t>
            </a:r>
            <a:r>
              <a:rPr lang="en-US" sz="1300" b="1">
                <a:solidFill>
                  <a:srgbClr val="CFE7F5"/>
                </a:solidFill>
                <a:latin typeface="Consolas"/>
              </a:rPr>
              <a:t> </a:t>
            </a:r>
            <a:r>
              <a:rPr lang="en-US" sz="1300" b="1" err="1">
                <a:solidFill>
                  <a:srgbClr val="CFE7F5"/>
                </a:solidFill>
                <a:latin typeface="Consolas"/>
              </a:rPr>
              <a:t>games_played</a:t>
            </a:r>
            <a:r>
              <a:rPr lang="en-US" sz="1300" b="1">
                <a:solidFill>
                  <a:srgbClr val="CFE7F5"/>
                </a:solidFill>
                <a:latin typeface="Consolas"/>
              </a:rPr>
              <a:t>,</a:t>
            </a:r>
          </a:p>
          <a:p>
            <a:pPr>
              <a:lnSpc>
                <a:spcPct val="108000"/>
              </a:lnSpc>
              <a:buNone/>
            </a:pPr>
            <a:r>
              <a:rPr lang="en-US" sz="1300" b="1">
                <a:solidFill>
                  <a:srgbClr val="CFE7F5"/>
                </a:solidFill>
                <a:latin typeface="Consolas"/>
              </a:rPr>
              <a:t>    </a:t>
            </a:r>
            <a:r>
              <a:rPr lang="en-US" sz="1300" b="1" err="1">
                <a:solidFill>
                  <a:srgbClr val="CFE7F5"/>
                </a:solidFill>
                <a:latin typeface="Consolas"/>
              </a:rPr>
              <a:t>goal_diff_per_game</a:t>
            </a:r>
            <a:r>
              <a:rPr lang="en-US" sz="1300" b="1">
                <a:solidFill>
                  <a:srgbClr val="CFE7F5"/>
                </a:solidFill>
                <a:latin typeface="Consolas"/>
              </a:rPr>
              <a:t> </a:t>
            </a:r>
            <a:r>
              <a:rPr lang="en-US" sz="1300" b="1">
                <a:solidFill>
                  <a:srgbClr val="FFE3B3"/>
                </a:solidFill>
                <a:latin typeface="Consolas"/>
              </a:rPr>
              <a:t>=</a:t>
            </a:r>
            <a:r>
              <a:rPr lang="en-US" sz="1300" b="1">
                <a:solidFill>
                  <a:srgbClr val="CFE7F5"/>
                </a:solidFill>
                <a:latin typeface="Consolas"/>
              </a:rPr>
              <a:t> </a:t>
            </a:r>
            <a:r>
              <a:rPr lang="en-US" sz="1300" b="1" err="1">
                <a:solidFill>
                  <a:srgbClr val="CFE7F5"/>
                </a:solidFill>
                <a:latin typeface="Consolas"/>
              </a:rPr>
              <a:t>goal_diff</a:t>
            </a:r>
            <a:r>
              <a:rPr lang="en-US" sz="1300" b="1">
                <a:solidFill>
                  <a:srgbClr val="CFE7F5"/>
                </a:solidFill>
                <a:latin typeface="Consolas"/>
              </a:rPr>
              <a:t> </a:t>
            </a:r>
            <a:r>
              <a:rPr lang="en-US" sz="1300" b="1">
                <a:solidFill>
                  <a:srgbClr val="FFE3B3"/>
                </a:solidFill>
                <a:latin typeface="Consolas"/>
              </a:rPr>
              <a:t>/</a:t>
            </a:r>
            <a:r>
              <a:rPr lang="en-US" sz="1300" b="1">
                <a:solidFill>
                  <a:srgbClr val="CFE7F5"/>
                </a:solidFill>
                <a:latin typeface="Consolas"/>
              </a:rPr>
              <a:t> </a:t>
            </a:r>
            <a:r>
              <a:rPr lang="en-US" sz="1300" b="1" err="1">
                <a:solidFill>
                  <a:srgbClr val="CFE7F5"/>
                </a:solidFill>
                <a:latin typeface="Consolas"/>
              </a:rPr>
              <a:t>games_played</a:t>
            </a:r>
            <a:endParaRPr lang="en-US" sz="1300" b="1">
              <a:solidFill>
                <a:srgbClr val="CFE7F5"/>
              </a:solidFill>
              <a:latin typeface="Consolas"/>
            </a:endParaRPr>
          </a:p>
          <a:p>
            <a:pPr>
              <a:lnSpc>
                <a:spcPct val="108000"/>
              </a:lnSpc>
              <a:buNone/>
            </a:pPr>
            <a:r>
              <a:rPr lang="en-US" sz="1300" b="1">
                <a:solidFill>
                  <a:schemeClr val="bg1"/>
                </a:solidFill>
                <a:latin typeface="Consolas"/>
              </a:rPr>
              <a:t>  )</a:t>
            </a:r>
          </a:p>
        </p:txBody>
      </p:sp>
      <p:sp>
        <p:nvSpPr>
          <p:cNvPr id="910" name="Group Performance"/>
          <p:cNvSpPr/>
          <p:nvPr/>
        </p:nvSpPr>
        <p:spPr>
          <a:xfrm>
            <a:off x="5472000" y="1620000"/>
            <a:ext cx="3240000" cy="980000"/>
          </a:xfrm>
          <a:prstGeom prst="roundRect">
            <a:avLst>
              <a:gd name="adj" fmla="val 6000"/>
            </a:avLst>
          </a:prstGeom>
          <a:solidFill>
            <a:srgbClr val="FFFFFF"/>
          </a:solidFill>
          <a:ln w="12700">
            <a:solidFill>
              <a:srgbClr val="D8DEE6"/>
            </a:solidFill>
          </a:ln>
        </p:spPr>
        <p:txBody>
          <a:bodyPr wrap="square" lIns="118872" tIns="72000" rIns="91440" bIns="72000" anchor="t"/>
          <a:lstStyle/>
          <a:p>
            <a:pPr>
              <a:spcAft>
                <a:spcPts val="400"/>
              </a:spcAft>
              <a:buNone/>
            </a:pPr>
            <a:r>
              <a:rPr lang="en-US" sz="1300" b="1">
                <a:solidFill>
                  <a:srgbClr val="1B87B9"/>
                </a:solidFill>
              </a:rPr>
              <a:t>Performance</a:t>
            </a:r>
          </a:p>
          <a:p>
            <a:pPr>
              <a:buNone/>
            </a:pPr>
            <a:r>
              <a:rPr lang="en-US" sz="1100">
                <a:solidFill>
                  <a:srgbClr val="5A6772"/>
                </a:solidFill>
                <a:latin typeface="Consolas"/>
              </a:rPr>
              <a:t>points, wins, </a:t>
            </a:r>
            <a:r>
              <a:rPr lang="en-US" sz="1100" err="1">
                <a:solidFill>
                  <a:srgbClr val="5A6772"/>
                </a:solidFill>
                <a:latin typeface="Consolas"/>
              </a:rPr>
              <a:t>goal_diff</a:t>
            </a:r>
            <a:r>
              <a:rPr lang="en-US" sz="1100">
                <a:solidFill>
                  <a:srgbClr val="5A6772"/>
                </a:solidFill>
                <a:latin typeface="Consolas"/>
              </a:rPr>
              <a:t>, </a:t>
            </a:r>
            <a:r>
              <a:rPr lang="en-US" sz="1100" err="1">
                <a:solidFill>
                  <a:srgbClr val="5A6772"/>
                </a:solidFill>
                <a:latin typeface="Consolas"/>
              </a:rPr>
              <a:t>games_played</a:t>
            </a:r>
            <a:endParaRPr lang="en-US" sz="1100">
              <a:solidFill>
                <a:srgbClr val="5A6772"/>
              </a:solidFill>
              <a:latin typeface="Consolas"/>
            </a:endParaRPr>
          </a:p>
          <a:p>
            <a:pPr>
              <a:spcBef>
                <a:spcPts val="400"/>
              </a:spcBef>
              <a:buNone/>
            </a:pPr>
            <a:r>
              <a:rPr lang="en-US" sz="1100">
                <a:solidFill>
                  <a:srgbClr val="1B87B9"/>
                </a:solidFill>
                <a:latin typeface="+mj-lt"/>
              </a:rPr>
              <a:t>+ derived: </a:t>
            </a:r>
            <a:r>
              <a:rPr lang="en-US" sz="1050" err="1">
                <a:solidFill>
                  <a:srgbClr val="5A6772"/>
                </a:solidFill>
                <a:latin typeface="Consolas"/>
              </a:rPr>
              <a:t>points_per_game</a:t>
            </a:r>
            <a:r>
              <a:rPr lang="en-US" sz="1050">
                <a:solidFill>
                  <a:srgbClr val="5A6772"/>
                </a:solidFill>
                <a:latin typeface="Consolas"/>
              </a:rPr>
              <a:t>, </a:t>
            </a:r>
            <a:r>
              <a:rPr lang="en-US" sz="1050" err="1">
                <a:solidFill>
                  <a:srgbClr val="5A6772"/>
                </a:solidFill>
                <a:latin typeface="Consolas"/>
              </a:rPr>
              <a:t>win_pct</a:t>
            </a:r>
            <a:r>
              <a:rPr lang="en-US" sz="1050">
                <a:solidFill>
                  <a:srgbClr val="5A6772"/>
                </a:solidFill>
                <a:latin typeface="Consolas"/>
              </a:rPr>
              <a:t>, </a:t>
            </a:r>
            <a:r>
              <a:rPr lang="en-US" sz="1050" err="1">
                <a:solidFill>
                  <a:srgbClr val="5A6772"/>
                </a:solidFill>
                <a:latin typeface="Consolas"/>
              </a:rPr>
              <a:t>goal_diff_per_game</a:t>
            </a:r>
            <a:endParaRPr lang="en-US" sz="1050">
              <a:solidFill>
                <a:srgbClr val="5A6772"/>
              </a:solidFill>
              <a:latin typeface="Consolas"/>
            </a:endParaRPr>
          </a:p>
        </p:txBody>
      </p:sp>
      <p:sp>
        <p:nvSpPr>
          <p:cNvPr id="911" name="Group Momentum"/>
          <p:cNvSpPr/>
          <p:nvPr/>
        </p:nvSpPr>
        <p:spPr>
          <a:xfrm>
            <a:off x="5472000" y="2700000"/>
            <a:ext cx="3240000" cy="820000"/>
          </a:xfrm>
          <a:prstGeom prst="roundRect">
            <a:avLst>
              <a:gd name="adj" fmla="val 6000"/>
            </a:avLst>
          </a:prstGeom>
          <a:solidFill>
            <a:srgbClr val="FFFFFF"/>
          </a:solidFill>
          <a:ln w="12700">
            <a:solidFill>
              <a:srgbClr val="D8DEE6"/>
            </a:solidFill>
          </a:ln>
        </p:spPr>
        <p:txBody>
          <a:bodyPr wrap="square" lIns="118872" tIns="72000" rIns="91440" bIns="72000" anchor="t"/>
          <a:lstStyle/>
          <a:p>
            <a:pPr>
              <a:spcAft>
                <a:spcPts val="400"/>
              </a:spcAft>
              <a:buNone/>
            </a:pPr>
            <a:r>
              <a:rPr lang="en-US" sz="1300" b="1">
                <a:solidFill>
                  <a:srgbClr val="1B87B9"/>
                </a:solidFill>
              </a:rPr>
              <a:t>Momentum</a:t>
            </a:r>
          </a:p>
          <a:p>
            <a:pPr>
              <a:buNone/>
            </a:pPr>
            <a:r>
              <a:rPr lang="en-US" sz="1100">
                <a:solidFill>
                  <a:srgbClr val="5A6772"/>
                </a:solidFill>
                <a:latin typeface="Consolas"/>
              </a:rPr>
              <a:t>last_5_points, last_5_goal_diff</a:t>
            </a:r>
          </a:p>
        </p:txBody>
      </p:sp>
      <p:sp>
        <p:nvSpPr>
          <p:cNvPr id="912" name="Group Context"/>
          <p:cNvSpPr/>
          <p:nvPr/>
        </p:nvSpPr>
        <p:spPr>
          <a:xfrm>
            <a:off x="5472000" y="3620000"/>
            <a:ext cx="3240000" cy="943687"/>
          </a:xfrm>
          <a:prstGeom prst="roundRect">
            <a:avLst>
              <a:gd name="adj" fmla="val 6000"/>
            </a:avLst>
          </a:prstGeom>
          <a:solidFill>
            <a:srgbClr val="FFFFFF"/>
          </a:solidFill>
          <a:ln w="12700">
            <a:solidFill>
              <a:srgbClr val="D8DEE6"/>
            </a:solidFill>
          </a:ln>
        </p:spPr>
        <p:txBody>
          <a:bodyPr wrap="square" lIns="118872" tIns="72000" rIns="91440" bIns="72000" anchor="t"/>
          <a:lstStyle/>
          <a:p>
            <a:pPr>
              <a:spcAft>
                <a:spcPts val="400"/>
              </a:spcAft>
              <a:buNone/>
            </a:pPr>
            <a:r>
              <a:rPr lang="en-US" sz="1300" b="1">
                <a:solidFill>
                  <a:srgbClr val="1B87B9"/>
                </a:solidFill>
              </a:rPr>
              <a:t>Context</a:t>
            </a:r>
          </a:p>
          <a:p>
            <a:pPr>
              <a:buNone/>
            </a:pPr>
            <a:r>
              <a:rPr lang="en-US" sz="1100" err="1">
                <a:solidFill>
                  <a:srgbClr val="5A6772"/>
                </a:solidFill>
                <a:latin typeface="Consolas"/>
              </a:rPr>
              <a:t>points_rank_pct</a:t>
            </a:r>
            <a:r>
              <a:rPr lang="en-US" sz="1100">
                <a:solidFill>
                  <a:srgbClr val="5A6772"/>
                </a:solidFill>
                <a:latin typeface="Consolas"/>
              </a:rPr>
              <a:t>, </a:t>
            </a:r>
            <a:r>
              <a:rPr lang="en-US" sz="1100" err="1">
                <a:solidFill>
                  <a:srgbClr val="5A6772"/>
                </a:solidFill>
                <a:latin typeface="Consolas"/>
              </a:rPr>
              <a:t>points_gap_to_cutline</a:t>
            </a:r>
            <a:r>
              <a:rPr lang="en-US" sz="1100">
                <a:solidFill>
                  <a:srgbClr val="5A6772"/>
                </a:solidFill>
                <a:latin typeface="Consolas"/>
              </a:rPr>
              <a:t>, </a:t>
            </a:r>
            <a:r>
              <a:rPr lang="en-US" sz="1100" err="1">
                <a:solidFill>
                  <a:srgbClr val="5A6772"/>
                </a:solidFill>
                <a:latin typeface="Consolas"/>
              </a:rPr>
              <a:t>playoff_share</a:t>
            </a:r>
            <a:r>
              <a:rPr lang="en-US" sz="1100">
                <a:solidFill>
                  <a:srgbClr val="5A6772"/>
                </a:solidFill>
                <a:latin typeface="Consolas"/>
              </a:rPr>
              <a:t>, </a:t>
            </a:r>
            <a:r>
              <a:rPr lang="en-US" sz="1100" err="1">
                <a:solidFill>
                  <a:srgbClr val="5A6772"/>
                </a:solidFill>
                <a:latin typeface="Consolas"/>
              </a:rPr>
              <a:t>season_pct</a:t>
            </a:r>
            <a:endParaRPr lang="en-US" sz="1100">
              <a:solidFill>
                <a:srgbClr val="5A6772"/>
              </a:solidFill>
              <a:latin typeface="Consolas"/>
            </a:endParaRPr>
          </a:p>
        </p:txBody>
      </p:sp>
    </p:spTree>
    <p:extLst>
      <p:ext uri="{BB962C8B-B14F-4D97-AF65-F5344CB8AC3E}">
        <p14:creationId xmlns:p14="http://schemas.microsoft.com/office/powerpoint/2010/main" val="697534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B70B2-4F39-C949-449B-C08723661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39D81-71DA-FDB3-0C13-7C46B054E855}"/>
              </a:ext>
            </a:extLst>
          </p:cNvPr>
          <p:cNvSpPr>
            <a:spLocks noGrp="1"/>
          </p:cNvSpPr>
          <p:nvPr>
            <p:ph type="title"/>
          </p:nvPr>
        </p:nvSpPr>
        <p:spPr/>
        <p:txBody>
          <a:bodyPr/>
          <a:lstStyle/>
          <a:p>
            <a:r>
              <a:rPr lang="en-US"/>
              <a:t>What even is a random forest?</a:t>
            </a:r>
          </a:p>
        </p:txBody>
      </p:sp>
      <p:pic>
        <p:nvPicPr>
          <p:cNvPr id="7" name="Picture 6" descr="Small_Logo.jpg">
            <a:extLst>
              <a:ext uri="{FF2B5EF4-FFF2-40B4-BE49-F238E27FC236}">
                <a16:creationId xmlns:a16="http://schemas.microsoft.com/office/drawing/2014/main" id="{88166AF9-A8AF-AA17-D53B-81F304E8B1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0" name="Step Split"/>
          <p:cNvSpPr/>
          <p:nvPr/>
        </p:nvSpPr>
        <p:spPr>
          <a:xfrm>
            <a:off x="43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Split</a:t>
            </a:r>
          </a:p>
        </p:txBody>
      </p:sp>
      <p:sp>
        <p:nvSpPr>
          <p:cNvPr id="901" name="Step Preprocess"/>
          <p:cNvSpPr/>
          <p:nvPr/>
        </p:nvSpPr>
        <p:spPr>
          <a:xfrm>
            <a:off x="211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Preprocess</a:t>
            </a:r>
          </a:p>
        </p:txBody>
      </p:sp>
      <p:sp>
        <p:nvSpPr>
          <p:cNvPr id="902" name="Step Specify"/>
          <p:cNvSpPr/>
          <p:nvPr/>
        </p:nvSpPr>
        <p:spPr>
          <a:xfrm>
            <a:off x="3792000" y="1140000"/>
            <a:ext cx="1560000" cy="300000"/>
          </a:xfrm>
          <a:prstGeom prst="roundRect">
            <a:avLst>
              <a:gd name="adj" fmla="val 50000"/>
            </a:avLst>
          </a:prstGeom>
          <a:solidFill>
            <a:srgbClr val="1B87B9"/>
          </a:solidFill>
          <a:ln>
            <a:noFill/>
          </a:ln>
        </p:spPr>
        <p:txBody>
          <a:bodyPr wrap="square" lIns="45720" tIns="18000" rIns="45720" bIns="18000" anchor="ctr"/>
          <a:lstStyle/>
          <a:p>
            <a:pPr algn="ctr"/>
            <a:r>
              <a:rPr lang="en-US" sz="1100" b="1">
                <a:solidFill>
                  <a:srgbClr val="FFFFFF"/>
                </a:solidFill>
              </a:rPr>
              <a:t>Specify</a:t>
            </a:r>
          </a:p>
        </p:txBody>
      </p:sp>
      <p:sp>
        <p:nvSpPr>
          <p:cNvPr id="903" name="Step Fit"/>
          <p:cNvSpPr/>
          <p:nvPr/>
        </p:nvSpPr>
        <p:spPr>
          <a:xfrm>
            <a:off x="547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Fit</a:t>
            </a:r>
          </a:p>
        </p:txBody>
      </p:sp>
      <p:sp>
        <p:nvSpPr>
          <p:cNvPr id="904" name="Step Evaluate"/>
          <p:cNvSpPr/>
          <p:nvPr/>
        </p:nvSpPr>
        <p:spPr>
          <a:xfrm>
            <a:off x="715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Evaluate</a:t>
            </a:r>
          </a:p>
        </p:txBody>
      </p:sp>
      <p:sp>
        <p:nvSpPr>
          <p:cNvPr id="202" name="v202"/>
          <p:cNvSpPr/>
          <p:nvPr/>
        </p:nvSpPr>
        <p:spPr>
          <a:xfrm>
            <a:off x="386000" y="1919037"/>
            <a:ext cx="2600000" cy="430000"/>
          </a:xfrm>
          <a:prstGeom prst="roundRect">
            <a:avLst>
              <a:gd name="adj" fmla="val 8000"/>
            </a:avLst>
          </a:prstGeom>
          <a:solidFill>
            <a:srgbClr val="1B87B9"/>
          </a:solidFill>
          <a:ln w="19050">
            <a:solidFill>
              <a:srgbClr val="1B87B9"/>
            </a:solidFill>
          </a:ln>
        </p:spPr>
        <p:txBody>
          <a:bodyPr wrap="square" lIns="45720" tIns="20000" rIns="45720" bIns="20000" anchor="ctr"/>
          <a:lstStyle/>
          <a:p>
            <a:pPr algn="ctr"/>
            <a:r>
              <a:rPr lang="en-US" sz="1050" b="1">
                <a:solidFill>
                  <a:srgbClr val="FFFFFF"/>
                </a:solidFill>
              </a:rPr>
              <a:t>Random sample 1</a:t>
            </a:r>
          </a:p>
        </p:txBody>
      </p:sp>
      <p:sp>
        <p:nvSpPr>
          <p:cNvPr id="203" name="a203"/>
          <p:cNvSpPr/>
          <p:nvPr/>
        </p:nvSpPr>
        <p:spPr>
          <a:xfrm>
            <a:off x="1596000" y="2369037"/>
            <a:ext cx="180000" cy="150000"/>
          </a:xfrm>
          <a:prstGeom prst="downArrow">
            <a:avLst/>
          </a:prstGeom>
          <a:solidFill>
            <a:srgbClr val="C8CED4"/>
          </a:solidFill>
          <a:ln>
            <a:noFill/>
          </a:ln>
        </p:spPr>
        <p:txBody>
          <a:bodyPr/>
          <a:lstStyle/>
          <a:p>
            <a:endParaRPr/>
          </a:p>
        </p:txBody>
      </p:sp>
      <p:sp>
        <p:nvSpPr>
          <p:cNvPr id="204" name="v204"/>
          <p:cNvSpPr/>
          <p:nvPr/>
        </p:nvSpPr>
        <p:spPr>
          <a:xfrm>
            <a:off x="686000" y="2549037"/>
            <a:ext cx="2000000" cy="420000"/>
          </a:xfrm>
          <a:prstGeom prst="roundRect">
            <a:avLst>
              <a:gd name="adj" fmla="val 8000"/>
            </a:avLst>
          </a:prstGeom>
          <a:solidFill>
            <a:srgbClr val="FFFFFF"/>
          </a:solidFill>
          <a:ln w="19050">
            <a:solidFill>
              <a:srgbClr val="12405A"/>
            </a:solidFill>
          </a:ln>
        </p:spPr>
        <p:txBody>
          <a:bodyPr wrap="square" lIns="45720" tIns="20000" rIns="45720" bIns="20000" anchor="ctr"/>
          <a:lstStyle/>
          <a:p>
            <a:pPr algn="ctr"/>
            <a:r>
              <a:rPr lang="en-US" sz="1000" b="1">
                <a:solidFill>
                  <a:srgbClr val="12405A"/>
                </a:solidFill>
              </a:rPr>
              <a:t>Goal diff &gt; 0?</a:t>
            </a:r>
          </a:p>
        </p:txBody>
      </p:sp>
      <p:sp>
        <p:nvSpPr>
          <p:cNvPr id="205" name="a205"/>
          <p:cNvSpPr/>
          <p:nvPr/>
        </p:nvSpPr>
        <p:spPr>
          <a:xfrm>
            <a:off x="1596000" y="2989037"/>
            <a:ext cx="180000" cy="150000"/>
          </a:xfrm>
          <a:prstGeom prst="downArrow">
            <a:avLst/>
          </a:prstGeom>
          <a:solidFill>
            <a:srgbClr val="C8CED4"/>
          </a:solidFill>
          <a:ln>
            <a:noFill/>
          </a:ln>
        </p:spPr>
        <p:txBody>
          <a:bodyPr/>
          <a:lstStyle/>
          <a:p>
            <a:endParaRPr/>
          </a:p>
        </p:txBody>
      </p:sp>
      <p:sp>
        <p:nvSpPr>
          <p:cNvPr id="206" name="v206"/>
          <p:cNvSpPr/>
          <p:nvPr/>
        </p:nvSpPr>
        <p:spPr>
          <a:xfrm>
            <a:off x="1086000" y="3169037"/>
            <a:ext cx="1200000" cy="380000"/>
          </a:xfrm>
          <a:prstGeom prst="roundRect">
            <a:avLst>
              <a:gd name="adj" fmla="val 8000"/>
            </a:avLst>
          </a:prstGeom>
          <a:solidFill>
            <a:srgbClr val="FFFFFF"/>
          </a:solidFill>
          <a:ln w="19050">
            <a:solidFill>
              <a:srgbClr val="3AC17E"/>
            </a:solidFill>
          </a:ln>
        </p:spPr>
        <p:txBody>
          <a:bodyPr wrap="square" lIns="45720" tIns="20000" rIns="45720" bIns="20000" anchor="ctr"/>
          <a:lstStyle/>
          <a:p>
            <a:pPr algn="ctr"/>
            <a:r>
              <a:rPr lang="en-US" sz="1100" b="1">
                <a:solidFill>
                  <a:srgbClr val="3AC17E"/>
                </a:solidFill>
              </a:rPr>
              <a:t>Playoffs</a:t>
            </a:r>
          </a:p>
        </p:txBody>
      </p:sp>
      <p:sp>
        <p:nvSpPr>
          <p:cNvPr id="207" name="v207"/>
          <p:cNvSpPr/>
          <p:nvPr/>
        </p:nvSpPr>
        <p:spPr>
          <a:xfrm>
            <a:off x="3272000" y="1919037"/>
            <a:ext cx="2600000" cy="430000"/>
          </a:xfrm>
          <a:prstGeom prst="roundRect">
            <a:avLst>
              <a:gd name="adj" fmla="val 8000"/>
            </a:avLst>
          </a:prstGeom>
          <a:solidFill>
            <a:srgbClr val="1B87B9"/>
          </a:solidFill>
          <a:ln w="19050">
            <a:solidFill>
              <a:srgbClr val="1B87B9"/>
            </a:solidFill>
          </a:ln>
        </p:spPr>
        <p:txBody>
          <a:bodyPr wrap="square" lIns="45720" tIns="20000" rIns="45720" bIns="20000" anchor="ctr"/>
          <a:lstStyle/>
          <a:p>
            <a:pPr algn="ctr"/>
            <a:r>
              <a:rPr lang="en-US" sz="1050" b="1">
                <a:solidFill>
                  <a:srgbClr val="FFFFFF"/>
                </a:solidFill>
              </a:rPr>
              <a:t>Random sample 2</a:t>
            </a:r>
          </a:p>
        </p:txBody>
      </p:sp>
      <p:sp>
        <p:nvSpPr>
          <p:cNvPr id="208" name="a208"/>
          <p:cNvSpPr/>
          <p:nvPr/>
        </p:nvSpPr>
        <p:spPr>
          <a:xfrm>
            <a:off x="4482000" y="2369037"/>
            <a:ext cx="180000" cy="150000"/>
          </a:xfrm>
          <a:prstGeom prst="downArrow">
            <a:avLst/>
          </a:prstGeom>
          <a:solidFill>
            <a:srgbClr val="C8CED4"/>
          </a:solidFill>
          <a:ln>
            <a:noFill/>
          </a:ln>
        </p:spPr>
        <p:txBody>
          <a:bodyPr/>
          <a:lstStyle/>
          <a:p>
            <a:endParaRPr/>
          </a:p>
        </p:txBody>
      </p:sp>
      <p:sp>
        <p:nvSpPr>
          <p:cNvPr id="209" name="v209"/>
          <p:cNvSpPr/>
          <p:nvPr/>
        </p:nvSpPr>
        <p:spPr>
          <a:xfrm>
            <a:off x="3572000" y="2549037"/>
            <a:ext cx="2000000" cy="420000"/>
          </a:xfrm>
          <a:prstGeom prst="roundRect">
            <a:avLst>
              <a:gd name="adj" fmla="val 8000"/>
            </a:avLst>
          </a:prstGeom>
          <a:solidFill>
            <a:srgbClr val="FFFFFF"/>
          </a:solidFill>
          <a:ln w="19050">
            <a:solidFill>
              <a:srgbClr val="12405A"/>
            </a:solidFill>
          </a:ln>
        </p:spPr>
        <p:txBody>
          <a:bodyPr wrap="square" lIns="45720" tIns="20000" rIns="45720" bIns="20000" anchor="ctr"/>
          <a:lstStyle/>
          <a:p>
            <a:pPr algn="ctr"/>
            <a:r>
              <a:rPr lang="en-US" sz="1000" b="1">
                <a:solidFill>
                  <a:srgbClr val="12405A"/>
                </a:solidFill>
              </a:rPr>
              <a:t>Season wins ≥ 12?</a:t>
            </a:r>
          </a:p>
        </p:txBody>
      </p:sp>
      <p:sp>
        <p:nvSpPr>
          <p:cNvPr id="210" name="a210"/>
          <p:cNvSpPr/>
          <p:nvPr/>
        </p:nvSpPr>
        <p:spPr>
          <a:xfrm>
            <a:off x="4482000" y="2989037"/>
            <a:ext cx="180000" cy="150000"/>
          </a:xfrm>
          <a:prstGeom prst="downArrow">
            <a:avLst/>
          </a:prstGeom>
          <a:solidFill>
            <a:srgbClr val="C8CED4"/>
          </a:solidFill>
          <a:ln>
            <a:noFill/>
          </a:ln>
        </p:spPr>
        <p:txBody>
          <a:bodyPr/>
          <a:lstStyle/>
          <a:p>
            <a:endParaRPr/>
          </a:p>
        </p:txBody>
      </p:sp>
      <p:sp>
        <p:nvSpPr>
          <p:cNvPr id="211" name="v211"/>
          <p:cNvSpPr/>
          <p:nvPr/>
        </p:nvSpPr>
        <p:spPr>
          <a:xfrm>
            <a:off x="3972000" y="3169037"/>
            <a:ext cx="1200000" cy="380000"/>
          </a:xfrm>
          <a:prstGeom prst="roundRect">
            <a:avLst>
              <a:gd name="adj" fmla="val 8000"/>
            </a:avLst>
          </a:prstGeom>
          <a:solidFill>
            <a:srgbClr val="FFFFFF"/>
          </a:solidFill>
          <a:ln w="19050">
            <a:solidFill>
              <a:srgbClr val="3AC17E"/>
            </a:solidFill>
          </a:ln>
        </p:spPr>
        <p:txBody>
          <a:bodyPr wrap="square" lIns="45720" tIns="20000" rIns="45720" bIns="20000" anchor="ctr"/>
          <a:lstStyle/>
          <a:p>
            <a:pPr algn="ctr"/>
            <a:r>
              <a:rPr lang="en-US" sz="1100" b="1">
                <a:solidFill>
                  <a:srgbClr val="3AC17E"/>
                </a:solidFill>
              </a:rPr>
              <a:t>Playoffs</a:t>
            </a:r>
          </a:p>
        </p:txBody>
      </p:sp>
      <p:sp>
        <p:nvSpPr>
          <p:cNvPr id="212" name="v212"/>
          <p:cNvSpPr/>
          <p:nvPr/>
        </p:nvSpPr>
        <p:spPr>
          <a:xfrm>
            <a:off x="6158000" y="1919037"/>
            <a:ext cx="2600000" cy="430000"/>
          </a:xfrm>
          <a:prstGeom prst="roundRect">
            <a:avLst>
              <a:gd name="adj" fmla="val 8000"/>
            </a:avLst>
          </a:prstGeom>
          <a:solidFill>
            <a:srgbClr val="1B87B9"/>
          </a:solidFill>
          <a:ln w="19050">
            <a:solidFill>
              <a:srgbClr val="1B87B9"/>
            </a:solidFill>
          </a:ln>
        </p:spPr>
        <p:txBody>
          <a:bodyPr wrap="square" lIns="45720" tIns="20000" rIns="45720" bIns="20000" anchor="ctr"/>
          <a:lstStyle/>
          <a:p>
            <a:pPr algn="ctr"/>
            <a:r>
              <a:rPr lang="en-US" sz="1050" b="1">
                <a:solidFill>
                  <a:srgbClr val="FFFFFF"/>
                </a:solidFill>
              </a:rPr>
              <a:t>Random sample 3</a:t>
            </a:r>
          </a:p>
        </p:txBody>
      </p:sp>
      <p:sp>
        <p:nvSpPr>
          <p:cNvPr id="213" name="a213"/>
          <p:cNvSpPr/>
          <p:nvPr/>
        </p:nvSpPr>
        <p:spPr>
          <a:xfrm>
            <a:off x="7368000" y="2369037"/>
            <a:ext cx="180000" cy="150000"/>
          </a:xfrm>
          <a:prstGeom prst="downArrow">
            <a:avLst/>
          </a:prstGeom>
          <a:solidFill>
            <a:srgbClr val="C8CED4"/>
          </a:solidFill>
          <a:ln>
            <a:noFill/>
          </a:ln>
        </p:spPr>
        <p:txBody>
          <a:bodyPr/>
          <a:lstStyle/>
          <a:p>
            <a:endParaRPr/>
          </a:p>
        </p:txBody>
      </p:sp>
      <p:sp>
        <p:nvSpPr>
          <p:cNvPr id="214" name="v214"/>
          <p:cNvSpPr/>
          <p:nvPr/>
        </p:nvSpPr>
        <p:spPr>
          <a:xfrm>
            <a:off x="6458000" y="2549037"/>
            <a:ext cx="2000000" cy="420000"/>
          </a:xfrm>
          <a:prstGeom prst="roundRect">
            <a:avLst>
              <a:gd name="adj" fmla="val 8000"/>
            </a:avLst>
          </a:prstGeom>
          <a:solidFill>
            <a:srgbClr val="FFFFFF"/>
          </a:solidFill>
          <a:ln w="19050">
            <a:solidFill>
              <a:srgbClr val="12405A"/>
            </a:solidFill>
          </a:ln>
        </p:spPr>
        <p:txBody>
          <a:bodyPr wrap="square" lIns="45720" tIns="20000" rIns="45720" bIns="20000" anchor="ctr"/>
          <a:lstStyle/>
          <a:p>
            <a:pPr algn="ctr"/>
            <a:r>
              <a:rPr lang="en-US" sz="1000" b="1">
                <a:solidFill>
                  <a:srgbClr val="12405A"/>
                </a:solidFill>
              </a:rPr>
              <a:t>Points per game ≤ 1?</a:t>
            </a:r>
          </a:p>
        </p:txBody>
      </p:sp>
      <p:sp>
        <p:nvSpPr>
          <p:cNvPr id="215" name="a215"/>
          <p:cNvSpPr/>
          <p:nvPr/>
        </p:nvSpPr>
        <p:spPr>
          <a:xfrm>
            <a:off x="7368000" y="2989037"/>
            <a:ext cx="180000" cy="150000"/>
          </a:xfrm>
          <a:prstGeom prst="downArrow">
            <a:avLst/>
          </a:prstGeom>
          <a:solidFill>
            <a:srgbClr val="C8CED4"/>
          </a:solidFill>
          <a:ln>
            <a:noFill/>
          </a:ln>
        </p:spPr>
        <p:txBody>
          <a:bodyPr/>
          <a:lstStyle/>
          <a:p>
            <a:endParaRPr/>
          </a:p>
        </p:txBody>
      </p:sp>
      <p:sp>
        <p:nvSpPr>
          <p:cNvPr id="216" name="v216"/>
          <p:cNvSpPr/>
          <p:nvPr/>
        </p:nvSpPr>
        <p:spPr>
          <a:xfrm>
            <a:off x="6858000" y="3169037"/>
            <a:ext cx="1200000" cy="380000"/>
          </a:xfrm>
          <a:prstGeom prst="roundRect">
            <a:avLst>
              <a:gd name="adj" fmla="val 8000"/>
            </a:avLst>
          </a:prstGeom>
          <a:solidFill>
            <a:srgbClr val="FFFFFF"/>
          </a:solidFill>
          <a:ln w="19050">
            <a:solidFill>
              <a:srgbClr val="8A949B"/>
            </a:solidFill>
          </a:ln>
        </p:spPr>
        <p:txBody>
          <a:bodyPr wrap="square" lIns="45720" tIns="20000" rIns="45720" bIns="20000" anchor="ctr"/>
          <a:lstStyle/>
          <a:p>
            <a:pPr algn="ctr"/>
            <a:r>
              <a:rPr lang="en-US" sz="1100" b="1">
                <a:solidFill>
                  <a:srgbClr val="8A949B"/>
                </a:solidFill>
              </a:rPr>
              <a:t>No Playoffs</a:t>
            </a:r>
          </a:p>
        </p:txBody>
      </p:sp>
      <p:sp>
        <p:nvSpPr>
          <p:cNvPr id="217" name="v217"/>
          <p:cNvSpPr/>
          <p:nvPr/>
        </p:nvSpPr>
        <p:spPr>
          <a:xfrm>
            <a:off x="386000" y="3815798"/>
            <a:ext cx="8372000" cy="380000"/>
          </a:xfrm>
          <a:prstGeom prst="roundRect">
            <a:avLst>
              <a:gd name="adj" fmla="val 8000"/>
            </a:avLst>
          </a:prstGeom>
          <a:solidFill>
            <a:srgbClr val="3AC17E"/>
          </a:solidFill>
          <a:ln w="19050">
            <a:solidFill>
              <a:srgbClr val="3AC17E"/>
            </a:solidFill>
          </a:ln>
        </p:spPr>
        <p:txBody>
          <a:bodyPr wrap="square" lIns="45720" tIns="20000" rIns="45720" bIns="20000" anchor="ctr"/>
          <a:lstStyle/>
          <a:p>
            <a:pPr algn="ctr"/>
            <a:r>
              <a:rPr lang="en-US" sz="1300" b="1">
                <a:solidFill>
                  <a:srgbClr val="FFFFFF"/>
                </a:solidFill>
              </a:rPr>
              <a:t>Win + Win + Loss   →   votes averaged   →   Prediction: WIN</a:t>
            </a:r>
          </a:p>
        </p:txBody>
      </p:sp>
    </p:spTree>
    <p:extLst>
      <p:ext uri="{BB962C8B-B14F-4D97-AF65-F5344CB8AC3E}">
        <p14:creationId xmlns:p14="http://schemas.microsoft.com/office/powerpoint/2010/main" val="1154057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42542-2C48-98A5-5820-38C028C1BE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E62656-1507-E2E3-1F2E-2CA8B5633A13}"/>
              </a:ext>
            </a:extLst>
          </p:cNvPr>
          <p:cNvSpPr>
            <a:spLocks noGrp="1"/>
          </p:cNvSpPr>
          <p:nvPr>
            <p:ph type="title"/>
          </p:nvPr>
        </p:nvSpPr>
        <p:spPr/>
        <p:txBody>
          <a:bodyPr/>
          <a:lstStyle/>
          <a:p>
            <a:r>
              <a:rPr lang="en-US"/>
              <a:t>Tell R what you want with parsnip</a:t>
            </a:r>
          </a:p>
        </p:txBody>
      </p:sp>
      <p:pic>
        <p:nvPicPr>
          <p:cNvPr id="7" name="Picture 6" descr="Small_Logo.jpg">
            <a:extLst>
              <a:ext uri="{FF2B5EF4-FFF2-40B4-BE49-F238E27FC236}">
                <a16:creationId xmlns:a16="http://schemas.microsoft.com/office/drawing/2014/main" id="{796F4B82-6B64-838F-2C99-11545ADC5CF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0" name="Step Split"/>
          <p:cNvSpPr/>
          <p:nvPr/>
        </p:nvSpPr>
        <p:spPr>
          <a:xfrm>
            <a:off x="43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Split</a:t>
            </a:r>
          </a:p>
        </p:txBody>
      </p:sp>
      <p:sp>
        <p:nvSpPr>
          <p:cNvPr id="901" name="Step Preprocess"/>
          <p:cNvSpPr/>
          <p:nvPr/>
        </p:nvSpPr>
        <p:spPr>
          <a:xfrm>
            <a:off x="211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Preprocess</a:t>
            </a:r>
          </a:p>
        </p:txBody>
      </p:sp>
      <p:sp>
        <p:nvSpPr>
          <p:cNvPr id="902" name="Step Specify"/>
          <p:cNvSpPr/>
          <p:nvPr/>
        </p:nvSpPr>
        <p:spPr>
          <a:xfrm>
            <a:off x="3792000" y="1140000"/>
            <a:ext cx="1560000" cy="300000"/>
          </a:xfrm>
          <a:prstGeom prst="roundRect">
            <a:avLst>
              <a:gd name="adj" fmla="val 50000"/>
            </a:avLst>
          </a:prstGeom>
          <a:solidFill>
            <a:srgbClr val="1B87B9"/>
          </a:solidFill>
          <a:ln>
            <a:noFill/>
          </a:ln>
        </p:spPr>
        <p:txBody>
          <a:bodyPr wrap="square" lIns="45720" tIns="18000" rIns="45720" bIns="18000" anchor="ctr"/>
          <a:lstStyle/>
          <a:p>
            <a:pPr algn="ctr"/>
            <a:r>
              <a:rPr lang="en-US" sz="1100" b="1">
                <a:solidFill>
                  <a:srgbClr val="FFFFFF"/>
                </a:solidFill>
              </a:rPr>
              <a:t>Specify</a:t>
            </a:r>
          </a:p>
        </p:txBody>
      </p:sp>
      <p:sp>
        <p:nvSpPr>
          <p:cNvPr id="903" name="Step Fit"/>
          <p:cNvSpPr/>
          <p:nvPr/>
        </p:nvSpPr>
        <p:spPr>
          <a:xfrm>
            <a:off x="547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Fit</a:t>
            </a:r>
          </a:p>
        </p:txBody>
      </p:sp>
      <p:sp>
        <p:nvSpPr>
          <p:cNvPr id="904" name="Step Evaluate"/>
          <p:cNvSpPr/>
          <p:nvPr/>
        </p:nvSpPr>
        <p:spPr>
          <a:xfrm>
            <a:off x="715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Evaluate</a:t>
            </a:r>
          </a:p>
        </p:txBody>
      </p:sp>
      <p:sp>
        <p:nvSpPr>
          <p:cNvPr id="71" name="v71"/>
          <p:cNvSpPr/>
          <p:nvPr/>
        </p:nvSpPr>
        <p:spPr>
          <a:xfrm>
            <a:off x="685800" y="1600000"/>
            <a:ext cx="7772400" cy="1330000"/>
          </a:xfrm>
          <a:prstGeom prst="roundRect">
            <a:avLst>
              <a:gd name="adj" fmla="val 8000"/>
            </a:avLst>
          </a:prstGeom>
          <a:solidFill>
            <a:srgbClr val="0B5583"/>
          </a:solidFill>
          <a:ln w="19050">
            <a:solidFill>
              <a:srgbClr val="116898"/>
            </a:solidFill>
          </a:ln>
        </p:spPr>
        <p:txBody>
          <a:bodyPr wrap="square" lIns="182880" tIns="45720" rIns="91440" bIns="45720" anchor="ctr"/>
          <a:lstStyle/>
          <a:p>
            <a:pPr algn="l"/>
            <a:r>
              <a:rPr lang="en-US" sz="1600" b="1" err="1">
                <a:solidFill>
                  <a:srgbClr val="F7864C"/>
                </a:solidFill>
                <a:latin typeface="Consolas"/>
                <a:cs typeface="Consolas"/>
              </a:rPr>
              <a:t>rand_forest</a:t>
            </a:r>
            <a:r>
              <a:rPr lang="en-US" sz="1600" b="1">
                <a:solidFill>
                  <a:schemeClr val="bg1">
                    <a:lumMod val="95000"/>
                  </a:schemeClr>
                </a:solidFill>
                <a:latin typeface="Consolas"/>
                <a:cs typeface="Consolas"/>
              </a:rPr>
              <a:t>(</a:t>
            </a:r>
            <a:r>
              <a:rPr lang="en-US" sz="1600" b="1">
                <a:solidFill>
                  <a:srgbClr val="CFE7F5"/>
                </a:solidFill>
                <a:latin typeface="Consolas"/>
                <a:cs typeface="Consolas"/>
              </a:rPr>
              <a:t>trees </a:t>
            </a:r>
            <a:r>
              <a:rPr lang="en-US" sz="1600" b="1">
                <a:solidFill>
                  <a:srgbClr val="FFE3B3"/>
                </a:solidFill>
                <a:latin typeface="Consolas"/>
                <a:cs typeface="Consolas"/>
              </a:rPr>
              <a:t>=</a:t>
            </a:r>
            <a:r>
              <a:rPr lang="en-US" sz="1600" b="1">
                <a:solidFill>
                  <a:srgbClr val="CFE7F5"/>
                </a:solidFill>
                <a:latin typeface="Consolas"/>
                <a:cs typeface="Consolas"/>
              </a:rPr>
              <a:t> </a:t>
            </a:r>
            <a:r>
              <a:rPr lang="en-US" sz="1600" b="1">
                <a:solidFill>
                  <a:srgbClr val="F785D6"/>
                </a:solidFill>
                <a:latin typeface="Consolas"/>
                <a:cs typeface="Consolas"/>
              </a:rPr>
              <a:t>500</a:t>
            </a:r>
            <a:r>
              <a:rPr lang="en-US" sz="1600" b="1">
                <a:solidFill>
                  <a:schemeClr val="bg1"/>
                </a:solidFill>
                <a:latin typeface="Consolas"/>
                <a:cs typeface="Consolas"/>
              </a:rPr>
              <a:t>)</a:t>
            </a:r>
            <a:r>
              <a:rPr lang="en-US" sz="1600" b="1">
                <a:solidFill>
                  <a:srgbClr val="CFE7F5"/>
                </a:solidFill>
                <a:latin typeface="Consolas"/>
                <a:cs typeface="Consolas"/>
              </a:rPr>
              <a:t> </a:t>
            </a:r>
            <a:r>
              <a:rPr lang="en-US" sz="1600" b="1">
                <a:solidFill>
                  <a:srgbClr val="FFE3B3"/>
                </a:solidFill>
                <a:latin typeface="Consolas"/>
                <a:cs typeface="Consolas"/>
              </a:rPr>
              <a:t>|&gt;</a:t>
            </a:r>
          </a:p>
          <a:p>
            <a:pPr algn="l"/>
            <a:r>
              <a:rPr lang="en-US" sz="1600" b="1">
                <a:solidFill>
                  <a:srgbClr val="F7864C"/>
                </a:solidFill>
                <a:latin typeface="Consolas"/>
                <a:cs typeface="Consolas"/>
              </a:rPr>
              <a:t>  </a:t>
            </a:r>
            <a:r>
              <a:rPr lang="en-US" sz="1600" b="1" err="1">
                <a:solidFill>
                  <a:srgbClr val="F7864C"/>
                </a:solidFill>
                <a:latin typeface="Consolas"/>
                <a:cs typeface="Consolas"/>
              </a:rPr>
              <a:t>set_engine</a:t>
            </a:r>
            <a:r>
              <a:rPr lang="en-US" sz="1600" b="1">
                <a:solidFill>
                  <a:schemeClr val="bg1">
                    <a:lumMod val="95000"/>
                  </a:schemeClr>
                </a:solidFill>
                <a:latin typeface="Consolas"/>
                <a:cs typeface="Consolas"/>
              </a:rPr>
              <a:t>(</a:t>
            </a:r>
            <a:r>
              <a:rPr lang="en-US" sz="1600" b="1">
                <a:solidFill>
                  <a:srgbClr val="6CE1B8"/>
                </a:solidFill>
                <a:latin typeface="Consolas"/>
                <a:cs typeface="Consolas"/>
              </a:rPr>
              <a:t>"ranger"</a:t>
            </a:r>
            <a:r>
              <a:rPr lang="en-US" sz="1600" b="1">
                <a:solidFill>
                  <a:schemeClr val="bg1"/>
                </a:solidFill>
                <a:latin typeface="Consolas"/>
                <a:cs typeface="Consolas"/>
              </a:rPr>
              <a:t>)</a:t>
            </a:r>
            <a:r>
              <a:rPr lang="en-US" sz="1600" b="1">
                <a:solidFill>
                  <a:srgbClr val="CFE7F5"/>
                </a:solidFill>
                <a:latin typeface="Consolas"/>
                <a:cs typeface="Consolas"/>
              </a:rPr>
              <a:t> </a:t>
            </a:r>
            <a:r>
              <a:rPr lang="en-US" sz="1600" b="1">
                <a:solidFill>
                  <a:srgbClr val="FFE3B3"/>
                </a:solidFill>
                <a:latin typeface="Consolas"/>
                <a:cs typeface="Consolas"/>
              </a:rPr>
              <a:t>|&gt;</a:t>
            </a:r>
          </a:p>
          <a:p>
            <a:pPr algn="l"/>
            <a:r>
              <a:rPr lang="en-US" sz="1600" b="1">
                <a:solidFill>
                  <a:srgbClr val="F7864C"/>
                </a:solidFill>
                <a:latin typeface="Consolas"/>
                <a:cs typeface="Consolas"/>
              </a:rPr>
              <a:t>  </a:t>
            </a:r>
            <a:r>
              <a:rPr lang="en-US" sz="1600" b="1" err="1">
                <a:solidFill>
                  <a:srgbClr val="F7864C"/>
                </a:solidFill>
                <a:latin typeface="Consolas"/>
                <a:cs typeface="Consolas"/>
              </a:rPr>
              <a:t>set_mode</a:t>
            </a:r>
            <a:r>
              <a:rPr lang="en-US" sz="1600" b="1">
                <a:solidFill>
                  <a:schemeClr val="bg1">
                    <a:lumMod val="95000"/>
                  </a:schemeClr>
                </a:solidFill>
                <a:latin typeface="Consolas"/>
                <a:cs typeface="Consolas"/>
              </a:rPr>
              <a:t>(</a:t>
            </a:r>
            <a:r>
              <a:rPr lang="en-US" sz="1600" b="1">
                <a:solidFill>
                  <a:srgbClr val="6CE1B8"/>
                </a:solidFill>
                <a:latin typeface="Consolas"/>
                <a:cs typeface="Consolas"/>
              </a:rPr>
              <a:t>"classification"</a:t>
            </a:r>
            <a:r>
              <a:rPr lang="en-US" sz="1600" b="1">
                <a:solidFill>
                  <a:schemeClr val="bg1">
                    <a:lumMod val="95000"/>
                  </a:schemeClr>
                </a:solidFill>
                <a:latin typeface="Consolas"/>
                <a:cs typeface="Consolas"/>
              </a:rPr>
              <a:t>)</a:t>
            </a:r>
          </a:p>
        </p:txBody>
      </p:sp>
      <p:sp>
        <p:nvSpPr>
          <p:cNvPr id="72" name="v72"/>
          <p:cNvSpPr/>
          <p:nvPr/>
        </p:nvSpPr>
        <p:spPr>
          <a:xfrm>
            <a:off x="685800" y="3170000"/>
            <a:ext cx="2400000" cy="1150000"/>
          </a:xfrm>
          <a:prstGeom prst="roundRect">
            <a:avLst>
              <a:gd name="adj" fmla="val 8000"/>
            </a:avLst>
          </a:prstGeom>
          <a:solidFill>
            <a:srgbClr val="F7864C"/>
          </a:solidFill>
          <a:ln w="19050">
            <a:solidFill>
              <a:srgbClr val="F7864C"/>
            </a:solidFill>
          </a:ln>
        </p:spPr>
        <p:txBody>
          <a:bodyPr wrap="square" lIns="182880" tIns="45720" rIns="91440" bIns="45720" anchor="t"/>
          <a:lstStyle/>
          <a:p>
            <a:pPr algn="ctr"/>
            <a:r>
              <a:rPr lang="en-US" b="1" err="1">
                <a:solidFill>
                  <a:srgbClr val="0B3A52"/>
                </a:solidFill>
                <a:latin typeface="Consolas"/>
                <a:cs typeface="Consolas"/>
              </a:rPr>
              <a:t>rand_forest</a:t>
            </a:r>
            <a:r>
              <a:rPr lang="en-US" b="1">
                <a:solidFill>
                  <a:srgbClr val="0B3A52"/>
                </a:solidFill>
                <a:latin typeface="Consolas"/>
                <a:cs typeface="Consolas"/>
              </a:rPr>
              <a:t>()</a:t>
            </a:r>
          </a:p>
          <a:p>
            <a:pPr algn="ctr"/>
            <a:r>
              <a:rPr lang="en-US" b="1">
                <a:solidFill>
                  <a:srgbClr val="0B3A52"/>
                </a:solidFill>
              </a:rPr>
              <a:t>MODEL</a:t>
            </a:r>
          </a:p>
          <a:p>
            <a:pPr algn="ctr"/>
            <a:r>
              <a:rPr lang="en-US" sz="1600">
                <a:solidFill>
                  <a:srgbClr val="0B3A52"/>
                </a:solidFill>
              </a:rPr>
              <a:t>The algorithm we choose</a:t>
            </a:r>
          </a:p>
        </p:txBody>
      </p:sp>
      <p:sp>
        <p:nvSpPr>
          <p:cNvPr id="73" name="v73"/>
          <p:cNvSpPr/>
          <p:nvPr/>
        </p:nvSpPr>
        <p:spPr>
          <a:xfrm>
            <a:off x="3372000" y="3170000"/>
            <a:ext cx="2400000" cy="1150000"/>
          </a:xfrm>
          <a:prstGeom prst="roundRect">
            <a:avLst>
              <a:gd name="adj" fmla="val 8000"/>
            </a:avLst>
          </a:prstGeom>
          <a:solidFill>
            <a:srgbClr val="3AC17E"/>
          </a:solidFill>
          <a:ln w="19050">
            <a:solidFill>
              <a:srgbClr val="3AC17E"/>
            </a:solidFill>
          </a:ln>
        </p:spPr>
        <p:txBody>
          <a:bodyPr wrap="square" lIns="182880" tIns="45720" rIns="91440" bIns="45720" anchor="t"/>
          <a:lstStyle/>
          <a:p>
            <a:pPr algn="ctr"/>
            <a:r>
              <a:rPr lang="en-US" b="1">
                <a:solidFill>
                  <a:srgbClr val="0B3A52"/>
                </a:solidFill>
                <a:latin typeface="Consolas"/>
                <a:cs typeface="Consolas"/>
              </a:rPr>
              <a:t>"ranger"</a:t>
            </a:r>
          </a:p>
          <a:p>
            <a:pPr algn="ctr"/>
            <a:r>
              <a:rPr lang="en-US" b="1">
                <a:solidFill>
                  <a:srgbClr val="0B3A52"/>
                </a:solidFill>
              </a:rPr>
              <a:t>ENGINE</a:t>
            </a:r>
          </a:p>
          <a:p>
            <a:pPr algn="ctr"/>
            <a:r>
              <a:rPr lang="en-US" sz="1600">
                <a:solidFill>
                  <a:srgbClr val="0B3A52"/>
                </a:solidFill>
              </a:rPr>
              <a:t>Which implementation runs it</a:t>
            </a:r>
          </a:p>
        </p:txBody>
      </p:sp>
      <p:sp>
        <p:nvSpPr>
          <p:cNvPr id="74" name="v74"/>
          <p:cNvSpPr/>
          <p:nvPr/>
        </p:nvSpPr>
        <p:spPr>
          <a:xfrm>
            <a:off x="6058200" y="3170000"/>
            <a:ext cx="2400000" cy="1150000"/>
          </a:xfrm>
          <a:prstGeom prst="roundRect">
            <a:avLst>
              <a:gd name="adj" fmla="val 8000"/>
            </a:avLst>
          </a:prstGeom>
          <a:solidFill>
            <a:srgbClr val="52B6E8"/>
          </a:solidFill>
          <a:ln w="19050">
            <a:solidFill>
              <a:srgbClr val="52B6E8"/>
            </a:solidFill>
          </a:ln>
        </p:spPr>
        <p:txBody>
          <a:bodyPr wrap="square" lIns="182880" tIns="45720" rIns="91440" bIns="45720" anchor="t"/>
          <a:lstStyle/>
          <a:p>
            <a:pPr algn="ctr"/>
            <a:r>
              <a:rPr lang="en-US" b="1">
                <a:solidFill>
                  <a:srgbClr val="0B3A52"/>
                </a:solidFill>
                <a:latin typeface="Consolas"/>
                <a:cs typeface="Consolas"/>
              </a:rPr>
              <a:t>"classification"</a:t>
            </a:r>
          </a:p>
          <a:p>
            <a:pPr algn="ctr"/>
            <a:r>
              <a:rPr lang="en-US" b="1">
                <a:solidFill>
                  <a:srgbClr val="0B3A52"/>
                </a:solidFill>
              </a:rPr>
              <a:t>MODE</a:t>
            </a:r>
          </a:p>
          <a:p>
            <a:pPr algn="ctr"/>
            <a:r>
              <a:rPr lang="en-US" sz="1600">
                <a:solidFill>
                  <a:srgbClr val="0B3A52"/>
                </a:solidFill>
              </a:rPr>
              <a:t>Predicting a category, not a number</a:t>
            </a:r>
          </a:p>
        </p:txBody>
      </p:sp>
    </p:spTree>
    <p:extLst>
      <p:ext uri="{BB962C8B-B14F-4D97-AF65-F5344CB8AC3E}">
        <p14:creationId xmlns:p14="http://schemas.microsoft.com/office/powerpoint/2010/main" val="3959788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6E18C-3173-48CB-B14B-F7A8B3954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8F76CC-BC64-1CAF-6829-6E4D4F2DEFAA}"/>
              </a:ext>
            </a:extLst>
          </p:cNvPr>
          <p:cNvSpPr>
            <a:spLocks noGrp="1"/>
          </p:cNvSpPr>
          <p:nvPr>
            <p:ph type="title"/>
          </p:nvPr>
        </p:nvSpPr>
        <p:spPr/>
        <p:txBody>
          <a:bodyPr/>
          <a:lstStyle/>
          <a:p>
            <a:r>
              <a:rPr lang="en-US"/>
              <a:t>Put the pieces together with workflows</a:t>
            </a:r>
          </a:p>
        </p:txBody>
      </p:sp>
      <p:pic>
        <p:nvPicPr>
          <p:cNvPr id="7" name="Picture 6" descr="Small_Logo.jpg">
            <a:extLst>
              <a:ext uri="{FF2B5EF4-FFF2-40B4-BE49-F238E27FC236}">
                <a16:creationId xmlns:a16="http://schemas.microsoft.com/office/drawing/2014/main" id="{0A8F7C85-EF59-E9D9-D6EC-86E75E73795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0" name="Step Split"/>
          <p:cNvSpPr/>
          <p:nvPr/>
        </p:nvSpPr>
        <p:spPr>
          <a:xfrm>
            <a:off x="43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Split</a:t>
            </a:r>
          </a:p>
        </p:txBody>
      </p:sp>
      <p:sp>
        <p:nvSpPr>
          <p:cNvPr id="901" name="Step Preprocess"/>
          <p:cNvSpPr/>
          <p:nvPr/>
        </p:nvSpPr>
        <p:spPr>
          <a:xfrm>
            <a:off x="211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Preprocess</a:t>
            </a:r>
          </a:p>
        </p:txBody>
      </p:sp>
      <p:sp>
        <p:nvSpPr>
          <p:cNvPr id="902" name="Step Specify"/>
          <p:cNvSpPr/>
          <p:nvPr/>
        </p:nvSpPr>
        <p:spPr>
          <a:xfrm>
            <a:off x="379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Specify</a:t>
            </a:r>
          </a:p>
        </p:txBody>
      </p:sp>
      <p:sp>
        <p:nvSpPr>
          <p:cNvPr id="903" name="Step Fit"/>
          <p:cNvSpPr/>
          <p:nvPr/>
        </p:nvSpPr>
        <p:spPr>
          <a:xfrm>
            <a:off x="5472000" y="1140000"/>
            <a:ext cx="1560000" cy="300000"/>
          </a:xfrm>
          <a:prstGeom prst="roundRect">
            <a:avLst>
              <a:gd name="adj" fmla="val 50000"/>
            </a:avLst>
          </a:prstGeom>
          <a:solidFill>
            <a:srgbClr val="1B87B9"/>
          </a:solidFill>
          <a:ln>
            <a:noFill/>
          </a:ln>
        </p:spPr>
        <p:txBody>
          <a:bodyPr wrap="square" lIns="45720" tIns="18000" rIns="45720" bIns="18000" anchor="ctr"/>
          <a:lstStyle/>
          <a:p>
            <a:pPr algn="ctr"/>
            <a:r>
              <a:rPr lang="en-US" sz="1100" b="1">
                <a:solidFill>
                  <a:srgbClr val="FFFFFF"/>
                </a:solidFill>
              </a:rPr>
              <a:t>Fit</a:t>
            </a:r>
          </a:p>
        </p:txBody>
      </p:sp>
      <p:sp>
        <p:nvSpPr>
          <p:cNvPr id="904" name="Step Evaluate"/>
          <p:cNvSpPr/>
          <p:nvPr/>
        </p:nvSpPr>
        <p:spPr>
          <a:xfrm>
            <a:off x="715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Evaluate</a:t>
            </a:r>
          </a:p>
        </p:txBody>
      </p:sp>
      <p:sp>
        <p:nvSpPr>
          <p:cNvPr id="915" name="Concept Recipe"/>
          <p:cNvSpPr/>
          <p:nvPr/>
        </p:nvSpPr>
        <p:spPr>
          <a:xfrm>
            <a:off x="1722000" y="1674980"/>
            <a:ext cx="2600000" cy="680000"/>
          </a:xfrm>
          <a:prstGeom prst="roundRect">
            <a:avLst>
              <a:gd name="adj" fmla="val 8000"/>
            </a:avLst>
          </a:prstGeom>
          <a:solidFill>
            <a:srgbClr val="EAF3F9"/>
          </a:solidFill>
          <a:ln w="15875">
            <a:solidFill>
              <a:srgbClr val="1B87B9"/>
            </a:solidFill>
          </a:ln>
        </p:spPr>
        <p:txBody>
          <a:bodyPr wrap="square" lIns="91440" tIns="45720" rIns="91440" bIns="45720" anchor="ctr"/>
          <a:lstStyle/>
          <a:p>
            <a:pPr algn="ctr">
              <a:spcAft>
                <a:spcPts val="200"/>
              </a:spcAft>
              <a:buNone/>
            </a:pPr>
            <a:r>
              <a:rPr lang="en-US" sz="1300" b="1" err="1">
                <a:solidFill>
                  <a:srgbClr val="0B5583"/>
                </a:solidFill>
                <a:latin typeface="Consolas"/>
              </a:rPr>
              <a:t>playoff_recipe</a:t>
            </a:r>
            <a:endParaRPr lang="en-US" sz="1300" b="1">
              <a:solidFill>
                <a:srgbClr val="0B5583"/>
              </a:solidFill>
              <a:latin typeface="Consolas"/>
            </a:endParaRPr>
          </a:p>
          <a:p>
            <a:pPr algn="ctr">
              <a:buNone/>
            </a:pPr>
            <a:r>
              <a:rPr lang="en-US" sz="1000" i="1">
                <a:solidFill>
                  <a:srgbClr val="5A6772"/>
                </a:solidFill>
              </a:rPr>
              <a:t>How do we prepare the data?</a:t>
            </a:r>
          </a:p>
        </p:txBody>
      </p:sp>
      <p:sp>
        <p:nvSpPr>
          <p:cNvPr id="916" name="Concept Plus"/>
          <p:cNvSpPr txBox="1"/>
          <p:nvPr/>
        </p:nvSpPr>
        <p:spPr>
          <a:xfrm>
            <a:off x="4322000" y="1774980"/>
            <a:ext cx="500000" cy="480000"/>
          </a:xfrm>
          <a:prstGeom prst="rect">
            <a:avLst/>
          </a:prstGeom>
          <a:noFill/>
        </p:spPr>
        <p:txBody>
          <a:bodyPr wrap="square" lIns="0" tIns="0" rIns="0" bIns="0" anchor="ctr"/>
          <a:lstStyle/>
          <a:p>
            <a:pPr algn="ctr">
              <a:buNone/>
            </a:pPr>
            <a:r>
              <a:rPr lang="en-US" sz="2000" b="1">
                <a:solidFill>
                  <a:srgbClr val="1B87B9"/>
                </a:solidFill>
              </a:rPr>
              <a:t>+</a:t>
            </a:r>
          </a:p>
        </p:txBody>
      </p:sp>
      <p:sp>
        <p:nvSpPr>
          <p:cNvPr id="917" name="Concept Model"/>
          <p:cNvSpPr/>
          <p:nvPr/>
        </p:nvSpPr>
        <p:spPr>
          <a:xfrm>
            <a:off x="4822000" y="1674980"/>
            <a:ext cx="2600000" cy="680000"/>
          </a:xfrm>
          <a:prstGeom prst="roundRect">
            <a:avLst>
              <a:gd name="adj" fmla="val 8000"/>
            </a:avLst>
          </a:prstGeom>
          <a:solidFill>
            <a:srgbClr val="EAF3F9"/>
          </a:solidFill>
          <a:ln w="15875">
            <a:solidFill>
              <a:srgbClr val="1B87B9"/>
            </a:solidFill>
          </a:ln>
        </p:spPr>
        <p:txBody>
          <a:bodyPr wrap="square" lIns="91440" tIns="45720" rIns="91440" bIns="45720" anchor="ctr"/>
          <a:lstStyle/>
          <a:p>
            <a:pPr algn="ctr">
              <a:spcAft>
                <a:spcPts val="200"/>
              </a:spcAft>
              <a:buNone/>
            </a:pPr>
            <a:r>
              <a:rPr lang="en-US" sz="1300" b="1">
                <a:solidFill>
                  <a:srgbClr val="0B5583"/>
                </a:solidFill>
                <a:latin typeface="Consolas"/>
              </a:rPr>
              <a:t>rf_spec</a:t>
            </a:r>
          </a:p>
          <a:p>
            <a:pPr algn="ctr">
              <a:buNone/>
            </a:pPr>
            <a:r>
              <a:rPr lang="en-US" sz="1000" i="1">
                <a:solidFill>
                  <a:srgbClr val="5A6772"/>
                </a:solidFill>
              </a:rPr>
              <a:t>What model do we want?</a:t>
            </a:r>
          </a:p>
        </p:txBody>
      </p:sp>
      <p:cxnSp>
        <p:nvCxnSpPr>
          <p:cNvPr id="920" name="Arrow Left"/>
          <p:cNvCxnSpPr/>
          <p:nvPr/>
        </p:nvCxnSpPr>
        <p:spPr>
          <a:xfrm>
            <a:off x="3022000" y="2354980"/>
            <a:ext cx="1550000" cy="250000"/>
          </a:xfrm>
          <a:prstGeom prst="line">
            <a:avLst/>
          </a:prstGeom>
          <a:ln w="19050">
            <a:solidFill>
              <a:srgbClr val="1B87B9"/>
            </a:solidFill>
            <a:tailEnd type="triangle"/>
          </a:ln>
        </p:spPr>
      </p:cxnSp>
      <p:cxnSp>
        <p:nvCxnSpPr>
          <p:cNvPr id="921" name="Arrow Right"/>
          <p:cNvCxnSpPr/>
          <p:nvPr/>
        </p:nvCxnSpPr>
        <p:spPr>
          <a:xfrm flipH="1">
            <a:off x="4572000" y="2354980"/>
            <a:ext cx="1550000" cy="250000"/>
          </a:xfrm>
          <a:prstGeom prst="line">
            <a:avLst/>
          </a:prstGeom>
          <a:ln w="19050">
            <a:solidFill>
              <a:srgbClr val="1B87B9"/>
            </a:solidFill>
            <a:tailEnd type="triangle"/>
          </a:ln>
        </p:spPr>
      </p:cxnSp>
      <p:sp>
        <p:nvSpPr>
          <p:cNvPr id="918" name="Concept Workflow"/>
          <p:cNvSpPr/>
          <p:nvPr/>
        </p:nvSpPr>
        <p:spPr>
          <a:xfrm>
            <a:off x="3072000" y="2643725"/>
            <a:ext cx="3000000" cy="560000"/>
          </a:xfrm>
          <a:prstGeom prst="roundRect">
            <a:avLst>
              <a:gd name="adj" fmla="val 10000"/>
            </a:avLst>
          </a:prstGeom>
          <a:solidFill>
            <a:srgbClr val="1B87B9"/>
          </a:solidFill>
          <a:ln>
            <a:noFill/>
          </a:ln>
        </p:spPr>
        <p:txBody>
          <a:bodyPr wrap="square" lIns="91440" tIns="27432" rIns="91440" bIns="27432" anchor="ctr"/>
          <a:lstStyle/>
          <a:p>
            <a:pPr algn="ctr">
              <a:buNone/>
            </a:pPr>
            <a:r>
              <a:rPr lang="en-US" sz="1400" b="1">
                <a:solidFill>
                  <a:srgbClr val="FFFFFF"/>
                </a:solidFill>
                <a:latin typeface="Consolas"/>
              </a:rPr>
              <a:t>playoff_workflow</a:t>
            </a:r>
          </a:p>
          <a:p>
            <a:pPr algn="ctr">
              <a:buNone/>
            </a:pPr>
            <a:r>
              <a:rPr lang="en-US" sz="900">
                <a:solidFill>
                  <a:srgbClr val="D6ECF7"/>
                </a:solidFill>
              </a:rPr>
              <a:t>One object, ready to fit</a:t>
            </a:r>
          </a:p>
        </p:txBody>
      </p:sp>
      <p:sp>
        <p:nvSpPr>
          <p:cNvPr id="6" name="v71">
            <a:extLst>
              <a:ext uri="{FF2B5EF4-FFF2-40B4-BE49-F238E27FC236}">
                <a16:creationId xmlns:a16="http://schemas.microsoft.com/office/drawing/2014/main" id="{E04FB1C2-A1EC-96F6-D3F0-082F8CDFBE71}"/>
              </a:ext>
            </a:extLst>
          </p:cNvPr>
          <p:cNvSpPr/>
          <p:nvPr/>
        </p:nvSpPr>
        <p:spPr>
          <a:xfrm>
            <a:off x="685800" y="3394128"/>
            <a:ext cx="7772400" cy="1075871"/>
          </a:xfrm>
          <a:prstGeom prst="roundRect">
            <a:avLst>
              <a:gd name="adj" fmla="val 8000"/>
            </a:avLst>
          </a:prstGeom>
          <a:solidFill>
            <a:srgbClr val="0B5583"/>
          </a:solidFill>
          <a:ln w="19050">
            <a:solidFill>
              <a:srgbClr val="116898"/>
            </a:solidFill>
          </a:ln>
        </p:spPr>
        <p:txBody>
          <a:bodyPr wrap="square" lIns="182880" tIns="45720" rIns="91440" bIns="45720" anchor="ctr"/>
          <a:lstStyle/>
          <a:p>
            <a:r>
              <a:rPr lang="en-US" sz="1600" b="1" err="1">
                <a:solidFill>
                  <a:srgbClr val="CFE7F5"/>
                </a:solidFill>
                <a:latin typeface="Consolas"/>
              </a:rPr>
              <a:t>playoff_workflow</a:t>
            </a:r>
            <a:r>
              <a:rPr lang="en-US" sz="1600" b="1">
                <a:solidFill>
                  <a:schemeClr val="accent2">
                    <a:lumMod val="40000"/>
                    <a:lumOff val="60000"/>
                  </a:schemeClr>
                </a:solidFill>
                <a:latin typeface="Consolas"/>
              </a:rPr>
              <a:t> &lt;- </a:t>
            </a:r>
            <a:r>
              <a:rPr lang="en-US" sz="1600" b="1">
                <a:solidFill>
                  <a:srgbClr val="F7864C"/>
                </a:solidFill>
                <a:latin typeface="Consolas"/>
              </a:rPr>
              <a:t>workflow</a:t>
            </a:r>
            <a:r>
              <a:rPr lang="en-US" sz="1600" b="1">
                <a:solidFill>
                  <a:schemeClr val="bg1"/>
                </a:solidFill>
                <a:latin typeface="Consolas"/>
              </a:rPr>
              <a:t>()</a:t>
            </a:r>
            <a:r>
              <a:rPr lang="en-US" sz="1600" b="1">
                <a:solidFill>
                  <a:srgbClr val="F7864C"/>
                </a:solidFill>
                <a:latin typeface="Consolas"/>
              </a:rPr>
              <a:t> </a:t>
            </a:r>
            <a:r>
              <a:rPr lang="en-US" sz="1600" b="1">
                <a:solidFill>
                  <a:schemeClr val="accent2">
                    <a:lumMod val="40000"/>
                    <a:lumOff val="60000"/>
                  </a:schemeClr>
                </a:solidFill>
                <a:latin typeface="Consolas"/>
              </a:rPr>
              <a:t>|&gt;</a:t>
            </a:r>
          </a:p>
          <a:p>
            <a:r>
              <a:rPr lang="en-US" sz="1600" b="1">
                <a:solidFill>
                  <a:srgbClr val="6CE1B8"/>
                </a:solidFill>
                <a:latin typeface="Consolas"/>
              </a:rPr>
              <a:t>  </a:t>
            </a:r>
            <a:r>
              <a:rPr lang="en-US" sz="1600" b="1" err="1">
                <a:solidFill>
                  <a:srgbClr val="F7864C"/>
                </a:solidFill>
                <a:latin typeface="Consolas"/>
              </a:rPr>
              <a:t>add_recipe</a:t>
            </a:r>
            <a:r>
              <a:rPr lang="en-US" sz="1600" b="1">
                <a:solidFill>
                  <a:schemeClr val="bg1"/>
                </a:solidFill>
                <a:latin typeface="Consolas"/>
              </a:rPr>
              <a:t>(</a:t>
            </a:r>
            <a:r>
              <a:rPr lang="en-US" sz="1600" b="1" err="1">
                <a:solidFill>
                  <a:srgbClr val="CFE7F5"/>
                </a:solidFill>
                <a:latin typeface="Consolas"/>
              </a:rPr>
              <a:t>playoff_recipe</a:t>
            </a:r>
            <a:r>
              <a:rPr lang="en-US" sz="1600" b="1">
                <a:solidFill>
                  <a:schemeClr val="bg1"/>
                </a:solidFill>
                <a:latin typeface="Consolas"/>
              </a:rPr>
              <a:t>)</a:t>
            </a:r>
            <a:r>
              <a:rPr lang="en-US" sz="1600" b="1">
                <a:solidFill>
                  <a:schemeClr val="accent2">
                    <a:lumMod val="40000"/>
                    <a:lumOff val="60000"/>
                  </a:schemeClr>
                </a:solidFill>
                <a:latin typeface="Consolas"/>
              </a:rPr>
              <a:t> |&gt;</a:t>
            </a:r>
          </a:p>
          <a:p>
            <a:r>
              <a:rPr lang="en-US" sz="1600" b="1">
                <a:solidFill>
                  <a:srgbClr val="F7864C"/>
                </a:solidFill>
                <a:latin typeface="Consolas"/>
              </a:rPr>
              <a:t>  </a:t>
            </a:r>
            <a:r>
              <a:rPr lang="en-US" sz="1600" b="1" err="1">
                <a:solidFill>
                  <a:srgbClr val="F7864C"/>
                </a:solidFill>
                <a:latin typeface="Consolas"/>
              </a:rPr>
              <a:t>add_model</a:t>
            </a:r>
            <a:r>
              <a:rPr lang="en-US" sz="1600" b="1">
                <a:solidFill>
                  <a:schemeClr val="bg1"/>
                </a:solidFill>
                <a:latin typeface="Consolas"/>
              </a:rPr>
              <a:t>(</a:t>
            </a:r>
            <a:r>
              <a:rPr lang="en-US" sz="1600" b="1" err="1">
                <a:solidFill>
                  <a:srgbClr val="CFE7F5"/>
                </a:solidFill>
                <a:latin typeface="Consolas"/>
              </a:rPr>
              <a:t>rf_spec</a:t>
            </a:r>
            <a:r>
              <a:rPr lang="en-US" sz="1600" b="1">
                <a:solidFill>
                  <a:schemeClr val="bg1"/>
                </a:solidFill>
                <a:latin typeface="Consolas"/>
              </a:rPr>
              <a:t>)</a:t>
            </a:r>
          </a:p>
        </p:txBody>
      </p:sp>
    </p:spTree>
    <p:extLst>
      <p:ext uri="{BB962C8B-B14F-4D97-AF65-F5344CB8AC3E}">
        <p14:creationId xmlns:p14="http://schemas.microsoft.com/office/powerpoint/2010/main" val="551589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5CD5C-A7A0-3B81-D806-355A32D104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2CC43-4FC4-8DDA-3460-24BDCE367E37}"/>
              </a:ext>
            </a:extLst>
          </p:cNvPr>
          <p:cNvSpPr>
            <a:spLocks noGrp="1"/>
          </p:cNvSpPr>
          <p:nvPr>
            <p:ph type="title"/>
          </p:nvPr>
        </p:nvSpPr>
        <p:spPr/>
        <p:txBody>
          <a:bodyPr/>
          <a:lstStyle/>
          <a:p>
            <a:r>
              <a:rPr lang="en-US"/>
              <a:t>Train on the past. Test on the future.</a:t>
            </a:r>
          </a:p>
        </p:txBody>
      </p:sp>
      <p:pic>
        <p:nvPicPr>
          <p:cNvPr id="7" name="Picture 6" descr="Small_Logo.jpg">
            <a:extLst>
              <a:ext uri="{FF2B5EF4-FFF2-40B4-BE49-F238E27FC236}">
                <a16:creationId xmlns:a16="http://schemas.microsoft.com/office/drawing/2014/main" id="{7B2AAC9E-9E0A-44EC-4C96-FF0C34C3182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0" name="Step Split"/>
          <p:cNvSpPr/>
          <p:nvPr/>
        </p:nvSpPr>
        <p:spPr>
          <a:xfrm>
            <a:off x="43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Split</a:t>
            </a:r>
          </a:p>
        </p:txBody>
      </p:sp>
      <p:sp>
        <p:nvSpPr>
          <p:cNvPr id="901" name="Step Preprocess"/>
          <p:cNvSpPr/>
          <p:nvPr/>
        </p:nvSpPr>
        <p:spPr>
          <a:xfrm>
            <a:off x="211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Preprocess</a:t>
            </a:r>
          </a:p>
        </p:txBody>
      </p:sp>
      <p:sp>
        <p:nvSpPr>
          <p:cNvPr id="902" name="Step Specify"/>
          <p:cNvSpPr/>
          <p:nvPr/>
        </p:nvSpPr>
        <p:spPr>
          <a:xfrm>
            <a:off x="379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Specify</a:t>
            </a:r>
          </a:p>
        </p:txBody>
      </p:sp>
      <p:sp>
        <p:nvSpPr>
          <p:cNvPr id="903" name="Step Fit"/>
          <p:cNvSpPr/>
          <p:nvPr/>
        </p:nvSpPr>
        <p:spPr>
          <a:xfrm>
            <a:off x="5472000" y="1140000"/>
            <a:ext cx="1560000" cy="300000"/>
          </a:xfrm>
          <a:prstGeom prst="roundRect">
            <a:avLst>
              <a:gd name="adj" fmla="val 50000"/>
            </a:avLst>
          </a:prstGeom>
          <a:solidFill>
            <a:srgbClr val="1B87B9"/>
          </a:solidFill>
          <a:ln>
            <a:noFill/>
          </a:ln>
        </p:spPr>
        <p:txBody>
          <a:bodyPr wrap="square" lIns="45720" tIns="18000" rIns="45720" bIns="18000" anchor="ctr"/>
          <a:lstStyle/>
          <a:p>
            <a:pPr algn="ctr"/>
            <a:r>
              <a:rPr lang="en-US" sz="1100" b="1">
                <a:solidFill>
                  <a:srgbClr val="FFFFFF"/>
                </a:solidFill>
              </a:rPr>
              <a:t>Fit</a:t>
            </a:r>
          </a:p>
        </p:txBody>
      </p:sp>
      <p:sp>
        <p:nvSpPr>
          <p:cNvPr id="904" name="Step Evaluate"/>
          <p:cNvSpPr/>
          <p:nvPr/>
        </p:nvSpPr>
        <p:spPr>
          <a:xfrm>
            <a:off x="715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Evaluate</a:t>
            </a:r>
          </a:p>
        </p:txBody>
      </p:sp>
      <p:sp>
        <p:nvSpPr>
          <p:cNvPr id="30" name="Train Label"/>
          <p:cNvSpPr txBox="1"/>
          <p:nvPr/>
        </p:nvSpPr>
        <p:spPr>
          <a:xfrm>
            <a:off x="430000" y="1687082"/>
            <a:ext cx="5600000" cy="300000"/>
          </a:xfrm>
          <a:prstGeom prst="rect">
            <a:avLst/>
          </a:prstGeom>
          <a:noFill/>
        </p:spPr>
        <p:txBody>
          <a:bodyPr wrap="square" anchor="ctr"/>
          <a:lstStyle/>
          <a:p>
            <a:pPr algn="ctr"/>
            <a:r>
              <a:rPr lang="en-US" sz="1600" b="1">
                <a:solidFill>
                  <a:srgbClr val="12405A"/>
                </a:solidFill>
              </a:rPr>
              <a:t>TRAIN</a:t>
            </a:r>
          </a:p>
        </p:txBody>
      </p:sp>
      <p:sp>
        <p:nvSpPr>
          <p:cNvPr id="31" name="Test Label"/>
          <p:cNvSpPr txBox="1"/>
          <p:nvPr/>
        </p:nvSpPr>
        <p:spPr>
          <a:xfrm>
            <a:off x="6360000" y="3087082"/>
            <a:ext cx="1500000" cy="300000"/>
          </a:xfrm>
          <a:prstGeom prst="rect">
            <a:avLst/>
          </a:prstGeom>
          <a:noFill/>
        </p:spPr>
        <p:txBody>
          <a:bodyPr wrap="square" anchor="ctr"/>
          <a:lstStyle/>
          <a:p>
            <a:pPr algn="ctr"/>
            <a:r>
              <a:rPr lang="en-US" sz="1600" b="1">
                <a:solidFill>
                  <a:srgbClr val="12405A"/>
                </a:solidFill>
              </a:rPr>
              <a:t>TEST</a:t>
            </a:r>
          </a:p>
        </p:txBody>
      </p:sp>
      <p:sp>
        <p:nvSpPr>
          <p:cNvPr id="32" name="Train Box"/>
          <p:cNvSpPr/>
          <p:nvPr/>
        </p:nvSpPr>
        <p:spPr>
          <a:xfrm>
            <a:off x="430000" y="2047082"/>
            <a:ext cx="5600000" cy="1200000"/>
          </a:xfrm>
          <a:prstGeom prst="roundRect">
            <a:avLst>
              <a:gd name="adj" fmla="val 6000"/>
            </a:avLst>
          </a:prstGeom>
          <a:solidFill>
            <a:srgbClr val="FFFFFF"/>
          </a:solidFill>
          <a:ln w="19050">
            <a:solidFill>
              <a:srgbClr val="1B87B9"/>
            </a:solidFill>
          </a:ln>
        </p:spPr>
        <p:txBody>
          <a:bodyPr/>
          <a:lstStyle/>
          <a:p>
            <a:endParaRPr lang="en-US"/>
          </a:p>
        </p:txBody>
      </p:sp>
      <p:sp>
        <p:nvSpPr>
          <p:cNvPr id="40" name="yr2016"/>
          <p:cNvSpPr/>
          <p:nvPr/>
        </p:nvSpPr>
        <p:spPr>
          <a:xfrm>
            <a:off x="580000" y="2147082"/>
            <a:ext cx="1000000" cy="440000"/>
          </a:xfrm>
          <a:prstGeom prst="roundRect">
            <a:avLst>
              <a:gd name="adj" fmla="val 8000"/>
            </a:avLst>
          </a:prstGeom>
          <a:solidFill>
            <a:srgbClr val="1B87B9"/>
          </a:solidFill>
          <a:ln w="12700">
            <a:solidFill>
              <a:srgbClr val="1B87B9"/>
            </a:solidFill>
          </a:ln>
        </p:spPr>
        <p:txBody>
          <a:bodyPr wrap="square" lIns="9000" tIns="4000" rIns="9000" bIns="4000" anchor="ctr"/>
          <a:lstStyle/>
          <a:p>
            <a:pPr algn="ctr"/>
            <a:r>
              <a:rPr lang="en-US" sz="1400" b="1">
                <a:solidFill>
                  <a:srgbClr val="FFFFFF"/>
                </a:solidFill>
              </a:rPr>
              <a:t>2016</a:t>
            </a:r>
          </a:p>
        </p:txBody>
      </p:sp>
      <p:sp>
        <p:nvSpPr>
          <p:cNvPr id="41" name="yr2017"/>
          <p:cNvSpPr/>
          <p:nvPr/>
        </p:nvSpPr>
        <p:spPr>
          <a:xfrm>
            <a:off x="1640000" y="2147082"/>
            <a:ext cx="1000000" cy="440000"/>
          </a:xfrm>
          <a:prstGeom prst="roundRect">
            <a:avLst>
              <a:gd name="adj" fmla="val 8000"/>
            </a:avLst>
          </a:prstGeom>
          <a:solidFill>
            <a:srgbClr val="1B87B9"/>
          </a:solidFill>
          <a:ln w="12700">
            <a:solidFill>
              <a:srgbClr val="1B87B9"/>
            </a:solidFill>
          </a:ln>
        </p:spPr>
        <p:txBody>
          <a:bodyPr wrap="square" lIns="9000" tIns="4000" rIns="9000" bIns="4000" anchor="ctr"/>
          <a:lstStyle/>
          <a:p>
            <a:pPr algn="ctr"/>
            <a:r>
              <a:rPr lang="en-US" sz="1400" b="1">
                <a:solidFill>
                  <a:srgbClr val="FFFFFF"/>
                </a:solidFill>
              </a:rPr>
              <a:t>2017</a:t>
            </a:r>
          </a:p>
        </p:txBody>
      </p:sp>
      <p:sp>
        <p:nvSpPr>
          <p:cNvPr id="42" name="yr2018"/>
          <p:cNvSpPr/>
          <p:nvPr/>
        </p:nvSpPr>
        <p:spPr>
          <a:xfrm>
            <a:off x="2700000" y="2147082"/>
            <a:ext cx="1000000" cy="440000"/>
          </a:xfrm>
          <a:prstGeom prst="roundRect">
            <a:avLst>
              <a:gd name="adj" fmla="val 8000"/>
            </a:avLst>
          </a:prstGeom>
          <a:solidFill>
            <a:srgbClr val="1B87B9"/>
          </a:solidFill>
          <a:ln w="12700">
            <a:solidFill>
              <a:srgbClr val="1B87B9"/>
            </a:solidFill>
          </a:ln>
        </p:spPr>
        <p:txBody>
          <a:bodyPr wrap="square" lIns="9000" tIns="4000" rIns="9000" bIns="4000" anchor="ctr"/>
          <a:lstStyle/>
          <a:p>
            <a:pPr algn="ctr"/>
            <a:r>
              <a:rPr lang="en-US" sz="1400" b="1">
                <a:solidFill>
                  <a:srgbClr val="FFFFFF"/>
                </a:solidFill>
              </a:rPr>
              <a:t>2018</a:t>
            </a:r>
          </a:p>
        </p:txBody>
      </p:sp>
      <p:sp>
        <p:nvSpPr>
          <p:cNvPr id="43" name="yr2019"/>
          <p:cNvSpPr/>
          <p:nvPr/>
        </p:nvSpPr>
        <p:spPr>
          <a:xfrm>
            <a:off x="3760000" y="2147082"/>
            <a:ext cx="1000000" cy="440000"/>
          </a:xfrm>
          <a:prstGeom prst="roundRect">
            <a:avLst>
              <a:gd name="adj" fmla="val 8000"/>
            </a:avLst>
          </a:prstGeom>
          <a:solidFill>
            <a:srgbClr val="1B87B9"/>
          </a:solidFill>
          <a:ln w="12700">
            <a:solidFill>
              <a:srgbClr val="1B87B9"/>
            </a:solidFill>
          </a:ln>
        </p:spPr>
        <p:txBody>
          <a:bodyPr wrap="square" lIns="9000" tIns="4000" rIns="9000" bIns="4000" anchor="ctr"/>
          <a:lstStyle/>
          <a:p>
            <a:pPr algn="ctr"/>
            <a:r>
              <a:rPr lang="en-US" sz="1400" b="1">
                <a:solidFill>
                  <a:srgbClr val="FFFFFF"/>
                </a:solidFill>
              </a:rPr>
              <a:t>2019</a:t>
            </a:r>
          </a:p>
        </p:txBody>
      </p:sp>
      <p:sp>
        <p:nvSpPr>
          <p:cNvPr id="44" name="yr2020"/>
          <p:cNvSpPr/>
          <p:nvPr/>
        </p:nvSpPr>
        <p:spPr>
          <a:xfrm>
            <a:off x="4820000" y="2147082"/>
            <a:ext cx="1000000" cy="440000"/>
          </a:xfrm>
          <a:prstGeom prst="roundRect">
            <a:avLst>
              <a:gd name="adj" fmla="val 8000"/>
            </a:avLst>
          </a:prstGeom>
          <a:solidFill>
            <a:srgbClr val="E4E7EA"/>
          </a:solidFill>
          <a:ln w="12700">
            <a:solidFill>
              <a:srgbClr val="C8CED4"/>
            </a:solidFill>
          </a:ln>
        </p:spPr>
        <p:txBody>
          <a:bodyPr wrap="square" lIns="9000" tIns="4000" rIns="9000" bIns="4000" anchor="ctr"/>
          <a:lstStyle/>
          <a:p>
            <a:pPr algn="ctr"/>
            <a:r>
              <a:rPr lang="en-US" sz="1400" b="1">
                <a:solidFill>
                  <a:srgbClr val="9AA5AD"/>
                </a:solidFill>
              </a:rPr>
              <a:t>2020</a:t>
            </a:r>
          </a:p>
        </p:txBody>
      </p:sp>
      <p:sp>
        <p:nvSpPr>
          <p:cNvPr id="45" name="yr2021"/>
          <p:cNvSpPr/>
          <p:nvPr/>
        </p:nvSpPr>
        <p:spPr>
          <a:xfrm>
            <a:off x="580000" y="2657082"/>
            <a:ext cx="1000000" cy="440000"/>
          </a:xfrm>
          <a:prstGeom prst="roundRect">
            <a:avLst>
              <a:gd name="adj" fmla="val 8000"/>
            </a:avLst>
          </a:prstGeom>
          <a:solidFill>
            <a:srgbClr val="1B87B9"/>
          </a:solidFill>
          <a:ln w="12700">
            <a:solidFill>
              <a:srgbClr val="1B87B9"/>
            </a:solidFill>
          </a:ln>
        </p:spPr>
        <p:txBody>
          <a:bodyPr wrap="square" lIns="9000" tIns="4000" rIns="9000" bIns="4000" anchor="ctr"/>
          <a:lstStyle/>
          <a:p>
            <a:pPr algn="ctr"/>
            <a:r>
              <a:rPr lang="en-US" sz="1400" b="1">
                <a:solidFill>
                  <a:srgbClr val="FFFFFF"/>
                </a:solidFill>
              </a:rPr>
              <a:t>2021</a:t>
            </a:r>
          </a:p>
        </p:txBody>
      </p:sp>
      <p:sp>
        <p:nvSpPr>
          <p:cNvPr id="46" name="yr2022"/>
          <p:cNvSpPr/>
          <p:nvPr/>
        </p:nvSpPr>
        <p:spPr>
          <a:xfrm>
            <a:off x="1640000" y="2657082"/>
            <a:ext cx="1000000" cy="440000"/>
          </a:xfrm>
          <a:prstGeom prst="roundRect">
            <a:avLst>
              <a:gd name="adj" fmla="val 8000"/>
            </a:avLst>
          </a:prstGeom>
          <a:solidFill>
            <a:srgbClr val="1B87B9"/>
          </a:solidFill>
          <a:ln w="12700">
            <a:solidFill>
              <a:srgbClr val="1B87B9"/>
            </a:solidFill>
          </a:ln>
        </p:spPr>
        <p:txBody>
          <a:bodyPr wrap="square" lIns="9000" tIns="4000" rIns="9000" bIns="4000" anchor="ctr"/>
          <a:lstStyle/>
          <a:p>
            <a:pPr algn="ctr"/>
            <a:r>
              <a:rPr lang="en-US" sz="1400" b="1">
                <a:solidFill>
                  <a:srgbClr val="FFFFFF"/>
                </a:solidFill>
              </a:rPr>
              <a:t>2022</a:t>
            </a:r>
          </a:p>
        </p:txBody>
      </p:sp>
      <p:sp>
        <p:nvSpPr>
          <p:cNvPr id="47" name="yr2023"/>
          <p:cNvSpPr/>
          <p:nvPr/>
        </p:nvSpPr>
        <p:spPr>
          <a:xfrm>
            <a:off x="2700000" y="2657082"/>
            <a:ext cx="1000000" cy="440000"/>
          </a:xfrm>
          <a:prstGeom prst="roundRect">
            <a:avLst>
              <a:gd name="adj" fmla="val 8000"/>
            </a:avLst>
          </a:prstGeom>
          <a:solidFill>
            <a:srgbClr val="1B87B9"/>
          </a:solidFill>
          <a:ln w="12700">
            <a:solidFill>
              <a:srgbClr val="1B87B9"/>
            </a:solidFill>
          </a:ln>
        </p:spPr>
        <p:txBody>
          <a:bodyPr wrap="square" lIns="9000" tIns="4000" rIns="9000" bIns="4000" anchor="ctr"/>
          <a:lstStyle/>
          <a:p>
            <a:pPr algn="ctr"/>
            <a:r>
              <a:rPr lang="en-US" sz="1400" b="1">
                <a:solidFill>
                  <a:srgbClr val="FFFFFF"/>
                </a:solidFill>
              </a:rPr>
              <a:t>2023</a:t>
            </a:r>
          </a:p>
        </p:txBody>
      </p:sp>
      <p:sp>
        <p:nvSpPr>
          <p:cNvPr id="48" name="yr2024"/>
          <p:cNvSpPr/>
          <p:nvPr/>
        </p:nvSpPr>
        <p:spPr>
          <a:xfrm>
            <a:off x="3760000" y="2657082"/>
            <a:ext cx="1000000" cy="440000"/>
          </a:xfrm>
          <a:prstGeom prst="roundRect">
            <a:avLst>
              <a:gd name="adj" fmla="val 8000"/>
            </a:avLst>
          </a:prstGeom>
          <a:solidFill>
            <a:srgbClr val="1B87B9"/>
          </a:solidFill>
          <a:ln w="12700">
            <a:solidFill>
              <a:srgbClr val="1B87B9"/>
            </a:solidFill>
          </a:ln>
        </p:spPr>
        <p:txBody>
          <a:bodyPr wrap="square" lIns="9000" tIns="4000" rIns="9000" bIns="4000" anchor="ctr"/>
          <a:lstStyle/>
          <a:p>
            <a:pPr algn="ctr"/>
            <a:r>
              <a:rPr lang="en-US" sz="1400" b="1">
                <a:solidFill>
                  <a:srgbClr val="FFFFFF"/>
                </a:solidFill>
              </a:rPr>
              <a:t>2024</a:t>
            </a:r>
          </a:p>
        </p:txBody>
      </p:sp>
      <p:sp>
        <p:nvSpPr>
          <p:cNvPr id="49" name="Excluded Note"/>
          <p:cNvSpPr txBox="1"/>
          <p:nvPr/>
        </p:nvSpPr>
        <p:spPr>
          <a:xfrm>
            <a:off x="4820000" y="2549029"/>
            <a:ext cx="1000000" cy="300000"/>
          </a:xfrm>
          <a:prstGeom prst="rect">
            <a:avLst/>
          </a:prstGeom>
          <a:noFill/>
        </p:spPr>
        <p:txBody>
          <a:bodyPr wrap="square" anchor="ctr"/>
          <a:lstStyle/>
          <a:p>
            <a:pPr algn="ctr"/>
            <a:r>
              <a:rPr lang="en-US" sz="1000" i="1">
                <a:solidFill>
                  <a:srgbClr val="9AA5AD"/>
                </a:solidFill>
              </a:rPr>
              <a:t>excluded</a:t>
            </a:r>
          </a:p>
        </p:txBody>
      </p:sp>
      <p:sp>
        <p:nvSpPr>
          <p:cNvPr id="50" name="Arrow Right"/>
          <p:cNvSpPr/>
          <p:nvPr/>
        </p:nvSpPr>
        <p:spPr>
          <a:xfrm>
            <a:off x="4050000" y="3687082"/>
            <a:ext cx="2200000" cy="300000"/>
          </a:xfrm>
          <a:prstGeom prst="rightArrow">
            <a:avLst/>
          </a:prstGeom>
          <a:solidFill>
            <a:srgbClr val="1B87B9"/>
          </a:solidFill>
          <a:ln>
            <a:noFill/>
          </a:ln>
        </p:spPr>
        <p:txBody>
          <a:bodyPr/>
          <a:lstStyle/>
          <a:p>
            <a:endParaRPr lang="en-US"/>
          </a:p>
        </p:txBody>
      </p:sp>
      <p:sp>
        <p:nvSpPr>
          <p:cNvPr id="51" name="Test Box"/>
          <p:cNvSpPr/>
          <p:nvPr/>
        </p:nvSpPr>
        <p:spPr>
          <a:xfrm>
            <a:off x="6360000" y="3387082"/>
            <a:ext cx="1500000" cy="900000"/>
          </a:xfrm>
          <a:prstGeom prst="roundRect">
            <a:avLst>
              <a:gd name="adj" fmla="val 6000"/>
            </a:avLst>
          </a:prstGeom>
          <a:solidFill>
            <a:srgbClr val="FCE3D6"/>
          </a:solidFill>
          <a:ln w="19050">
            <a:solidFill>
              <a:srgbClr val="F7864C"/>
            </a:solidFill>
            <a:prstDash val="dash"/>
          </a:ln>
        </p:spPr>
        <p:txBody>
          <a:bodyPr wrap="square" anchor="ctr"/>
          <a:lstStyle/>
          <a:p>
            <a:pPr algn="ctr"/>
            <a:r>
              <a:rPr lang="en-US" sz="2000" b="1">
                <a:solidFill>
                  <a:srgbClr val="F7864C"/>
                </a:solidFill>
              </a:rPr>
              <a:t>2025</a:t>
            </a:r>
          </a:p>
          <a:p>
            <a:pPr algn="ctr"/>
            <a:r>
              <a:rPr lang="en-US" sz="1200" b="1" spc="200">
                <a:solidFill>
                  <a:srgbClr val="9AA5AD"/>
                </a:solidFill>
              </a:rPr>
              <a:t>HELD OUT</a:t>
            </a:r>
          </a:p>
        </p:txBody>
      </p:sp>
      <p:sp>
        <p:nvSpPr>
          <p:cNvPr id="52" name="Arrow Down"/>
          <p:cNvSpPr/>
          <p:nvPr/>
        </p:nvSpPr>
        <p:spPr>
          <a:xfrm>
            <a:off x="3080000" y="3297082"/>
            <a:ext cx="300000" cy="300000"/>
          </a:xfrm>
          <a:prstGeom prst="downArrow">
            <a:avLst/>
          </a:prstGeom>
          <a:solidFill>
            <a:srgbClr val="1B87B9"/>
          </a:solidFill>
          <a:ln>
            <a:noFill/>
          </a:ln>
        </p:spPr>
        <p:txBody>
          <a:bodyPr/>
          <a:lstStyle/>
          <a:p>
            <a:endParaRPr lang="en-US"/>
          </a:p>
        </p:txBody>
      </p:sp>
      <p:sp>
        <p:nvSpPr>
          <p:cNvPr id="53" name="Fit Model Pill"/>
          <p:cNvSpPr/>
          <p:nvPr/>
        </p:nvSpPr>
        <p:spPr>
          <a:xfrm>
            <a:off x="2530000" y="3647082"/>
            <a:ext cx="1400000" cy="380000"/>
          </a:xfrm>
          <a:prstGeom prst="roundRect">
            <a:avLst>
              <a:gd name="adj" fmla="val 50000"/>
            </a:avLst>
          </a:prstGeom>
          <a:solidFill>
            <a:srgbClr val="1B87B9"/>
          </a:solidFill>
          <a:ln>
            <a:noFill/>
          </a:ln>
        </p:spPr>
        <p:txBody>
          <a:bodyPr wrap="square" anchor="ctr"/>
          <a:lstStyle/>
          <a:p>
            <a:pPr algn="ctr"/>
            <a:r>
              <a:rPr lang="en-US" sz="1400" b="1">
                <a:solidFill>
                  <a:srgbClr val="FFFFFF"/>
                </a:solidFill>
              </a:rPr>
              <a:t>FIT MODEL</a:t>
            </a:r>
          </a:p>
        </p:txBody>
      </p:sp>
    </p:spTree>
    <p:extLst>
      <p:ext uri="{BB962C8B-B14F-4D97-AF65-F5344CB8AC3E}">
        <p14:creationId xmlns:p14="http://schemas.microsoft.com/office/powerpoint/2010/main" val="4265854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C29E0-8A3F-4469-46FC-35AFEC33D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831F6-E927-14BE-C184-29870F6B0BD3}"/>
              </a:ext>
            </a:extLst>
          </p:cNvPr>
          <p:cNvSpPr>
            <a:spLocks noGrp="1"/>
          </p:cNvSpPr>
          <p:nvPr>
            <p:ph type="title"/>
          </p:nvPr>
        </p:nvSpPr>
        <p:spPr/>
        <p:txBody>
          <a:bodyPr/>
          <a:lstStyle/>
          <a:p>
            <a:r>
              <a:rPr lang="en-US"/>
              <a:t>The test set returns!</a:t>
            </a:r>
          </a:p>
        </p:txBody>
      </p:sp>
      <p:pic>
        <p:nvPicPr>
          <p:cNvPr id="7" name="Picture 6" descr="Small_Logo.jpg">
            <a:extLst>
              <a:ext uri="{FF2B5EF4-FFF2-40B4-BE49-F238E27FC236}">
                <a16:creationId xmlns:a16="http://schemas.microsoft.com/office/drawing/2014/main" id="{FF977BD5-D5FA-03AA-B603-37DA9D36695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0" name="Step Split"/>
          <p:cNvSpPr/>
          <p:nvPr/>
        </p:nvSpPr>
        <p:spPr>
          <a:xfrm>
            <a:off x="43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Split</a:t>
            </a:r>
          </a:p>
        </p:txBody>
      </p:sp>
      <p:sp>
        <p:nvSpPr>
          <p:cNvPr id="901" name="Step Preprocess"/>
          <p:cNvSpPr/>
          <p:nvPr/>
        </p:nvSpPr>
        <p:spPr>
          <a:xfrm>
            <a:off x="211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Preprocess</a:t>
            </a:r>
          </a:p>
        </p:txBody>
      </p:sp>
      <p:sp>
        <p:nvSpPr>
          <p:cNvPr id="902" name="Step Specify"/>
          <p:cNvSpPr/>
          <p:nvPr/>
        </p:nvSpPr>
        <p:spPr>
          <a:xfrm>
            <a:off x="379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Specify</a:t>
            </a:r>
          </a:p>
        </p:txBody>
      </p:sp>
      <p:sp>
        <p:nvSpPr>
          <p:cNvPr id="903" name="Step Fit"/>
          <p:cNvSpPr/>
          <p:nvPr/>
        </p:nvSpPr>
        <p:spPr>
          <a:xfrm>
            <a:off x="5472000" y="1140000"/>
            <a:ext cx="1560000" cy="300000"/>
          </a:xfrm>
          <a:prstGeom prst="roundRect">
            <a:avLst>
              <a:gd name="adj" fmla="val 50000"/>
            </a:avLst>
          </a:prstGeom>
          <a:solidFill>
            <a:srgbClr val="1B87B9"/>
          </a:solidFill>
          <a:ln>
            <a:noFill/>
          </a:ln>
        </p:spPr>
        <p:txBody>
          <a:bodyPr wrap="square" lIns="45720" tIns="18000" rIns="45720" bIns="18000" anchor="ctr"/>
          <a:lstStyle/>
          <a:p>
            <a:pPr algn="ctr"/>
            <a:r>
              <a:rPr lang="en-US" sz="1100" b="1">
                <a:solidFill>
                  <a:srgbClr val="FFFFFF"/>
                </a:solidFill>
              </a:rPr>
              <a:t>Fit</a:t>
            </a:r>
          </a:p>
        </p:txBody>
      </p:sp>
      <p:sp>
        <p:nvSpPr>
          <p:cNvPr id="904" name="Step Evaluate"/>
          <p:cNvSpPr/>
          <p:nvPr/>
        </p:nvSpPr>
        <p:spPr>
          <a:xfrm>
            <a:off x="715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Evaluate</a:t>
            </a:r>
          </a:p>
        </p:txBody>
      </p:sp>
      <p:sp>
        <p:nvSpPr>
          <p:cNvPr id="62" name="v62"/>
          <p:cNvSpPr/>
          <p:nvPr/>
        </p:nvSpPr>
        <p:spPr>
          <a:xfrm>
            <a:off x="509014" y="1943545"/>
            <a:ext cx="2250000" cy="1780000"/>
          </a:xfrm>
          <a:prstGeom prst="roundRect">
            <a:avLst>
              <a:gd name="adj" fmla="val 6000"/>
            </a:avLst>
          </a:prstGeom>
          <a:solidFill>
            <a:srgbClr val="FFFFFF"/>
          </a:solidFill>
          <a:ln w="25400">
            <a:solidFill>
              <a:srgbClr val="1B87B9"/>
            </a:solidFill>
          </a:ln>
        </p:spPr>
        <p:txBody>
          <a:bodyPr wrap="square" lIns="80000" tIns="90000" rIns="80000" bIns="80000" anchor="ctr"/>
          <a:lstStyle/>
          <a:p>
            <a:pPr algn="ctr"/>
            <a:r>
              <a:rPr lang="en-US" sz="1200" b="1" spc="120">
                <a:solidFill>
                  <a:srgbClr val="1B87B9"/>
                </a:solidFill>
              </a:rPr>
              <a:t>CHOICES FIXED</a:t>
            </a:r>
          </a:p>
          <a:p>
            <a:pPr algn="ctr"/>
            <a:r>
              <a:rPr lang="en-US" sz="1100">
                <a:solidFill>
                  <a:srgbClr val="12405A"/>
                </a:solidFill>
              </a:rPr>
              <a:t>trees = 500</a:t>
            </a:r>
          </a:p>
          <a:p>
            <a:pPr algn="ctr"/>
            <a:r>
              <a:rPr lang="en-US" sz="1050">
                <a:solidFill>
                  <a:srgbClr val="12405A"/>
                </a:solidFill>
              </a:rPr>
              <a:t>engine: ranger</a:t>
            </a:r>
          </a:p>
          <a:p>
            <a:pPr algn="ctr"/>
            <a:r>
              <a:rPr lang="en-US" sz="1050">
                <a:solidFill>
                  <a:srgbClr val="12405A"/>
                </a:solidFill>
              </a:rPr>
              <a:t>mode: classification</a:t>
            </a:r>
          </a:p>
        </p:txBody>
      </p:sp>
      <p:sp>
        <p:nvSpPr>
          <p:cNvPr id="63" name="a63"/>
          <p:cNvSpPr/>
          <p:nvPr/>
        </p:nvSpPr>
        <p:spPr>
          <a:xfrm>
            <a:off x="2809014" y="2703545"/>
            <a:ext cx="240000" cy="260000"/>
          </a:xfrm>
          <a:prstGeom prst="rightArrow">
            <a:avLst/>
          </a:prstGeom>
          <a:solidFill>
            <a:srgbClr val="B8C0C7"/>
          </a:solidFill>
          <a:ln>
            <a:noFill/>
          </a:ln>
        </p:spPr>
        <p:txBody>
          <a:bodyPr/>
          <a:lstStyle/>
          <a:p>
            <a:endParaRPr/>
          </a:p>
        </p:txBody>
      </p:sp>
      <p:sp>
        <p:nvSpPr>
          <p:cNvPr id="64" name="v64"/>
          <p:cNvSpPr/>
          <p:nvPr/>
        </p:nvSpPr>
        <p:spPr>
          <a:xfrm>
            <a:off x="3109014" y="1943545"/>
            <a:ext cx="2250000" cy="1780000"/>
          </a:xfrm>
          <a:prstGeom prst="roundRect">
            <a:avLst>
              <a:gd name="adj" fmla="val 6000"/>
            </a:avLst>
          </a:prstGeom>
          <a:solidFill>
            <a:srgbClr val="1B87B9"/>
          </a:solidFill>
          <a:ln w="25400">
            <a:solidFill>
              <a:srgbClr val="1B87B9"/>
            </a:solidFill>
          </a:ln>
        </p:spPr>
        <p:txBody>
          <a:bodyPr wrap="square" lIns="80000" tIns="90000" rIns="80000" bIns="80000" anchor="ctr"/>
          <a:lstStyle/>
          <a:p>
            <a:pPr algn="ctr"/>
            <a:r>
              <a:rPr lang="en-US" sz="1200" b="1" spc="120">
                <a:solidFill>
                  <a:srgbClr val="FFFFFF"/>
                </a:solidFill>
              </a:rPr>
              <a:t>FIT ON ALL</a:t>
            </a:r>
          </a:p>
          <a:p>
            <a:pPr algn="ctr"/>
            <a:r>
              <a:rPr lang="en-US" sz="1200" b="1" spc="120">
                <a:solidFill>
                  <a:srgbClr val="FFFFFF"/>
                </a:solidFill>
              </a:rPr>
              <a:t>DEV SEASONS</a:t>
            </a:r>
          </a:p>
          <a:p>
            <a:pPr algn="ctr"/>
            <a:r>
              <a:rPr lang="en-US" sz="2200" b="1">
                <a:solidFill>
                  <a:srgbClr val="FFFFFF"/>
                </a:solidFill>
              </a:rPr>
              <a:t>2016–2024</a:t>
            </a:r>
          </a:p>
          <a:p>
            <a:pPr algn="ctr"/>
            <a:r>
              <a:rPr lang="en-US" sz="1050" i="1">
                <a:solidFill>
                  <a:srgbClr val="D6ECF5"/>
                </a:solidFill>
              </a:rPr>
              <a:t>excluding 2020</a:t>
            </a:r>
          </a:p>
        </p:txBody>
      </p:sp>
      <p:sp>
        <p:nvSpPr>
          <p:cNvPr id="65" name="a65"/>
          <p:cNvSpPr/>
          <p:nvPr/>
        </p:nvSpPr>
        <p:spPr>
          <a:xfrm>
            <a:off x="5409014" y="2703545"/>
            <a:ext cx="240000" cy="260000"/>
          </a:xfrm>
          <a:prstGeom prst="rightArrow">
            <a:avLst/>
          </a:prstGeom>
          <a:solidFill>
            <a:srgbClr val="F7864C"/>
          </a:solidFill>
          <a:ln>
            <a:noFill/>
          </a:ln>
        </p:spPr>
        <p:txBody>
          <a:bodyPr/>
          <a:lstStyle/>
          <a:p>
            <a:endParaRPr/>
          </a:p>
        </p:txBody>
      </p:sp>
      <p:sp>
        <p:nvSpPr>
          <p:cNvPr id="66" name="Block Final Test (reused)"/>
          <p:cNvSpPr/>
          <p:nvPr/>
        </p:nvSpPr>
        <p:spPr>
          <a:xfrm>
            <a:off x="5769014" y="1943545"/>
            <a:ext cx="2600000" cy="1780000"/>
          </a:xfrm>
          <a:prstGeom prst="roundRect">
            <a:avLst>
              <a:gd name="adj" fmla="val 6000"/>
            </a:avLst>
          </a:prstGeom>
          <a:solidFill>
            <a:srgbClr val="FFE3B3"/>
          </a:solidFill>
          <a:ln w="25400">
            <a:solidFill>
              <a:schemeClr val="accent2"/>
            </a:solidFill>
            <a:prstDash val="dash"/>
          </a:ln>
        </p:spPr>
        <p:txBody>
          <a:bodyPr wrap="square" lIns="91440" tIns="110000" rIns="91440" bIns="91440" anchor="ctr"/>
          <a:lstStyle/>
          <a:p>
            <a:pPr algn="ctr"/>
            <a:r>
              <a:rPr lang="en-US" sz="1200" b="1" spc="120">
                <a:solidFill>
                  <a:schemeClr val="bg1"/>
                </a:solidFill>
              </a:rPr>
              <a:t>Final test</a:t>
            </a:r>
          </a:p>
          <a:p>
            <a:pPr algn="ctr"/>
            <a:r>
              <a:rPr lang="en-US" sz="2600" b="1">
                <a:solidFill>
                  <a:schemeClr val="bg1"/>
                </a:solidFill>
              </a:rPr>
              <a:t>2025</a:t>
            </a:r>
          </a:p>
          <a:p>
            <a:pPr algn="ctr"/>
            <a:r>
              <a:rPr lang="en-US" sz="1150" i="1">
                <a:solidFill>
                  <a:schemeClr val="bg1"/>
                </a:solidFill>
              </a:rPr>
              <a:t>set aside — returns later</a:t>
            </a:r>
          </a:p>
        </p:txBody>
      </p:sp>
      <p:sp>
        <p:nvSpPr>
          <p:cNvPr id="67" name="v67"/>
          <p:cNvSpPr/>
          <p:nvPr/>
        </p:nvSpPr>
        <p:spPr>
          <a:xfrm>
            <a:off x="7709014" y="1793545"/>
            <a:ext cx="680000" cy="360000"/>
          </a:xfrm>
          <a:prstGeom prst="roundRect">
            <a:avLst>
              <a:gd name="adj" fmla="val 25000"/>
            </a:avLst>
          </a:prstGeom>
          <a:solidFill>
            <a:srgbClr val="F7864C"/>
          </a:solidFill>
          <a:ln w="12700">
            <a:solidFill>
              <a:srgbClr val="F7864C"/>
            </a:solidFill>
          </a:ln>
        </p:spPr>
        <p:txBody>
          <a:bodyPr wrap="square" lIns="80000" tIns="90000" rIns="80000" bIns="80000" anchor="ctr"/>
          <a:lstStyle/>
          <a:p>
            <a:pPr algn="ctr"/>
            <a:r>
              <a:rPr lang="en-US" sz="1100" b="1" spc="100">
                <a:solidFill>
                  <a:srgbClr val="FFFFFF"/>
                </a:solidFill>
              </a:rPr>
              <a:t>OPEN</a:t>
            </a:r>
          </a:p>
        </p:txBody>
      </p:sp>
      <p:sp>
        <p:nvSpPr>
          <p:cNvPr id="68" name="v68"/>
          <p:cNvSpPr/>
          <p:nvPr/>
        </p:nvSpPr>
        <p:spPr>
          <a:xfrm>
            <a:off x="5769014" y="3743545"/>
            <a:ext cx="2600000" cy="320000"/>
          </a:xfrm>
          <a:prstGeom prst="roundRect">
            <a:avLst>
              <a:gd name="adj" fmla="val 0"/>
            </a:avLst>
          </a:prstGeom>
          <a:noFill/>
          <a:ln>
            <a:noFill/>
          </a:ln>
        </p:spPr>
        <p:txBody>
          <a:bodyPr wrap="square" lIns="80000" tIns="90000" rIns="80000" bIns="80000" anchor="ctr"/>
          <a:lstStyle/>
          <a:p>
            <a:pPr algn="ctr"/>
            <a:r>
              <a:rPr lang="en-US" sz="1100" b="1" i="1">
                <a:solidFill>
                  <a:srgbClr val="F7864C"/>
                </a:solidFill>
              </a:rPr>
              <a:t>Opened now — scored once.</a:t>
            </a:r>
          </a:p>
        </p:txBody>
      </p:sp>
    </p:spTree>
    <p:extLst>
      <p:ext uri="{BB962C8B-B14F-4D97-AF65-F5344CB8AC3E}">
        <p14:creationId xmlns:p14="http://schemas.microsoft.com/office/powerpoint/2010/main" val="1600907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3FF15-C400-1B4E-269B-0CDA70634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1FA56-8BA8-4E9A-1BDD-673C3AA75A4C}"/>
              </a:ext>
            </a:extLst>
          </p:cNvPr>
          <p:cNvSpPr>
            <a:spLocks noGrp="1"/>
          </p:cNvSpPr>
          <p:nvPr>
            <p:ph type="title"/>
          </p:nvPr>
        </p:nvSpPr>
        <p:spPr/>
        <p:txBody>
          <a:bodyPr/>
          <a:lstStyle/>
          <a:p>
            <a:r>
              <a:rPr lang="en-US"/>
              <a:t>Time to fit.</a:t>
            </a:r>
          </a:p>
        </p:txBody>
      </p:sp>
      <p:pic>
        <p:nvPicPr>
          <p:cNvPr id="7" name="Picture 6" descr="Small_Logo.jpg">
            <a:extLst>
              <a:ext uri="{FF2B5EF4-FFF2-40B4-BE49-F238E27FC236}">
                <a16:creationId xmlns:a16="http://schemas.microsoft.com/office/drawing/2014/main" id="{2D20F730-CA4A-2C86-CCCD-059EC47F722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0" name="Step Split">
            <a:extLst>
              <a:ext uri="{FF2B5EF4-FFF2-40B4-BE49-F238E27FC236}">
                <a16:creationId xmlns:a16="http://schemas.microsoft.com/office/drawing/2014/main" id="{470FAFF8-858B-0820-AA24-3863CE18EBFE}"/>
              </a:ext>
            </a:extLst>
          </p:cNvPr>
          <p:cNvSpPr/>
          <p:nvPr/>
        </p:nvSpPr>
        <p:spPr>
          <a:xfrm>
            <a:off x="43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Split</a:t>
            </a:r>
          </a:p>
        </p:txBody>
      </p:sp>
      <p:sp>
        <p:nvSpPr>
          <p:cNvPr id="901" name="Step Preprocess">
            <a:extLst>
              <a:ext uri="{FF2B5EF4-FFF2-40B4-BE49-F238E27FC236}">
                <a16:creationId xmlns:a16="http://schemas.microsoft.com/office/drawing/2014/main" id="{C17EDE2D-E718-446A-C4CB-62BF64D417F6}"/>
              </a:ext>
            </a:extLst>
          </p:cNvPr>
          <p:cNvSpPr/>
          <p:nvPr/>
        </p:nvSpPr>
        <p:spPr>
          <a:xfrm>
            <a:off x="211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Preprocess</a:t>
            </a:r>
          </a:p>
        </p:txBody>
      </p:sp>
      <p:sp>
        <p:nvSpPr>
          <p:cNvPr id="902" name="Step Specify">
            <a:extLst>
              <a:ext uri="{FF2B5EF4-FFF2-40B4-BE49-F238E27FC236}">
                <a16:creationId xmlns:a16="http://schemas.microsoft.com/office/drawing/2014/main" id="{38CA8F42-743B-970E-3EF8-4D09D6CD0CEB}"/>
              </a:ext>
            </a:extLst>
          </p:cNvPr>
          <p:cNvSpPr/>
          <p:nvPr/>
        </p:nvSpPr>
        <p:spPr>
          <a:xfrm>
            <a:off x="379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Specify</a:t>
            </a:r>
          </a:p>
        </p:txBody>
      </p:sp>
      <p:sp>
        <p:nvSpPr>
          <p:cNvPr id="903" name="Step Fit">
            <a:extLst>
              <a:ext uri="{FF2B5EF4-FFF2-40B4-BE49-F238E27FC236}">
                <a16:creationId xmlns:a16="http://schemas.microsoft.com/office/drawing/2014/main" id="{5DE141BB-257E-56B0-C043-EE5C11A9E1ED}"/>
              </a:ext>
            </a:extLst>
          </p:cNvPr>
          <p:cNvSpPr/>
          <p:nvPr/>
        </p:nvSpPr>
        <p:spPr>
          <a:xfrm>
            <a:off x="5472000" y="1140000"/>
            <a:ext cx="1560000" cy="300000"/>
          </a:xfrm>
          <a:prstGeom prst="roundRect">
            <a:avLst>
              <a:gd name="adj" fmla="val 50000"/>
            </a:avLst>
          </a:prstGeom>
          <a:solidFill>
            <a:srgbClr val="1B87B9"/>
          </a:solidFill>
          <a:ln>
            <a:noFill/>
          </a:ln>
        </p:spPr>
        <p:txBody>
          <a:bodyPr wrap="square" lIns="45720" tIns="18000" rIns="45720" bIns="18000" anchor="ctr"/>
          <a:lstStyle/>
          <a:p>
            <a:pPr algn="ctr"/>
            <a:r>
              <a:rPr lang="en-US" sz="1100" b="1">
                <a:solidFill>
                  <a:srgbClr val="FFFFFF"/>
                </a:solidFill>
              </a:rPr>
              <a:t>Fit</a:t>
            </a:r>
          </a:p>
        </p:txBody>
      </p:sp>
      <p:sp>
        <p:nvSpPr>
          <p:cNvPr id="904" name="Step Evaluate">
            <a:extLst>
              <a:ext uri="{FF2B5EF4-FFF2-40B4-BE49-F238E27FC236}">
                <a16:creationId xmlns:a16="http://schemas.microsoft.com/office/drawing/2014/main" id="{3AB6E1CE-628E-6E6C-811F-9A90A0AF31FA}"/>
              </a:ext>
            </a:extLst>
          </p:cNvPr>
          <p:cNvSpPr/>
          <p:nvPr/>
        </p:nvSpPr>
        <p:spPr>
          <a:xfrm>
            <a:off x="715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Evaluate</a:t>
            </a:r>
          </a:p>
        </p:txBody>
      </p:sp>
      <p:sp>
        <p:nvSpPr>
          <p:cNvPr id="5" name="Fit Code"/>
          <p:cNvSpPr/>
          <p:nvPr/>
        </p:nvSpPr>
        <p:spPr>
          <a:xfrm>
            <a:off x="1272000" y="1920000"/>
            <a:ext cx="6600000" cy="1180000"/>
          </a:xfrm>
          <a:prstGeom prst="roundRect">
            <a:avLst>
              <a:gd name="adj" fmla="val 6000"/>
            </a:avLst>
          </a:prstGeom>
          <a:solidFill>
            <a:srgbClr val="0B5583"/>
          </a:solidFill>
          <a:ln w="19050">
            <a:solidFill>
              <a:srgbClr val="116898"/>
            </a:solidFill>
          </a:ln>
        </p:spPr>
        <p:txBody>
          <a:bodyPr wrap="square" lIns="274320" tIns="137160" rIns="137160" bIns="137160" anchor="ctr"/>
          <a:lstStyle/>
          <a:p>
            <a:pPr>
              <a:lnSpc>
                <a:spcPct val="118000"/>
              </a:lnSpc>
              <a:buNone/>
            </a:pPr>
            <a:r>
              <a:rPr lang="en-US" sz="2000" b="1">
                <a:solidFill>
                  <a:srgbClr val="CFE7F5"/>
                </a:solidFill>
                <a:latin typeface="Consolas"/>
              </a:rPr>
              <a:t>playoff_fit </a:t>
            </a:r>
            <a:r>
              <a:rPr lang="en-US" sz="2000" b="1">
                <a:solidFill>
                  <a:srgbClr val="F5E9A0"/>
                </a:solidFill>
                <a:latin typeface="Consolas"/>
              </a:rPr>
              <a:t>&lt;- </a:t>
            </a:r>
            <a:r>
              <a:rPr lang="en-US" sz="2000" b="1">
                <a:solidFill>
                  <a:srgbClr val="CFE7F5"/>
                </a:solidFill>
                <a:latin typeface="Consolas"/>
              </a:rPr>
              <a:t>playoff_workflow </a:t>
            </a:r>
            <a:r>
              <a:rPr lang="en-US" sz="2000" b="1">
                <a:solidFill>
                  <a:srgbClr val="F5E9A0"/>
                </a:solidFill>
                <a:latin typeface="Consolas"/>
              </a:rPr>
              <a:t>|&gt;</a:t>
            </a:r>
          </a:p>
          <a:p>
            <a:pPr>
              <a:lnSpc>
                <a:spcPct val="118000"/>
              </a:lnSpc>
              <a:buNone/>
            </a:pPr>
            <a:r>
              <a:rPr lang="en-US" sz="2000" b="1">
                <a:solidFill>
                  <a:srgbClr val="CFE7F5"/>
                </a:solidFill>
                <a:latin typeface="Consolas"/>
              </a:rPr>
              <a:t>  </a:t>
            </a:r>
            <a:r>
              <a:rPr lang="en-US" sz="2000" b="1">
                <a:solidFill>
                  <a:srgbClr val="F7864C"/>
                </a:solidFill>
                <a:latin typeface="Consolas"/>
              </a:rPr>
              <a:t>fit</a:t>
            </a:r>
            <a:r>
              <a:rPr lang="en-US" sz="2000" b="1">
                <a:solidFill>
                  <a:srgbClr val="FFFFFF"/>
                </a:solidFill>
                <a:latin typeface="Consolas"/>
              </a:rPr>
              <a:t>(</a:t>
            </a:r>
            <a:r>
              <a:rPr lang="en-US" sz="2000" b="1">
                <a:solidFill>
                  <a:srgbClr val="CFE7F5"/>
                </a:solidFill>
                <a:latin typeface="Consolas"/>
              </a:rPr>
              <a:t>data </a:t>
            </a:r>
            <a:r>
              <a:rPr lang="en-US" sz="2000" b="1">
                <a:solidFill>
                  <a:srgbClr val="F5E9A0"/>
                </a:solidFill>
                <a:latin typeface="Consolas"/>
              </a:rPr>
              <a:t>= </a:t>
            </a:r>
            <a:r>
              <a:rPr lang="en-US" sz="2000" b="1">
                <a:solidFill>
                  <a:srgbClr val="CFE7F5"/>
                </a:solidFill>
                <a:latin typeface="Consolas"/>
              </a:rPr>
              <a:t>train</a:t>
            </a:r>
            <a:r>
              <a:rPr lang="en-US" sz="2000" b="1">
                <a:solidFill>
                  <a:srgbClr val="FFFFFF"/>
                </a:solidFill>
                <a:latin typeface="Consolas"/>
              </a:rPr>
              <a:t>)</a:t>
            </a:r>
          </a:p>
        </p:txBody>
      </p:sp>
      <p:sp>
        <p:nvSpPr>
          <p:cNvPr id="6" name="Takeaway"/>
          <p:cNvSpPr txBox="1"/>
          <p:nvPr/>
        </p:nvSpPr>
        <p:spPr>
          <a:xfrm>
            <a:off x="872000" y="3360000"/>
            <a:ext cx="7400000" cy="600000"/>
          </a:xfrm>
          <a:prstGeom prst="rect">
            <a:avLst/>
          </a:prstGeom>
          <a:noFill/>
        </p:spPr>
        <p:txBody>
          <a:bodyPr wrap="square" lIns="0" tIns="0" rIns="0" bIns="0" anchor="ctr"/>
          <a:lstStyle/>
          <a:p>
            <a:pPr algn="ctr">
              <a:buNone/>
            </a:pPr>
            <a:r>
              <a:rPr lang="en-US" sz="2000" b="1">
                <a:solidFill>
                  <a:srgbClr val="0B5583"/>
                </a:solidFill>
              </a:rPr>
              <a:t>That’s it. The workflow learns from 2016–2024.</a:t>
            </a:r>
          </a:p>
        </p:txBody>
      </p:sp>
      <p:sp>
        <p:nvSpPr>
          <p:cNvPr id="8" name="Substep"/>
          <p:cNvSpPr txBox="1"/>
          <p:nvPr/>
        </p:nvSpPr>
        <p:spPr>
          <a:xfrm>
            <a:off x="872000" y="4000000"/>
            <a:ext cx="7400000" cy="400000"/>
          </a:xfrm>
          <a:prstGeom prst="rect">
            <a:avLst/>
          </a:prstGeom>
          <a:noFill/>
        </p:spPr>
        <p:txBody>
          <a:bodyPr wrap="square" lIns="0" tIns="0" rIns="0" bIns="0" anchor="ctr"/>
          <a:lstStyle/>
          <a:p>
            <a:pPr algn="ctr">
              <a:buNone/>
            </a:pPr>
            <a:r>
              <a:rPr lang="en-US" sz="1200">
                <a:solidFill>
                  <a:srgbClr val="7A7A7A"/>
                </a:solidFill>
              </a:rPr>
              <a:t>Recipe applied → random forest trained → 2025 remains untouched</a:t>
            </a:r>
          </a:p>
        </p:txBody>
      </p:sp>
    </p:spTree>
    <p:extLst>
      <p:ext uri="{BB962C8B-B14F-4D97-AF65-F5344CB8AC3E}">
        <p14:creationId xmlns:p14="http://schemas.microsoft.com/office/powerpoint/2010/main" val="1680019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866A9-FACD-5879-6A47-F1E47D9CB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6E2D5E-45E9-85DA-A705-1F448E88D0DC}"/>
              </a:ext>
            </a:extLst>
          </p:cNvPr>
          <p:cNvSpPr>
            <a:spLocks noGrp="1"/>
          </p:cNvSpPr>
          <p:nvPr>
            <p:ph type="title"/>
          </p:nvPr>
        </p:nvSpPr>
        <p:spPr/>
        <p:txBody>
          <a:bodyPr/>
          <a:lstStyle/>
          <a:p>
            <a:r>
              <a:rPr lang="en-US"/>
              <a:t>Could we have predicted last season?</a:t>
            </a:r>
          </a:p>
        </p:txBody>
      </p:sp>
      <p:pic>
        <p:nvPicPr>
          <p:cNvPr id="7" name="Picture 6" descr="Small_Logo.jpg">
            <a:extLst>
              <a:ext uri="{FF2B5EF4-FFF2-40B4-BE49-F238E27FC236}">
                <a16:creationId xmlns:a16="http://schemas.microsoft.com/office/drawing/2014/main" id="{7E32C59E-585D-BF8F-4833-87FD86D25FD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0" name="Step Split"/>
          <p:cNvSpPr/>
          <p:nvPr/>
        </p:nvSpPr>
        <p:spPr>
          <a:xfrm>
            <a:off x="43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Split</a:t>
            </a:r>
          </a:p>
        </p:txBody>
      </p:sp>
      <p:sp>
        <p:nvSpPr>
          <p:cNvPr id="901" name="Step Preprocess"/>
          <p:cNvSpPr/>
          <p:nvPr/>
        </p:nvSpPr>
        <p:spPr>
          <a:xfrm>
            <a:off x="211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Preprocess</a:t>
            </a:r>
          </a:p>
        </p:txBody>
      </p:sp>
      <p:sp>
        <p:nvSpPr>
          <p:cNvPr id="902" name="Step Specify"/>
          <p:cNvSpPr/>
          <p:nvPr/>
        </p:nvSpPr>
        <p:spPr>
          <a:xfrm>
            <a:off x="379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Specify</a:t>
            </a:r>
          </a:p>
        </p:txBody>
      </p:sp>
      <p:sp>
        <p:nvSpPr>
          <p:cNvPr id="903" name="Step Fit"/>
          <p:cNvSpPr/>
          <p:nvPr/>
        </p:nvSpPr>
        <p:spPr>
          <a:xfrm>
            <a:off x="547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Fit</a:t>
            </a:r>
          </a:p>
        </p:txBody>
      </p:sp>
      <p:sp>
        <p:nvSpPr>
          <p:cNvPr id="904" name="Step Evaluate"/>
          <p:cNvSpPr/>
          <p:nvPr/>
        </p:nvSpPr>
        <p:spPr>
          <a:xfrm>
            <a:off x="7152000" y="1140000"/>
            <a:ext cx="1560000" cy="300000"/>
          </a:xfrm>
          <a:prstGeom prst="roundRect">
            <a:avLst>
              <a:gd name="adj" fmla="val 50000"/>
            </a:avLst>
          </a:prstGeom>
          <a:solidFill>
            <a:srgbClr val="1B87B9"/>
          </a:solidFill>
          <a:ln>
            <a:noFill/>
          </a:ln>
        </p:spPr>
        <p:txBody>
          <a:bodyPr wrap="square" lIns="45720" tIns="18000" rIns="45720" bIns="18000" anchor="ctr"/>
          <a:lstStyle/>
          <a:p>
            <a:pPr algn="ctr"/>
            <a:r>
              <a:rPr lang="en-US" sz="1100" b="1">
                <a:solidFill>
                  <a:srgbClr val="FFFFFF"/>
                </a:solidFill>
              </a:rPr>
              <a:t>Evaluate</a:t>
            </a:r>
          </a:p>
        </p:txBody>
      </p:sp>
      <p:sp>
        <p:nvSpPr>
          <p:cNvPr id="5" name="Context Line"/>
          <p:cNvSpPr txBox="1"/>
          <p:nvPr/>
        </p:nvSpPr>
        <p:spPr>
          <a:xfrm>
            <a:off x="432000" y="1510000"/>
            <a:ext cx="8280000" cy="300000"/>
          </a:xfrm>
          <a:prstGeom prst="rect">
            <a:avLst/>
          </a:prstGeom>
          <a:noFill/>
        </p:spPr>
        <p:txBody>
          <a:bodyPr wrap="square" lIns="0" tIns="0" rIns="0" bIns="0" anchor="ctr"/>
          <a:lstStyle/>
          <a:p>
            <a:pPr>
              <a:buNone/>
            </a:pPr>
            <a:r>
              <a:rPr lang="en-US" sz="1100">
                <a:solidFill>
                  <a:srgbClr val="7A7A7A"/>
                </a:solidFill>
              </a:rPr>
              <a:t>2025 · 60% of the season · 14 teams · never seen during training</a:t>
            </a:r>
          </a:p>
        </p:txBody>
      </p:sp>
      <p:sp>
        <p:nvSpPr>
          <p:cNvPr id="20" name="Predict Code"/>
          <p:cNvSpPr/>
          <p:nvPr/>
        </p:nvSpPr>
        <p:spPr>
          <a:xfrm>
            <a:off x="432000" y="1960000"/>
            <a:ext cx="3400000" cy="1240000"/>
          </a:xfrm>
          <a:prstGeom prst="roundRect">
            <a:avLst>
              <a:gd name="adj" fmla="val 6000"/>
            </a:avLst>
          </a:prstGeom>
          <a:solidFill>
            <a:srgbClr val="0B5583"/>
          </a:solidFill>
          <a:ln w="19050">
            <a:solidFill>
              <a:srgbClr val="116898"/>
            </a:solidFill>
          </a:ln>
        </p:spPr>
        <p:txBody>
          <a:bodyPr wrap="square" lIns="182880" tIns="91440" rIns="91440" bIns="91440" anchor="ctr"/>
          <a:lstStyle/>
          <a:p>
            <a:pPr>
              <a:lnSpc>
                <a:spcPct val="112000"/>
              </a:lnSpc>
              <a:buNone/>
            </a:pPr>
            <a:r>
              <a:rPr lang="en-US" sz="1050" b="1">
                <a:solidFill>
                  <a:srgbClr val="CFE7F5"/>
                </a:solidFill>
                <a:latin typeface="Consolas"/>
              </a:rPr>
              <a:t>test_predictions </a:t>
            </a:r>
            <a:r>
              <a:rPr lang="en-US" sz="1050" b="1">
                <a:solidFill>
                  <a:srgbClr val="F5E9A0"/>
                </a:solidFill>
                <a:latin typeface="Consolas"/>
              </a:rPr>
              <a:t>&lt;- </a:t>
            </a:r>
            <a:r>
              <a:rPr lang="en-US" sz="1050" b="1">
                <a:solidFill>
                  <a:srgbClr val="F7864C"/>
                </a:solidFill>
                <a:latin typeface="Consolas"/>
              </a:rPr>
              <a:t>predict</a:t>
            </a:r>
            <a:r>
              <a:rPr lang="en-US" sz="1050" b="1">
                <a:solidFill>
                  <a:srgbClr val="FFFFFF"/>
                </a:solidFill>
                <a:latin typeface="Consolas"/>
              </a:rPr>
              <a:t>(</a:t>
            </a:r>
          </a:p>
          <a:p>
            <a:pPr>
              <a:lnSpc>
                <a:spcPct val="112000"/>
              </a:lnSpc>
              <a:buNone/>
            </a:pPr>
            <a:r>
              <a:rPr lang="en-US" sz="1050" b="1">
                <a:solidFill>
                  <a:srgbClr val="CFE7F5"/>
                </a:solidFill>
                <a:latin typeface="Consolas"/>
              </a:rPr>
              <a:t>  playoff_fit</a:t>
            </a:r>
            <a:r>
              <a:rPr lang="en-US" sz="1050" b="1">
                <a:solidFill>
                  <a:srgbClr val="FFFFFF"/>
                </a:solidFill>
                <a:latin typeface="Consolas"/>
              </a:rPr>
              <a:t>,</a:t>
            </a:r>
          </a:p>
          <a:p>
            <a:pPr>
              <a:lnSpc>
                <a:spcPct val="112000"/>
              </a:lnSpc>
              <a:buNone/>
            </a:pPr>
            <a:r>
              <a:rPr lang="en-US" sz="1050" b="1">
                <a:solidFill>
                  <a:srgbClr val="CFE7F5"/>
                </a:solidFill>
                <a:latin typeface="Consolas"/>
              </a:rPr>
              <a:t>  new_data </a:t>
            </a:r>
            <a:r>
              <a:rPr lang="en-US" sz="1050" b="1">
                <a:solidFill>
                  <a:srgbClr val="F5E9A0"/>
                </a:solidFill>
                <a:latin typeface="Consolas"/>
              </a:rPr>
              <a:t>= </a:t>
            </a:r>
            <a:r>
              <a:rPr lang="en-US" sz="1050" b="1">
                <a:solidFill>
                  <a:srgbClr val="CFE7F5"/>
                </a:solidFill>
                <a:latin typeface="Consolas"/>
              </a:rPr>
              <a:t>test_60</a:t>
            </a:r>
          </a:p>
          <a:p>
            <a:pPr>
              <a:lnSpc>
                <a:spcPct val="112000"/>
              </a:lnSpc>
              <a:buNone/>
            </a:pPr>
            <a:r>
              <a:rPr lang="en-US" sz="1050" b="1">
                <a:solidFill>
                  <a:srgbClr val="FFFFFF"/>
                </a:solidFill>
                <a:latin typeface="Consolas"/>
              </a:rPr>
              <a:t>)</a:t>
            </a:r>
          </a:p>
        </p:txBody>
      </p:sp>
      <p:sp>
        <p:nvSpPr>
          <p:cNvPr id="21" name="Score"/>
          <p:cNvSpPr txBox="1"/>
          <p:nvPr/>
        </p:nvSpPr>
        <p:spPr>
          <a:xfrm>
            <a:off x="432000" y="3300000"/>
            <a:ext cx="3400000" cy="540000"/>
          </a:xfrm>
          <a:prstGeom prst="rect">
            <a:avLst/>
          </a:prstGeom>
          <a:noFill/>
        </p:spPr>
        <p:txBody>
          <a:bodyPr wrap="square" lIns="0" tIns="0" rIns="0" bIns="0" anchor="ctr"/>
          <a:lstStyle/>
          <a:p>
            <a:pPr algn="ctr">
              <a:buNone/>
            </a:pPr>
            <a:r>
              <a:rPr lang="en-US" sz="2800" b="1">
                <a:solidFill>
                  <a:srgbClr val="1B87B9"/>
                </a:solidFill>
              </a:rPr>
              <a:t>14 / 14 correct</a:t>
            </a:r>
          </a:p>
        </p:txBody>
      </p:sp>
      <p:sp>
        <p:nvSpPr>
          <p:cNvPr id="22" name="Tagline"/>
          <p:cNvSpPr txBox="1"/>
          <p:nvPr/>
        </p:nvSpPr>
        <p:spPr>
          <a:xfrm>
            <a:off x="432000" y="3900000"/>
            <a:ext cx="3400000" cy="600000"/>
          </a:xfrm>
          <a:prstGeom prst="rect">
            <a:avLst/>
          </a:prstGeom>
          <a:noFill/>
        </p:spPr>
        <p:txBody>
          <a:bodyPr wrap="square" lIns="0" tIns="0" rIns="0" bIns="0" anchor="ctr"/>
          <a:lstStyle/>
          <a:p>
            <a:pPr algn="ctr">
              <a:buNone/>
            </a:pPr>
            <a:r>
              <a:rPr lang="en-US" sz="1300" i="1">
                <a:solidFill>
                  <a:srgbClr val="5A6772"/>
                </a:solidFill>
              </a:rPr>
              <a:t>Yes, that says 100%. No, we have not solved soccer.</a:t>
            </a:r>
          </a:p>
        </p:txBody>
      </p:sp>
      <p:sp>
        <p:nvSpPr>
          <p:cNvPr id="30" name="Matrix Header"/>
          <p:cNvSpPr txBox="1"/>
          <p:nvPr/>
        </p:nvSpPr>
        <p:spPr>
          <a:xfrm>
            <a:off x="4000000" y="1900000"/>
            <a:ext cx="4700000" cy="360000"/>
          </a:xfrm>
          <a:prstGeom prst="rect">
            <a:avLst/>
          </a:prstGeom>
          <a:noFill/>
        </p:spPr>
        <p:txBody>
          <a:bodyPr wrap="square" lIns="0" tIns="0" rIns="0" bIns="0" anchor="ctr"/>
          <a:lstStyle/>
          <a:p>
            <a:pPr algn="ctr">
              <a:buNone/>
            </a:pPr>
            <a:r>
              <a:rPr lang="en-US" sz="1200" b="1">
                <a:solidFill>
                  <a:srgbClr val="0B5583"/>
                </a:solidFill>
              </a:rPr>
              <a:t>What the model predicted vs. what happened</a:t>
            </a:r>
          </a:p>
        </p:txBody>
      </p:sp>
      <p:sp>
        <p:nvSpPr>
          <p:cNvPr id="31" name="MX corner"/>
          <p:cNvSpPr/>
          <p:nvPr/>
        </p:nvSpPr>
        <p:spPr>
          <a:xfrm>
            <a:off x="4000000" y="2360000"/>
            <a:ext cx="1500000" cy="480000"/>
          </a:xfrm>
          <a:prstGeom prst="rect">
            <a:avLst/>
          </a:prstGeom>
          <a:solidFill>
            <a:srgbClr val="FFFFFF"/>
          </a:solidFill>
          <a:ln w="9525">
            <a:solidFill>
              <a:srgbClr val="D8DEE6"/>
            </a:solidFill>
          </a:ln>
        </p:spPr>
        <p:txBody>
          <a:bodyPr/>
          <a:lstStyle/>
          <a:p>
            <a:pPr>
              <a:buNone/>
            </a:pPr>
            <a:endParaRPr lang="en-US"/>
          </a:p>
        </p:txBody>
      </p:sp>
      <p:sp>
        <p:nvSpPr>
          <p:cNvPr id="32" name="MX head made"/>
          <p:cNvSpPr/>
          <p:nvPr/>
        </p:nvSpPr>
        <p:spPr>
          <a:xfrm>
            <a:off x="5500000" y="2360000"/>
            <a:ext cx="1600000" cy="480000"/>
          </a:xfrm>
          <a:prstGeom prst="rect">
            <a:avLst/>
          </a:prstGeom>
          <a:solidFill>
            <a:srgbClr val="E9EDF1"/>
          </a:solidFill>
          <a:ln w="9525">
            <a:solidFill>
              <a:srgbClr val="D8DEE6"/>
            </a:solidFill>
          </a:ln>
        </p:spPr>
        <p:txBody>
          <a:bodyPr wrap="square" lIns="45720" tIns="18000" rIns="45720" bIns="18000" anchor="ctr"/>
          <a:lstStyle/>
          <a:p>
            <a:pPr algn="ctr">
              <a:buNone/>
            </a:pPr>
            <a:r>
              <a:rPr lang="en-US" sz="950" b="1">
                <a:solidFill>
                  <a:srgbClr val="5A6772"/>
                </a:solidFill>
              </a:rPr>
              <a:t>Actually made playoffs</a:t>
            </a:r>
          </a:p>
        </p:txBody>
      </p:sp>
      <p:sp>
        <p:nvSpPr>
          <p:cNvPr id="33" name="MX head missed"/>
          <p:cNvSpPr/>
          <p:nvPr/>
        </p:nvSpPr>
        <p:spPr>
          <a:xfrm>
            <a:off x="7100000" y="2360000"/>
            <a:ext cx="1600000" cy="480000"/>
          </a:xfrm>
          <a:prstGeom prst="rect">
            <a:avLst/>
          </a:prstGeom>
          <a:solidFill>
            <a:srgbClr val="E9EDF1"/>
          </a:solidFill>
          <a:ln w="9525">
            <a:solidFill>
              <a:srgbClr val="D8DEE6"/>
            </a:solidFill>
          </a:ln>
        </p:spPr>
        <p:txBody>
          <a:bodyPr wrap="square" lIns="45720" tIns="18000" rIns="45720" bIns="18000" anchor="ctr"/>
          <a:lstStyle/>
          <a:p>
            <a:pPr algn="ctr">
              <a:buNone/>
            </a:pPr>
            <a:r>
              <a:rPr lang="en-US" sz="950" b="1">
                <a:solidFill>
                  <a:srgbClr val="5A6772"/>
                </a:solidFill>
              </a:rPr>
              <a:t>Actually missed playoffs</a:t>
            </a:r>
          </a:p>
        </p:txBody>
      </p:sp>
      <p:sp>
        <p:nvSpPr>
          <p:cNvPr id="34" name="MX row pred yes"/>
          <p:cNvSpPr/>
          <p:nvPr/>
        </p:nvSpPr>
        <p:spPr>
          <a:xfrm>
            <a:off x="4000000" y="2840000"/>
            <a:ext cx="1500000" cy="680000"/>
          </a:xfrm>
          <a:prstGeom prst="rect">
            <a:avLst/>
          </a:prstGeom>
          <a:solidFill>
            <a:srgbClr val="E9EDF1"/>
          </a:solidFill>
          <a:ln w="9525">
            <a:solidFill>
              <a:srgbClr val="D8DEE6"/>
            </a:solidFill>
          </a:ln>
        </p:spPr>
        <p:txBody>
          <a:bodyPr wrap="square" lIns="45720" tIns="18000" rIns="45720" bIns="18000" anchor="ctr"/>
          <a:lstStyle/>
          <a:p>
            <a:pPr algn="ctr">
              <a:buNone/>
            </a:pPr>
            <a:r>
              <a:rPr lang="en-US" sz="950" b="1">
                <a:solidFill>
                  <a:srgbClr val="5A6772"/>
                </a:solidFill>
              </a:rPr>
              <a:t>Predicted playoffs</a:t>
            </a:r>
          </a:p>
        </p:txBody>
      </p:sp>
      <p:sp>
        <p:nvSpPr>
          <p:cNvPr id="35" name="MX cell 8"/>
          <p:cNvSpPr/>
          <p:nvPr/>
        </p:nvSpPr>
        <p:spPr>
          <a:xfrm>
            <a:off x="5500000" y="2840000"/>
            <a:ext cx="1600000" cy="680000"/>
          </a:xfrm>
          <a:prstGeom prst="rect">
            <a:avLst/>
          </a:prstGeom>
          <a:solidFill>
            <a:srgbClr val="1B87B9"/>
          </a:solidFill>
          <a:ln w="9525">
            <a:solidFill>
              <a:srgbClr val="FFFFFF"/>
            </a:solidFill>
          </a:ln>
        </p:spPr>
        <p:txBody>
          <a:bodyPr wrap="square" lIns="45720" tIns="9000" rIns="45720" bIns="9000" anchor="ctr"/>
          <a:lstStyle/>
          <a:p>
            <a:pPr algn="ctr">
              <a:buNone/>
            </a:pPr>
            <a:r>
              <a:rPr lang="en-US" sz="2400" b="1">
                <a:solidFill>
                  <a:srgbClr val="FFFFFF"/>
                </a:solidFill>
              </a:rPr>
              <a:t>8 ✓</a:t>
            </a:r>
          </a:p>
        </p:txBody>
      </p:sp>
      <p:sp>
        <p:nvSpPr>
          <p:cNvPr id="36" name="MX cell fa"/>
          <p:cNvSpPr/>
          <p:nvPr/>
        </p:nvSpPr>
        <p:spPr>
          <a:xfrm>
            <a:off x="7100000" y="2840000"/>
            <a:ext cx="1600000" cy="680000"/>
          </a:xfrm>
          <a:prstGeom prst="rect">
            <a:avLst/>
          </a:prstGeom>
          <a:solidFill>
            <a:srgbClr val="F2F4F6"/>
          </a:solidFill>
          <a:ln w="9525">
            <a:solidFill>
              <a:srgbClr val="D8DEE6"/>
            </a:solidFill>
          </a:ln>
        </p:spPr>
        <p:txBody>
          <a:bodyPr wrap="square" lIns="45720" tIns="9000" rIns="45720" bIns="9000" anchor="ctr"/>
          <a:lstStyle/>
          <a:p>
            <a:pPr algn="ctr">
              <a:spcAft>
                <a:spcPts val="200"/>
              </a:spcAft>
              <a:buNone/>
            </a:pPr>
            <a:r>
              <a:rPr lang="en-US" sz="1800" b="1">
                <a:solidFill>
                  <a:srgbClr val="B4BBC2"/>
                </a:solidFill>
              </a:rPr>
              <a:t>0</a:t>
            </a:r>
          </a:p>
          <a:p>
            <a:pPr algn="ctr">
              <a:buNone/>
            </a:pPr>
            <a:r>
              <a:rPr lang="en-US" sz="800">
                <a:solidFill>
                  <a:srgbClr val="9AA1A8"/>
                </a:solidFill>
              </a:rPr>
              <a:t>0 false alarms</a:t>
            </a:r>
          </a:p>
        </p:txBody>
      </p:sp>
      <p:sp>
        <p:nvSpPr>
          <p:cNvPr id="37" name="MX row pred no"/>
          <p:cNvSpPr/>
          <p:nvPr/>
        </p:nvSpPr>
        <p:spPr>
          <a:xfrm>
            <a:off x="4000000" y="3520000"/>
            <a:ext cx="1500000" cy="680000"/>
          </a:xfrm>
          <a:prstGeom prst="rect">
            <a:avLst/>
          </a:prstGeom>
          <a:solidFill>
            <a:srgbClr val="E9EDF1"/>
          </a:solidFill>
          <a:ln w="9525">
            <a:solidFill>
              <a:srgbClr val="D8DEE6"/>
            </a:solidFill>
          </a:ln>
        </p:spPr>
        <p:txBody>
          <a:bodyPr wrap="square" lIns="45720" tIns="18000" rIns="45720" bIns="18000" anchor="ctr"/>
          <a:lstStyle/>
          <a:p>
            <a:pPr algn="ctr">
              <a:buNone/>
            </a:pPr>
            <a:r>
              <a:rPr lang="en-US" sz="950" b="1">
                <a:solidFill>
                  <a:srgbClr val="5A6772"/>
                </a:solidFill>
              </a:rPr>
              <a:t>Predicted no playoffs</a:t>
            </a:r>
          </a:p>
        </p:txBody>
      </p:sp>
      <p:sp>
        <p:nvSpPr>
          <p:cNvPr id="38" name="MX cell missed"/>
          <p:cNvSpPr/>
          <p:nvPr/>
        </p:nvSpPr>
        <p:spPr>
          <a:xfrm>
            <a:off x="5500000" y="3520000"/>
            <a:ext cx="1600000" cy="680000"/>
          </a:xfrm>
          <a:prstGeom prst="rect">
            <a:avLst/>
          </a:prstGeom>
          <a:solidFill>
            <a:srgbClr val="F2F4F6"/>
          </a:solidFill>
          <a:ln w="9525">
            <a:solidFill>
              <a:srgbClr val="D8DEE6"/>
            </a:solidFill>
          </a:ln>
        </p:spPr>
        <p:txBody>
          <a:bodyPr wrap="square" lIns="45720" tIns="9000" rIns="45720" bIns="9000" anchor="ctr"/>
          <a:lstStyle/>
          <a:p>
            <a:pPr algn="ctr">
              <a:spcAft>
                <a:spcPts val="200"/>
              </a:spcAft>
              <a:buNone/>
            </a:pPr>
            <a:r>
              <a:rPr lang="en-US" sz="1800" b="1">
                <a:solidFill>
                  <a:srgbClr val="B4BBC2"/>
                </a:solidFill>
              </a:rPr>
              <a:t>0</a:t>
            </a:r>
          </a:p>
          <a:p>
            <a:pPr algn="ctr">
              <a:buNone/>
            </a:pPr>
            <a:r>
              <a:rPr lang="en-US" sz="800">
                <a:solidFill>
                  <a:srgbClr val="9AA1A8"/>
                </a:solidFill>
              </a:rPr>
              <a:t>0 missed playoff teams</a:t>
            </a:r>
          </a:p>
        </p:txBody>
      </p:sp>
      <p:sp>
        <p:nvSpPr>
          <p:cNvPr id="39" name="MX cell 6"/>
          <p:cNvSpPr/>
          <p:nvPr/>
        </p:nvSpPr>
        <p:spPr>
          <a:xfrm>
            <a:off x="7100000" y="3520000"/>
            <a:ext cx="1600000" cy="680000"/>
          </a:xfrm>
          <a:prstGeom prst="rect">
            <a:avLst/>
          </a:prstGeom>
          <a:solidFill>
            <a:srgbClr val="1B87B9"/>
          </a:solidFill>
          <a:ln w="9525">
            <a:solidFill>
              <a:srgbClr val="FFFFFF"/>
            </a:solidFill>
          </a:ln>
        </p:spPr>
        <p:txBody>
          <a:bodyPr wrap="square" lIns="45720" tIns="9000" rIns="45720" bIns="9000" anchor="ctr"/>
          <a:lstStyle/>
          <a:p>
            <a:pPr algn="ctr">
              <a:buNone/>
            </a:pPr>
            <a:r>
              <a:rPr lang="en-US" sz="2400" b="1">
                <a:solidFill>
                  <a:srgbClr val="FFFFFF"/>
                </a:solidFill>
              </a:rPr>
              <a:t>6 ✓</a:t>
            </a:r>
          </a:p>
        </p:txBody>
      </p:sp>
      <p:sp>
        <p:nvSpPr>
          <p:cNvPr id="40" name="Footer Caveat"/>
          <p:cNvSpPr txBox="1"/>
          <p:nvPr/>
        </p:nvSpPr>
        <p:spPr>
          <a:xfrm>
            <a:off x="432000" y="4600000"/>
            <a:ext cx="7900000" cy="300000"/>
          </a:xfrm>
          <a:prstGeom prst="rect">
            <a:avLst/>
          </a:prstGeom>
          <a:noFill/>
        </p:spPr>
        <p:txBody>
          <a:bodyPr wrap="square" lIns="0" tIns="0" rIns="0" bIns="0" anchor="ctr"/>
          <a:lstStyle/>
          <a:p>
            <a:pPr algn="ctr">
              <a:buNone/>
            </a:pPr>
            <a:r>
              <a:rPr lang="en-US" sz="1050" i="1">
                <a:solidFill>
                  <a:srgbClr val="7A7A7A"/>
                </a:solidFill>
              </a:rPr>
              <a:t>One season. One checkpoint. 14 teams. A successful test case, not a perfect model.</a:t>
            </a:r>
          </a:p>
        </p:txBody>
      </p:sp>
    </p:spTree>
    <p:extLst>
      <p:ext uri="{BB962C8B-B14F-4D97-AF65-F5344CB8AC3E}">
        <p14:creationId xmlns:p14="http://schemas.microsoft.com/office/powerpoint/2010/main" val="951149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A720D-EBE6-FE06-3283-61EF1AAF46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742C6-2BA8-5ED5-B525-7AE2A5F01591}"/>
              </a:ext>
            </a:extLst>
          </p:cNvPr>
          <p:cNvSpPr>
            <a:spLocks noGrp="1"/>
          </p:cNvSpPr>
          <p:nvPr>
            <p:ph type="title"/>
          </p:nvPr>
        </p:nvSpPr>
        <p:spPr/>
        <p:txBody>
          <a:bodyPr/>
          <a:lstStyle/>
          <a:p>
            <a:r>
              <a:rPr lang="en-US"/>
              <a:t>Did the forest beat the 2025 standings?</a:t>
            </a:r>
          </a:p>
        </p:txBody>
      </p:sp>
      <p:pic>
        <p:nvPicPr>
          <p:cNvPr id="7" name="Picture 6" descr="Small_Logo.jpg">
            <a:extLst>
              <a:ext uri="{FF2B5EF4-FFF2-40B4-BE49-F238E27FC236}">
                <a16:creationId xmlns:a16="http://schemas.microsoft.com/office/drawing/2014/main" id="{3210751F-0376-153E-1348-180E9D0256D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0" name="Step Split"/>
          <p:cNvSpPr/>
          <p:nvPr/>
        </p:nvSpPr>
        <p:spPr>
          <a:xfrm>
            <a:off x="43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Split</a:t>
            </a:r>
          </a:p>
        </p:txBody>
      </p:sp>
      <p:sp>
        <p:nvSpPr>
          <p:cNvPr id="901" name="Step Preprocess"/>
          <p:cNvSpPr/>
          <p:nvPr/>
        </p:nvSpPr>
        <p:spPr>
          <a:xfrm>
            <a:off x="211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Preprocess</a:t>
            </a:r>
          </a:p>
        </p:txBody>
      </p:sp>
      <p:sp>
        <p:nvSpPr>
          <p:cNvPr id="902" name="Step Specify"/>
          <p:cNvSpPr/>
          <p:nvPr/>
        </p:nvSpPr>
        <p:spPr>
          <a:xfrm>
            <a:off x="379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Specify</a:t>
            </a:r>
          </a:p>
        </p:txBody>
      </p:sp>
      <p:sp>
        <p:nvSpPr>
          <p:cNvPr id="903" name="Step Fit"/>
          <p:cNvSpPr/>
          <p:nvPr/>
        </p:nvSpPr>
        <p:spPr>
          <a:xfrm>
            <a:off x="547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Fit</a:t>
            </a:r>
          </a:p>
        </p:txBody>
      </p:sp>
      <p:sp>
        <p:nvSpPr>
          <p:cNvPr id="904" name="Step Evaluate"/>
          <p:cNvSpPr/>
          <p:nvPr/>
        </p:nvSpPr>
        <p:spPr>
          <a:xfrm>
            <a:off x="7152000" y="1140000"/>
            <a:ext cx="1560000" cy="300000"/>
          </a:xfrm>
          <a:prstGeom prst="roundRect">
            <a:avLst>
              <a:gd name="adj" fmla="val 50000"/>
            </a:avLst>
          </a:prstGeom>
          <a:solidFill>
            <a:srgbClr val="1B87B9"/>
          </a:solidFill>
          <a:ln>
            <a:noFill/>
          </a:ln>
        </p:spPr>
        <p:txBody>
          <a:bodyPr wrap="square" lIns="45720" tIns="18000" rIns="45720" bIns="18000" anchor="ctr"/>
          <a:lstStyle/>
          <a:p>
            <a:pPr algn="ctr"/>
            <a:r>
              <a:rPr lang="en-US" sz="1100" b="1">
                <a:solidFill>
                  <a:srgbClr val="FFFFFF"/>
                </a:solidFill>
              </a:rPr>
              <a:t>Evaluate</a:t>
            </a:r>
          </a:p>
        </p:txBody>
      </p:sp>
      <p:graphicFrame>
        <p:nvGraphicFramePr>
          <p:cNvPr id="960" name="Result table"/>
          <p:cNvGraphicFramePr>
            <a:graphicFrameLocks noGrp="1"/>
          </p:cNvGraphicFramePr>
          <p:nvPr>
            <p:extLst>
              <p:ext uri="{D42A27DB-BD31-4B8C-83A1-F6EECF244321}">
                <p14:modId xmlns:p14="http://schemas.microsoft.com/office/powerpoint/2010/main" val="2198343499"/>
              </p:ext>
            </p:extLst>
          </p:nvPr>
        </p:nvGraphicFramePr>
        <p:xfrm>
          <a:off x="822000" y="1620000"/>
          <a:ext cx="7500000" cy="2870000"/>
        </p:xfrm>
        <a:graphic>
          <a:graphicData uri="http://schemas.openxmlformats.org/drawingml/2006/table">
            <a:tbl>
              <a:tblPr firstRow="1" bandRow="1"/>
              <a:tblGrid>
                <a:gridCol w="3000000">
                  <a:extLst>
                    <a:ext uri="{9D8B030D-6E8A-4147-A177-3AD203B41FA5}">
                      <a16:colId xmlns:a16="http://schemas.microsoft.com/office/drawing/2014/main" val="20000"/>
                    </a:ext>
                  </a:extLst>
                </a:gridCol>
                <a:gridCol w="13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tblGrid>
              <a:tr h="210000">
                <a:tc>
                  <a:txBody>
                    <a:bodyPr/>
                    <a:lstStyle/>
                    <a:p>
                      <a:pPr algn="l"/>
                      <a:r>
                        <a:rPr lang="en-US" sz="1050" b="1">
                          <a:solidFill>
                            <a:srgbClr val="FFFFFF"/>
                          </a:solidFill>
                        </a:rPr>
                        <a:t>Team</a:t>
                      </a:r>
                    </a:p>
                  </a:txBody>
                  <a:tcPr marL="72000" marR="72000" marT="18000" marB="18000" anchor="ctr">
                    <a:lnL>
                      <a:noFill/>
                    </a:lnL>
                    <a:lnR>
                      <a:noFill/>
                    </a:lnR>
                    <a:lnT>
                      <a:noFill/>
                    </a:lnT>
                    <a:lnB>
                      <a:noFill/>
                    </a:lnB>
                    <a:solidFill>
                      <a:srgbClr val="1B87B9"/>
                    </a:solidFill>
                  </a:tcPr>
                </a:tc>
                <a:tc>
                  <a:txBody>
                    <a:bodyPr/>
                    <a:lstStyle/>
                    <a:p>
                      <a:pPr algn="ctr"/>
                      <a:r>
                        <a:rPr lang="en-US" sz="1050" b="1">
                          <a:solidFill>
                            <a:srgbClr val="FFFFFF"/>
                          </a:solidFill>
                        </a:rPr>
                        <a:t>Actual</a:t>
                      </a:r>
                    </a:p>
                  </a:txBody>
                  <a:tcPr marL="72000" marR="72000" marT="18000" marB="18000" anchor="ctr">
                    <a:lnL>
                      <a:noFill/>
                    </a:lnL>
                    <a:lnR>
                      <a:noFill/>
                    </a:lnR>
                    <a:lnT>
                      <a:noFill/>
                    </a:lnT>
                    <a:lnB>
                      <a:noFill/>
                    </a:lnB>
                    <a:solidFill>
                      <a:srgbClr val="1B87B9"/>
                    </a:solidFill>
                  </a:tcPr>
                </a:tc>
                <a:tc>
                  <a:txBody>
                    <a:bodyPr/>
                    <a:lstStyle/>
                    <a:p>
                      <a:pPr algn="ctr"/>
                      <a:r>
                        <a:rPr lang="en-US" sz="1050" b="1">
                          <a:solidFill>
                            <a:srgbClr val="FFFFFF"/>
                          </a:solidFill>
                        </a:rPr>
                        <a:t>Predicted</a:t>
                      </a:r>
                    </a:p>
                  </a:txBody>
                  <a:tcPr marL="72000" marR="72000" marT="18000" marB="18000" anchor="ctr">
                    <a:lnL>
                      <a:noFill/>
                    </a:lnL>
                    <a:lnR>
                      <a:noFill/>
                    </a:lnR>
                    <a:lnT>
                      <a:noFill/>
                    </a:lnT>
                    <a:lnB>
                      <a:noFill/>
                    </a:lnB>
                    <a:solidFill>
                      <a:srgbClr val="1B87B9"/>
                    </a:solidFill>
                  </a:tcPr>
                </a:tc>
                <a:tc>
                  <a:txBody>
                    <a:bodyPr/>
                    <a:lstStyle/>
                    <a:p>
                      <a:pPr algn="ctr"/>
                      <a:r>
                        <a:rPr lang="en-US" sz="1050" b="1">
                          <a:solidFill>
                            <a:srgbClr val="FFFFFF"/>
                          </a:solidFill>
                        </a:rPr>
                        <a:t>RF playoff score</a:t>
                      </a:r>
                    </a:p>
                  </a:txBody>
                  <a:tcPr marL="72000" marR="72000" marT="18000" marB="18000" anchor="ctr">
                    <a:lnL>
                      <a:noFill/>
                    </a:lnL>
                    <a:lnR>
                      <a:noFill/>
                    </a:lnR>
                    <a:lnT>
                      <a:noFill/>
                    </a:lnT>
                    <a:lnB>
                      <a:noFill/>
                    </a:lnB>
                    <a:solidFill>
                      <a:srgbClr val="1B87B9"/>
                    </a:solidFill>
                  </a:tcPr>
                </a:tc>
                <a:extLst>
                  <a:ext uri="{0D108BD9-81ED-4DB2-BD59-A6C34878D82A}">
                    <a16:rowId xmlns:a16="http://schemas.microsoft.com/office/drawing/2014/main" val="10000"/>
                  </a:ext>
                </a:extLst>
              </a:tr>
              <a:tr h="190000">
                <a:tc>
                  <a:txBody>
                    <a:bodyPr/>
                    <a:lstStyle/>
                    <a:p>
                      <a:pPr algn="l"/>
                      <a:r>
                        <a:rPr lang="en-US" sz="900">
                          <a:solidFill>
                            <a:srgbClr val="0B5583"/>
                          </a:solidFill>
                        </a:rPr>
                        <a:t>Kansas City Current</a:t>
                      </a:r>
                    </a:p>
                  </a:txBody>
                  <a:tcPr marL="72000" marR="72000" marT="18000" marB="18000" anchor="ctr">
                    <a:lnL>
                      <a:noFill/>
                    </a:lnL>
                    <a:lnR>
                      <a:noFill/>
                    </a:lnR>
                    <a:lnT>
                      <a:noFill/>
                    </a:lnT>
                    <a:lnB>
                      <a:noFill/>
                    </a:lnB>
                    <a:solidFill>
                      <a:srgbClr val="FFFFFF"/>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FFFFF"/>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FFFFF"/>
                    </a:solidFill>
                  </a:tcPr>
                </a:tc>
                <a:tc>
                  <a:txBody>
                    <a:bodyPr/>
                    <a:lstStyle/>
                    <a:p>
                      <a:pPr algn="r"/>
                      <a:r>
                        <a:rPr lang="en-US" sz="900" b="1">
                          <a:solidFill>
                            <a:srgbClr val="0B5583"/>
                          </a:solidFill>
                        </a:rPr>
                        <a:t>100%</a:t>
                      </a:r>
                    </a:p>
                  </a:txBody>
                  <a:tcPr marL="72000" marR="72000" marT="18000" marB="18000" anchor="ctr">
                    <a:lnL>
                      <a:noFill/>
                    </a:lnL>
                    <a:lnR>
                      <a:noFill/>
                    </a:lnR>
                    <a:lnT>
                      <a:noFill/>
                    </a:lnT>
                    <a:lnB>
                      <a:noFill/>
                    </a:lnB>
                    <a:solidFill>
                      <a:srgbClr val="FFFFFF"/>
                    </a:solidFill>
                  </a:tcPr>
                </a:tc>
                <a:extLst>
                  <a:ext uri="{0D108BD9-81ED-4DB2-BD59-A6C34878D82A}">
                    <a16:rowId xmlns:a16="http://schemas.microsoft.com/office/drawing/2014/main" val="10001"/>
                  </a:ext>
                </a:extLst>
              </a:tr>
              <a:tr h="190000">
                <a:tc>
                  <a:txBody>
                    <a:bodyPr/>
                    <a:lstStyle/>
                    <a:p>
                      <a:pPr algn="l"/>
                      <a:r>
                        <a:rPr lang="en-US" sz="900">
                          <a:solidFill>
                            <a:srgbClr val="0B5583"/>
                          </a:solidFill>
                        </a:rPr>
                        <a:t>San Diego Wave FC</a:t>
                      </a:r>
                    </a:p>
                  </a:txBody>
                  <a:tcPr marL="72000" marR="72000" marT="18000" marB="18000" anchor="ctr">
                    <a:lnL>
                      <a:noFill/>
                    </a:lnL>
                    <a:lnR>
                      <a:noFill/>
                    </a:lnR>
                    <a:lnT>
                      <a:noFill/>
                    </a:lnT>
                    <a:lnB>
                      <a:noFill/>
                    </a:lnB>
                    <a:solidFill>
                      <a:srgbClr val="F2F6F9"/>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2F6F9"/>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2F6F9"/>
                    </a:solidFill>
                  </a:tcPr>
                </a:tc>
                <a:tc>
                  <a:txBody>
                    <a:bodyPr/>
                    <a:lstStyle/>
                    <a:p>
                      <a:pPr algn="r"/>
                      <a:r>
                        <a:rPr lang="en-US" sz="900" b="1">
                          <a:solidFill>
                            <a:srgbClr val="0B5583"/>
                          </a:solidFill>
                        </a:rPr>
                        <a:t>99%</a:t>
                      </a:r>
                    </a:p>
                  </a:txBody>
                  <a:tcPr marL="72000" marR="72000" marT="18000" marB="18000" anchor="ctr">
                    <a:lnL>
                      <a:noFill/>
                    </a:lnL>
                    <a:lnR>
                      <a:noFill/>
                    </a:lnR>
                    <a:lnT>
                      <a:noFill/>
                    </a:lnT>
                    <a:lnB>
                      <a:noFill/>
                    </a:lnB>
                    <a:solidFill>
                      <a:srgbClr val="F2F6F9"/>
                    </a:solidFill>
                  </a:tcPr>
                </a:tc>
                <a:extLst>
                  <a:ext uri="{0D108BD9-81ED-4DB2-BD59-A6C34878D82A}">
                    <a16:rowId xmlns:a16="http://schemas.microsoft.com/office/drawing/2014/main" val="10002"/>
                  </a:ext>
                </a:extLst>
              </a:tr>
              <a:tr h="190000">
                <a:tc>
                  <a:txBody>
                    <a:bodyPr/>
                    <a:lstStyle/>
                    <a:p>
                      <a:pPr algn="l"/>
                      <a:r>
                        <a:rPr lang="en-US" sz="900">
                          <a:solidFill>
                            <a:srgbClr val="0B5583"/>
                          </a:solidFill>
                        </a:rPr>
                        <a:t>Orlando Pride</a:t>
                      </a:r>
                    </a:p>
                  </a:txBody>
                  <a:tcPr marL="72000" marR="72000" marT="18000" marB="18000" anchor="ctr">
                    <a:lnL>
                      <a:noFill/>
                    </a:lnL>
                    <a:lnR>
                      <a:noFill/>
                    </a:lnR>
                    <a:lnT>
                      <a:noFill/>
                    </a:lnT>
                    <a:lnB>
                      <a:noFill/>
                    </a:lnB>
                    <a:solidFill>
                      <a:srgbClr val="FFFFFF"/>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FFFFF"/>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FFFFF"/>
                    </a:solidFill>
                  </a:tcPr>
                </a:tc>
                <a:tc>
                  <a:txBody>
                    <a:bodyPr/>
                    <a:lstStyle/>
                    <a:p>
                      <a:pPr algn="r"/>
                      <a:r>
                        <a:rPr lang="en-US" sz="900" b="1">
                          <a:solidFill>
                            <a:srgbClr val="0B5583"/>
                          </a:solidFill>
                        </a:rPr>
                        <a:t>98%</a:t>
                      </a:r>
                    </a:p>
                  </a:txBody>
                  <a:tcPr marL="72000" marR="72000" marT="18000" marB="18000" anchor="ctr">
                    <a:lnL>
                      <a:noFill/>
                    </a:lnL>
                    <a:lnR>
                      <a:noFill/>
                    </a:lnR>
                    <a:lnT>
                      <a:noFill/>
                    </a:lnT>
                    <a:lnB>
                      <a:noFill/>
                    </a:lnB>
                    <a:solidFill>
                      <a:srgbClr val="FFFFFF"/>
                    </a:solidFill>
                  </a:tcPr>
                </a:tc>
                <a:extLst>
                  <a:ext uri="{0D108BD9-81ED-4DB2-BD59-A6C34878D82A}">
                    <a16:rowId xmlns:a16="http://schemas.microsoft.com/office/drawing/2014/main" val="10003"/>
                  </a:ext>
                </a:extLst>
              </a:tr>
              <a:tr h="190000">
                <a:tc>
                  <a:txBody>
                    <a:bodyPr/>
                    <a:lstStyle/>
                    <a:p>
                      <a:pPr algn="l"/>
                      <a:r>
                        <a:rPr lang="en-US" sz="900">
                          <a:solidFill>
                            <a:srgbClr val="0B5583"/>
                          </a:solidFill>
                        </a:rPr>
                        <a:t>Portland Thorns FC</a:t>
                      </a:r>
                    </a:p>
                  </a:txBody>
                  <a:tcPr marL="72000" marR="72000" marT="18000" marB="18000" anchor="ctr">
                    <a:lnL>
                      <a:noFill/>
                    </a:lnL>
                    <a:lnR>
                      <a:noFill/>
                    </a:lnR>
                    <a:lnT>
                      <a:noFill/>
                    </a:lnT>
                    <a:lnB>
                      <a:noFill/>
                    </a:lnB>
                    <a:solidFill>
                      <a:srgbClr val="F2F6F9"/>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2F6F9"/>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2F6F9"/>
                    </a:solidFill>
                  </a:tcPr>
                </a:tc>
                <a:tc>
                  <a:txBody>
                    <a:bodyPr/>
                    <a:lstStyle/>
                    <a:p>
                      <a:pPr algn="r"/>
                      <a:r>
                        <a:rPr lang="en-US" sz="900" b="1">
                          <a:solidFill>
                            <a:srgbClr val="0B5583"/>
                          </a:solidFill>
                        </a:rPr>
                        <a:t>96%</a:t>
                      </a:r>
                    </a:p>
                  </a:txBody>
                  <a:tcPr marL="72000" marR="72000" marT="18000" marB="18000" anchor="ctr">
                    <a:lnL>
                      <a:noFill/>
                    </a:lnL>
                    <a:lnR>
                      <a:noFill/>
                    </a:lnR>
                    <a:lnT>
                      <a:noFill/>
                    </a:lnT>
                    <a:lnB>
                      <a:noFill/>
                    </a:lnB>
                    <a:solidFill>
                      <a:srgbClr val="F2F6F9"/>
                    </a:solidFill>
                  </a:tcPr>
                </a:tc>
                <a:extLst>
                  <a:ext uri="{0D108BD9-81ED-4DB2-BD59-A6C34878D82A}">
                    <a16:rowId xmlns:a16="http://schemas.microsoft.com/office/drawing/2014/main" val="10004"/>
                  </a:ext>
                </a:extLst>
              </a:tr>
              <a:tr h="190000">
                <a:tc>
                  <a:txBody>
                    <a:bodyPr/>
                    <a:lstStyle/>
                    <a:p>
                      <a:pPr algn="l"/>
                      <a:r>
                        <a:rPr lang="en-US" sz="900">
                          <a:solidFill>
                            <a:srgbClr val="0B5583"/>
                          </a:solidFill>
                        </a:rPr>
                        <a:t>Washington Spirit</a:t>
                      </a:r>
                    </a:p>
                  </a:txBody>
                  <a:tcPr marL="72000" marR="72000" marT="18000" marB="18000" anchor="ctr">
                    <a:lnL>
                      <a:noFill/>
                    </a:lnL>
                    <a:lnR>
                      <a:noFill/>
                    </a:lnR>
                    <a:lnT>
                      <a:noFill/>
                    </a:lnT>
                    <a:lnB>
                      <a:noFill/>
                    </a:lnB>
                    <a:solidFill>
                      <a:srgbClr val="FFFFFF"/>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FFFFF"/>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FFFFF"/>
                    </a:solidFill>
                  </a:tcPr>
                </a:tc>
                <a:tc>
                  <a:txBody>
                    <a:bodyPr/>
                    <a:lstStyle/>
                    <a:p>
                      <a:pPr algn="r"/>
                      <a:r>
                        <a:rPr lang="en-US" sz="900" b="1">
                          <a:solidFill>
                            <a:srgbClr val="0B5583"/>
                          </a:solidFill>
                        </a:rPr>
                        <a:t>96%</a:t>
                      </a:r>
                    </a:p>
                  </a:txBody>
                  <a:tcPr marL="72000" marR="72000" marT="18000" marB="18000" anchor="ctr">
                    <a:lnL>
                      <a:noFill/>
                    </a:lnL>
                    <a:lnR>
                      <a:noFill/>
                    </a:lnR>
                    <a:lnT>
                      <a:noFill/>
                    </a:lnT>
                    <a:lnB>
                      <a:noFill/>
                    </a:lnB>
                    <a:solidFill>
                      <a:srgbClr val="FFFFFF"/>
                    </a:solidFill>
                  </a:tcPr>
                </a:tc>
                <a:extLst>
                  <a:ext uri="{0D108BD9-81ED-4DB2-BD59-A6C34878D82A}">
                    <a16:rowId xmlns:a16="http://schemas.microsoft.com/office/drawing/2014/main" val="10005"/>
                  </a:ext>
                </a:extLst>
              </a:tr>
              <a:tr h="190000">
                <a:tc>
                  <a:txBody>
                    <a:bodyPr/>
                    <a:lstStyle/>
                    <a:p>
                      <a:pPr algn="l"/>
                      <a:r>
                        <a:rPr lang="en-US" sz="900">
                          <a:solidFill>
                            <a:srgbClr val="0B5583"/>
                          </a:solidFill>
                        </a:rPr>
                        <a:t>Racing Louisville FC</a:t>
                      </a:r>
                    </a:p>
                  </a:txBody>
                  <a:tcPr marL="72000" marR="72000" marT="18000" marB="18000" anchor="ctr">
                    <a:lnL>
                      <a:noFill/>
                    </a:lnL>
                    <a:lnR>
                      <a:noFill/>
                    </a:lnR>
                    <a:lnT>
                      <a:noFill/>
                    </a:lnT>
                    <a:lnB>
                      <a:noFill/>
                    </a:lnB>
                    <a:solidFill>
                      <a:srgbClr val="F2F6F9"/>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2F6F9"/>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2F6F9"/>
                    </a:solidFill>
                  </a:tcPr>
                </a:tc>
                <a:tc>
                  <a:txBody>
                    <a:bodyPr/>
                    <a:lstStyle/>
                    <a:p>
                      <a:pPr algn="r"/>
                      <a:r>
                        <a:rPr lang="en-US" sz="900" b="1">
                          <a:solidFill>
                            <a:srgbClr val="0B5583"/>
                          </a:solidFill>
                        </a:rPr>
                        <a:t>88%</a:t>
                      </a:r>
                    </a:p>
                  </a:txBody>
                  <a:tcPr marL="72000" marR="72000" marT="18000" marB="18000" anchor="ctr">
                    <a:lnL>
                      <a:noFill/>
                    </a:lnL>
                    <a:lnR>
                      <a:noFill/>
                    </a:lnR>
                    <a:lnT>
                      <a:noFill/>
                    </a:lnT>
                    <a:lnB>
                      <a:noFill/>
                    </a:lnB>
                    <a:solidFill>
                      <a:srgbClr val="F2F6F9"/>
                    </a:solidFill>
                  </a:tcPr>
                </a:tc>
                <a:extLst>
                  <a:ext uri="{0D108BD9-81ED-4DB2-BD59-A6C34878D82A}">
                    <a16:rowId xmlns:a16="http://schemas.microsoft.com/office/drawing/2014/main" val="10006"/>
                  </a:ext>
                </a:extLst>
              </a:tr>
              <a:tr h="190000">
                <a:tc>
                  <a:txBody>
                    <a:bodyPr/>
                    <a:lstStyle/>
                    <a:p>
                      <a:pPr algn="l"/>
                      <a:r>
                        <a:rPr lang="en-US" sz="900">
                          <a:solidFill>
                            <a:srgbClr val="0B5583"/>
                          </a:solidFill>
                        </a:rPr>
                        <a:t>Seattle Reign FC</a:t>
                      </a:r>
                    </a:p>
                  </a:txBody>
                  <a:tcPr marL="72000" marR="72000" marT="18000" marB="18000" anchor="ctr">
                    <a:lnL>
                      <a:noFill/>
                    </a:lnL>
                    <a:lnR>
                      <a:noFill/>
                    </a:lnR>
                    <a:lnT>
                      <a:noFill/>
                    </a:lnT>
                    <a:lnB>
                      <a:noFill/>
                    </a:lnB>
                    <a:solidFill>
                      <a:srgbClr val="FFFFFF"/>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FFFFF"/>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FFFFF"/>
                    </a:solidFill>
                  </a:tcPr>
                </a:tc>
                <a:tc>
                  <a:txBody>
                    <a:bodyPr/>
                    <a:lstStyle/>
                    <a:p>
                      <a:pPr algn="r"/>
                      <a:r>
                        <a:rPr lang="en-US" sz="900" b="1">
                          <a:solidFill>
                            <a:srgbClr val="0B5583"/>
                          </a:solidFill>
                        </a:rPr>
                        <a:t>86%</a:t>
                      </a:r>
                    </a:p>
                  </a:txBody>
                  <a:tcPr marL="72000" marR="72000" marT="18000" marB="18000" anchor="ctr">
                    <a:lnL>
                      <a:noFill/>
                    </a:lnL>
                    <a:lnR>
                      <a:noFill/>
                    </a:lnR>
                    <a:lnT>
                      <a:noFill/>
                    </a:lnT>
                    <a:lnB>
                      <a:noFill/>
                    </a:lnB>
                    <a:solidFill>
                      <a:srgbClr val="FFFFFF"/>
                    </a:solidFill>
                  </a:tcPr>
                </a:tc>
                <a:extLst>
                  <a:ext uri="{0D108BD9-81ED-4DB2-BD59-A6C34878D82A}">
                    <a16:rowId xmlns:a16="http://schemas.microsoft.com/office/drawing/2014/main" val="10007"/>
                  </a:ext>
                </a:extLst>
              </a:tr>
              <a:tr h="190000">
                <a:tc>
                  <a:txBody>
                    <a:bodyPr/>
                    <a:lstStyle/>
                    <a:p>
                      <a:pPr algn="l"/>
                      <a:r>
                        <a:rPr lang="en-US" sz="900">
                          <a:solidFill>
                            <a:srgbClr val="0B5583"/>
                          </a:solidFill>
                        </a:rPr>
                        <a:t>Gotham FC</a:t>
                      </a:r>
                    </a:p>
                  </a:txBody>
                  <a:tcPr marL="72000" marR="72000" marT="18000" marB="18000" anchor="ctr">
                    <a:lnL>
                      <a:noFill/>
                    </a:lnL>
                    <a:lnR>
                      <a:noFill/>
                    </a:lnR>
                    <a:lnT>
                      <a:noFill/>
                    </a:lnT>
                    <a:lnB>
                      <a:noFill/>
                    </a:lnB>
                    <a:solidFill>
                      <a:srgbClr val="F2F6F9"/>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2F6F9"/>
                    </a:solidFill>
                  </a:tcPr>
                </a:tc>
                <a:tc>
                  <a:txBody>
                    <a:bodyPr/>
                    <a:lstStyle/>
                    <a:p>
                      <a:pPr algn="ctr"/>
                      <a:r>
                        <a:rPr lang="en-US" sz="900" b="1">
                          <a:solidFill>
                            <a:srgbClr val="2E9E6B"/>
                          </a:solidFill>
                        </a:rPr>
                        <a:t>Yes</a:t>
                      </a:r>
                    </a:p>
                  </a:txBody>
                  <a:tcPr marL="72000" marR="72000" marT="18000" marB="18000" anchor="ctr">
                    <a:lnL>
                      <a:noFill/>
                    </a:lnL>
                    <a:lnR>
                      <a:noFill/>
                    </a:lnR>
                    <a:lnT>
                      <a:noFill/>
                    </a:lnT>
                    <a:lnB>
                      <a:noFill/>
                    </a:lnB>
                    <a:solidFill>
                      <a:srgbClr val="F2F6F9"/>
                    </a:solidFill>
                  </a:tcPr>
                </a:tc>
                <a:tc>
                  <a:txBody>
                    <a:bodyPr/>
                    <a:lstStyle/>
                    <a:p>
                      <a:pPr algn="r"/>
                      <a:r>
                        <a:rPr lang="en-US" sz="900" b="1">
                          <a:solidFill>
                            <a:srgbClr val="0B5583"/>
                          </a:solidFill>
                        </a:rPr>
                        <a:t>53%</a:t>
                      </a:r>
                    </a:p>
                  </a:txBody>
                  <a:tcPr marL="72000" marR="72000" marT="18000" marB="18000" anchor="ctr">
                    <a:lnL>
                      <a:noFill/>
                    </a:lnL>
                    <a:lnR>
                      <a:noFill/>
                    </a:lnR>
                    <a:lnT>
                      <a:noFill/>
                    </a:lnT>
                    <a:lnB>
                      <a:noFill/>
                    </a:lnB>
                    <a:solidFill>
                      <a:srgbClr val="F2F6F9"/>
                    </a:solidFill>
                  </a:tcPr>
                </a:tc>
                <a:extLst>
                  <a:ext uri="{0D108BD9-81ED-4DB2-BD59-A6C34878D82A}">
                    <a16:rowId xmlns:a16="http://schemas.microsoft.com/office/drawing/2014/main" val="10008"/>
                  </a:ext>
                </a:extLst>
              </a:tr>
              <a:tr h="190000">
                <a:tc>
                  <a:txBody>
                    <a:bodyPr/>
                    <a:lstStyle/>
                    <a:p>
                      <a:pPr algn="l"/>
                      <a:r>
                        <a:rPr lang="en-US" sz="900">
                          <a:solidFill>
                            <a:srgbClr val="0B5583"/>
                          </a:solidFill>
                        </a:rPr>
                        <a:t>North Carolina Courage</a:t>
                      </a:r>
                    </a:p>
                  </a:txBody>
                  <a:tcPr marL="72000" marR="72000" marT="18000" marB="18000" anchor="ctr">
                    <a:lnL>
                      <a:noFill/>
                    </a:lnL>
                    <a:lnR>
                      <a:noFill/>
                    </a:lnR>
                    <a:lnT>
                      <a:noFill/>
                    </a:lnT>
                    <a:lnB>
                      <a:noFill/>
                    </a:lnB>
                    <a:solidFill>
                      <a:srgbClr val="FFFFFF"/>
                    </a:solidFill>
                  </a:tcPr>
                </a:tc>
                <a:tc>
                  <a:txBody>
                    <a:bodyPr/>
                    <a:lstStyle/>
                    <a:p>
                      <a:pPr algn="ctr"/>
                      <a:r>
                        <a:rPr lang="en-US" sz="900">
                          <a:solidFill>
                            <a:srgbClr val="7A7A7A"/>
                          </a:solidFill>
                        </a:rPr>
                        <a:t>No</a:t>
                      </a:r>
                    </a:p>
                  </a:txBody>
                  <a:tcPr marL="72000" marR="72000" marT="18000" marB="18000" anchor="ctr">
                    <a:lnL>
                      <a:noFill/>
                    </a:lnL>
                    <a:lnR>
                      <a:noFill/>
                    </a:lnR>
                    <a:lnT>
                      <a:noFill/>
                    </a:lnT>
                    <a:lnB>
                      <a:noFill/>
                    </a:lnB>
                    <a:solidFill>
                      <a:srgbClr val="FFFFFF"/>
                    </a:solidFill>
                  </a:tcPr>
                </a:tc>
                <a:tc>
                  <a:txBody>
                    <a:bodyPr/>
                    <a:lstStyle/>
                    <a:p>
                      <a:pPr algn="ctr"/>
                      <a:r>
                        <a:rPr lang="en-US" sz="900">
                          <a:solidFill>
                            <a:srgbClr val="7A7A7A"/>
                          </a:solidFill>
                        </a:rPr>
                        <a:t>No</a:t>
                      </a:r>
                    </a:p>
                  </a:txBody>
                  <a:tcPr marL="72000" marR="72000" marT="18000" marB="18000" anchor="ctr">
                    <a:lnL>
                      <a:noFill/>
                    </a:lnL>
                    <a:lnR>
                      <a:noFill/>
                    </a:lnR>
                    <a:lnT>
                      <a:noFill/>
                    </a:lnT>
                    <a:lnB>
                      <a:noFill/>
                    </a:lnB>
                    <a:solidFill>
                      <a:srgbClr val="FFFFFF"/>
                    </a:solidFill>
                  </a:tcPr>
                </a:tc>
                <a:tc>
                  <a:txBody>
                    <a:bodyPr/>
                    <a:lstStyle/>
                    <a:p>
                      <a:pPr algn="r"/>
                      <a:r>
                        <a:rPr lang="en-US" sz="900" b="1">
                          <a:solidFill>
                            <a:srgbClr val="0B5583"/>
                          </a:solidFill>
                        </a:rPr>
                        <a:t>31%</a:t>
                      </a:r>
                    </a:p>
                  </a:txBody>
                  <a:tcPr marL="72000" marR="72000" marT="18000" marB="18000" anchor="ctr">
                    <a:lnL>
                      <a:noFill/>
                    </a:lnL>
                    <a:lnR>
                      <a:noFill/>
                    </a:lnR>
                    <a:lnT>
                      <a:noFill/>
                    </a:lnT>
                    <a:lnB>
                      <a:noFill/>
                    </a:lnB>
                    <a:solidFill>
                      <a:srgbClr val="FFFFFF"/>
                    </a:solidFill>
                  </a:tcPr>
                </a:tc>
                <a:extLst>
                  <a:ext uri="{0D108BD9-81ED-4DB2-BD59-A6C34878D82A}">
                    <a16:rowId xmlns:a16="http://schemas.microsoft.com/office/drawing/2014/main" val="10009"/>
                  </a:ext>
                </a:extLst>
              </a:tr>
              <a:tr h="190000">
                <a:tc>
                  <a:txBody>
                    <a:bodyPr/>
                    <a:lstStyle/>
                    <a:p>
                      <a:pPr algn="l"/>
                      <a:r>
                        <a:rPr lang="en-US" sz="900">
                          <a:solidFill>
                            <a:srgbClr val="0B5583"/>
                          </a:solidFill>
                        </a:rPr>
                        <a:t>Houston Dash</a:t>
                      </a:r>
                    </a:p>
                  </a:txBody>
                  <a:tcPr marL="72000" marR="72000" marT="18000" marB="18000" anchor="ctr">
                    <a:lnL>
                      <a:noFill/>
                    </a:lnL>
                    <a:lnR>
                      <a:noFill/>
                    </a:lnR>
                    <a:lnT>
                      <a:noFill/>
                    </a:lnT>
                    <a:lnB>
                      <a:noFill/>
                    </a:lnB>
                    <a:solidFill>
                      <a:srgbClr val="F2F6F9"/>
                    </a:solidFill>
                  </a:tcPr>
                </a:tc>
                <a:tc>
                  <a:txBody>
                    <a:bodyPr/>
                    <a:lstStyle/>
                    <a:p>
                      <a:pPr algn="ctr"/>
                      <a:r>
                        <a:rPr lang="en-US" sz="900">
                          <a:solidFill>
                            <a:srgbClr val="7A7A7A"/>
                          </a:solidFill>
                        </a:rPr>
                        <a:t>No</a:t>
                      </a:r>
                    </a:p>
                  </a:txBody>
                  <a:tcPr marL="72000" marR="72000" marT="18000" marB="18000" anchor="ctr">
                    <a:lnL>
                      <a:noFill/>
                    </a:lnL>
                    <a:lnR>
                      <a:noFill/>
                    </a:lnR>
                    <a:lnT>
                      <a:noFill/>
                    </a:lnT>
                    <a:lnB>
                      <a:noFill/>
                    </a:lnB>
                    <a:solidFill>
                      <a:srgbClr val="F2F6F9"/>
                    </a:solidFill>
                  </a:tcPr>
                </a:tc>
                <a:tc>
                  <a:txBody>
                    <a:bodyPr/>
                    <a:lstStyle/>
                    <a:p>
                      <a:pPr algn="ctr"/>
                      <a:r>
                        <a:rPr lang="en-US" sz="900">
                          <a:solidFill>
                            <a:srgbClr val="7A7A7A"/>
                          </a:solidFill>
                        </a:rPr>
                        <a:t>No</a:t>
                      </a:r>
                    </a:p>
                  </a:txBody>
                  <a:tcPr marL="72000" marR="72000" marT="18000" marB="18000" anchor="ctr">
                    <a:lnL>
                      <a:noFill/>
                    </a:lnL>
                    <a:lnR>
                      <a:noFill/>
                    </a:lnR>
                    <a:lnT>
                      <a:noFill/>
                    </a:lnT>
                    <a:lnB>
                      <a:noFill/>
                    </a:lnB>
                    <a:solidFill>
                      <a:srgbClr val="F2F6F9"/>
                    </a:solidFill>
                  </a:tcPr>
                </a:tc>
                <a:tc>
                  <a:txBody>
                    <a:bodyPr/>
                    <a:lstStyle/>
                    <a:p>
                      <a:pPr algn="r"/>
                      <a:r>
                        <a:rPr lang="en-US" sz="900" b="1">
                          <a:solidFill>
                            <a:srgbClr val="0B5583"/>
                          </a:solidFill>
                        </a:rPr>
                        <a:t>17%</a:t>
                      </a:r>
                    </a:p>
                  </a:txBody>
                  <a:tcPr marL="72000" marR="72000" marT="18000" marB="18000" anchor="ctr">
                    <a:lnL>
                      <a:noFill/>
                    </a:lnL>
                    <a:lnR>
                      <a:noFill/>
                    </a:lnR>
                    <a:lnT>
                      <a:noFill/>
                    </a:lnT>
                    <a:lnB>
                      <a:noFill/>
                    </a:lnB>
                    <a:solidFill>
                      <a:srgbClr val="F2F6F9"/>
                    </a:solidFill>
                  </a:tcPr>
                </a:tc>
                <a:extLst>
                  <a:ext uri="{0D108BD9-81ED-4DB2-BD59-A6C34878D82A}">
                    <a16:rowId xmlns:a16="http://schemas.microsoft.com/office/drawing/2014/main" val="10010"/>
                  </a:ext>
                </a:extLst>
              </a:tr>
              <a:tr h="190000">
                <a:tc>
                  <a:txBody>
                    <a:bodyPr/>
                    <a:lstStyle/>
                    <a:p>
                      <a:pPr algn="l"/>
                      <a:r>
                        <a:rPr lang="en-US" sz="900">
                          <a:solidFill>
                            <a:srgbClr val="0B5583"/>
                          </a:solidFill>
                        </a:rPr>
                        <a:t>Angel City FC</a:t>
                      </a:r>
                    </a:p>
                  </a:txBody>
                  <a:tcPr marL="72000" marR="72000" marT="18000" marB="18000" anchor="ctr">
                    <a:lnL>
                      <a:noFill/>
                    </a:lnL>
                    <a:lnR>
                      <a:noFill/>
                    </a:lnR>
                    <a:lnT>
                      <a:noFill/>
                    </a:lnT>
                    <a:lnB>
                      <a:noFill/>
                    </a:lnB>
                    <a:solidFill>
                      <a:srgbClr val="FFFFFF"/>
                    </a:solidFill>
                  </a:tcPr>
                </a:tc>
                <a:tc>
                  <a:txBody>
                    <a:bodyPr/>
                    <a:lstStyle/>
                    <a:p>
                      <a:pPr algn="ctr"/>
                      <a:r>
                        <a:rPr lang="en-US" sz="900">
                          <a:solidFill>
                            <a:srgbClr val="7A7A7A"/>
                          </a:solidFill>
                        </a:rPr>
                        <a:t>No</a:t>
                      </a:r>
                    </a:p>
                  </a:txBody>
                  <a:tcPr marL="72000" marR="72000" marT="18000" marB="18000" anchor="ctr">
                    <a:lnL>
                      <a:noFill/>
                    </a:lnL>
                    <a:lnR>
                      <a:noFill/>
                    </a:lnR>
                    <a:lnT>
                      <a:noFill/>
                    </a:lnT>
                    <a:lnB>
                      <a:noFill/>
                    </a:lnB>
                    <a:solidFill>
                      <a:srgbClr val="FFFFFF"/>
                    </a:solidFill>
                  </a:tcPr>
                </a:tc>
                <a:tc>
                  <a:txBody>
                    <a:bodyPr/>
                    <a:lstStyle/>
                    <a:p>
                      <a:pPr algn="ctr"/>
                      <a:r>
                        <a:rPr lang="en-US" sz="900">
                          <a:solidFill>
                            <a:srgbClr val="7A7A7A"/>
                          </a:solidFill>
                        </a:rPr>
                        <a:t>No</a:t>
                      </a:r>
                    </a:p>
                  </a:txBody>
                  <a:tcPr marL="72000" marR="72000" marT="18000" marB="18000" anchor="ctr">
                    <a:lnL>
                      <a:noFill/>
                    </a:lnL>
                    <a:lnR>
                      <a:noFill/>
                    </a:lnR>
                    <a:lnT>
                      <a:noFill/>
                    </a:lnT>
                    <a:lnB>
                      <a:noFill/>
                    </a:lnB>
                    <a:solidFill>
                      <a:srgbClr val="FFFFFF"/>
                    </a:solidFill>
                  </a:tcPr>
                </a:tc>
                <a:tc>
                  <a:txBody>
                    <a:bodyPr/>
                    <a:lstStyle/>
                    <a:p>
                      <a:pPr algn="r"/>
                      <a:r>
                        <a:rPr lang="en-US" sz="900" b="1">
                          <a:solidFill>
                            <a:srgbClr val="0B5583"/>
                          </a:solidFill>
                        </a:rPr>
                        <a:t>7%</a:t>
                      </a:r>
                    </a:p>
                  </a:txBody>
                  <a:tcPr marL="72000" marR="72000" marT="18000" marB="18000" anchor="ctr">
                    <a:lnL>
                      <a:noFill/>
                    </a:lnL>
                    <a:lnR>
                      <a:noFill/>
                    </a:lnR>
                    <a:lnT>
                      <a:noFill/>
                    </a:lnT>
                    <a:lnB>
                      <a:noFill/>
                    </a:lnB>
                    <a:solidFill>
                      <a:srgbClr val="FFFFFF"/>
                    </a:solidFill>
                  </a:tcPr>
                </a:tc>
                <a:extLst>
                  <a:ext uri="{0D108BD9-81ED-4DB2-BD59-A6C34878D82A}">
                    <a16:rowId xmlns:a16="http://schemas.microsoft.com/office/drawing/2014/main" val="10011"/>
                  </a:ext>
                </a:extLst>
              </a:tr>
              <a:tr h="190000">
                <a:tc>
                  <a:txBody>
                    <a:bodyPr/>
                    <a:lstStyle/>
                    <a:p>
                      <a:pPr algn="l"/>
                      <a:r>
                        <a:rPr lang="en-US" sz="900">
                          <a:solidFill>
                            <a:srgbClr val="0B5583"/>
                          </a:solidFill>
                        </a:rPr>
                        <a:t>Bay FC</a:t>
                      </a:r>
                    </a:p>
                  </a:txBody>
                  <a:tcPr marL="72000" marR="72000" marT="18000" marB="18000" anchor="ctr">
                    <a:lnL>
                      <a:noFill/>
                    </a:lnL>
                    <a:lnR>
                      <a:noFill/>
                    </a:lnR>
                    <a:lnT>
                      <a:noFill/>
                    </a:lnT>
                    <a:lnB>
                      <a:noFill/>
                    </a:lnB>
                    <a:solidFill>
                      <a:srgbClr val="F2F6F9"/>
                    </a:solidFill>
                  </a:tcPr>
                </a:tc>
                <a:tc>
                  <a:txBody>
                    <a:bodyPr/>
                    <a:lstStyle/>
                    <a:p>
                      <a:pPr algn="ctr"/>
                      <a:r>
                        <a:rPr lang="en-US" sz="900">
                          <a:solidFill>
                            <a:srgbClr val="7A7A7A"/>
                          </a:solidFill>
                        </a:rPr>
                        <a:t>No</a:t>
                      </a:r>
                    </a:p>
                  </a:txBody>
                  <a:tcPr marL="72000" marR="72000" marT="18000" marB="18000" anchor="ctr">
                    <a:lnL>
                      <a:noFill/>
                    </a:lnL>
                    <a:lnR>
                      <a:noFill/>
                    </a:lnR>
                    <a:lnT>
                      <a:noFill/>
                    </a:lnT>
                    <a:lnB>
                      <a:noFill/>
                    </a:lnB>
                    <a:solidFill>
                      <a:srgbClr val="F2F6F9"/>
                    </a:solidFill>
                  </a:tcPr>
                </a:tc>
                <a:tc>
                  <a:txBody>
                    <a:bodyPr/>
                    <a:lstStyle/>
                    <a:p>
                      <a:pPr algn="ctr"/>
                      <a:r>
                        <a:rPr lang="en-US" sz="900">
                          <a:solidFill>
                            <a:srgbClr val="7A7A7A"/>
                          </a:solidFill>
                        </a:rPr>
                        <a:t>No</a:t>
                      </a:r>
                    </a:p>
                  </a:txBody>
                  <a:tcPr marL="72000" marR="72000" marT="18000" marB="18000" anchor="ctr">
                    <a:lnL>
                      <a:noFill/>
                    </a:lnL>
                    <a:lnR>
                      <a:noFill/>
                    </a:lnR>
                    <a:lnT>
                      <a:noFill/>
                    </a:lnT>
                    <a:lnB>
                      <a:noFill/>
                    </a:lnB>
                    <a:solidFill>
                      <a:srgbClr val="F2F6F9"/>
                    </a:solidFill>
                  </a:tcPr>
                </a:tc>
                <a:tc>
                  <a:txBody>
                    <a:bodyPr/>
                    <a:lstStyle/>
                    <a:p>
                      <a:pPr algn="r"/>
                      <a:r>
                        <a:rPr lang="en-US" sz="900" b="1">
                          <a:solidFill>
                            <a:srgbClr val="0B5583"/>
                          </a:solidFill>
                        </a:rPr>
                        <a:t>7%</a:t>
                      </a:r>
                    </a:p>
                  </a:txBody>
                  <a:tcPr marL="72000" marR="72000" marT="18000" marB="18000" anchor="ctr">
                    <a:lnL>
                      <a:noFill/>
                    </a:lnL>
                    <a:lnR>
                      <a:noFill/>
                    </a:lnR>
                    <a:lnT>
                      <a:noFill/>
                    </a:lnT>
                    <a:lnB>
                      <a:noFill/>
                    </a:lnB>
                    <a:solidFill>
                      <a:srgbClr val="F2F6F9"/>
                    </a:solidFill>
                  </a:tcPr>
                </a:tc>
                <a:extLst>
                  <a:ext uri="{0D108BD9-81ED-4DB2-BD59-A6C34878D82A}">
                    <a16:rowId xmlns:a16="http://schemas.microsoft.com/office/drawing/2014/main" val="10012"/>
                  </a:ext>
                </a:extLst>
              </a:tr>
              <a:tr h="190000">
                <a:tc>
                  <a:txBody>
                    <a:bodyPr/>
                    <a:lstStyle/>
                    <a:p>
                      <a:pPr algn="l"/>
                      <a:r>
                        <a:rPr lang="en-US" sz="900">
                          <a:solidFill>
                            <a:srgbClr val="0B5583"/>
                          </a:solidFill>
                        </a:rPr>
                        <a:t>Chicago Stars FC</a:t>
                      </a:r>
                    </a:p>
                  </a:txBody>
                  <a:tcPr marL="72000" marR="72000" marT="18000" marB="18000" anchor="ctr">
                    <a:lnL>
                      <a:noFill/>
                    </a:lnL>
                    <a:lnR>
                      <a:noFill/>
                    </a:lnR>
                    <a:lnT>
                      <a:noFill/>
                    </a:lnT>
                    <a:lnB>
                      <a:noFill/>
                    </a:lnB>
                    <a:solidFill>
                      <a:srgbClr val="FFFFFF"/>
                    </a:solidFill>
                  </a:tcPr>
                </a:tc>
                <a:tc>
                  <a:txBody>
                    <a:bodyPr/>
                    <a:lstStyle/>
                    <a:p>
                      <a:pPr algn="ctr"/>
                      <a:r>
                        <a:rPr lang="en-US" sz="900">
                          <a:solidFill>
                            <a:srgbClr val="7A7A7A"/>
                          </a:solidFill>
                        </a:rPr>
                        <a:t>No</a:t>
                      </a:r>
                    </a:p>
                  </a:txBody>
                  <a:tcPr marL="72000" marR="72000" marT="18000" marB="18000" anchor="ctr">
                    <a:lnL>
                      <a:noFill/>
                    </a:lnL>
                    <a:lnR>
                      <a:noFill/>
                    </a:lnR>
                    <a:lnT>
                      <a:noFill/>
                    </a:lnT>
                    <a:lnB>
                      <a:noFill/>
                    </a:lnB>
                    <a:solidFill>
                      <a:srgbClr val="FFFFFF"/>
                    </a:solidFill>
                  </a:tcPr>
                </a:tc>
                <a:tc>
                  <a:txBody>
                    <a:bodyPr/>
                    <a:lstStyle/>
                    <a:p>
                      <a:pPr algn="ctr"/>
                      <a:r>
                        <a:rPr lang="en-US" sz="900">
                          <a:solidFill>
                            <a:srgbClr val="7A7A7A"/>
                          </a:solidFill>
                        </a:rPr>
                        <a:t>No</a:t>
                      </a:r>
                    </a:p>
                  </a:txBody>
                  <a:tcPr marL="72000" marR="72000" marT="18000" marB="18000" anchor="ctr">
                    <a:lnL>
                      <a:noFill/>
                    </a:lnL>
                    <a:lnR>
                      <a:noFill/>
                    </a:lnR>
                    <a:lnT>
                      <a:noFill/>
                    </a:lnT>
                    <a:lnB>
                      <a:noFill/>
                    </a:lnB>
                    <a:solidFill>
                      <a:srgbClr val="FFFFFF"/>
                    </a:solidFill>
                  </a:tcPr>
                </a:tc>
                <a:tc>
                  <a:txBody>
                    <a:bodyPr/>
                    <a:lstStyle/>
                    <a:p>
                      <a:pPr algn="r"/>
                      <a:r>
                        <a:rPr lang="en-US" sz="900" b="1">
                          <a:solidFill>
                            <a:srgbClr val="0B5583"/>
                          </a:solidFill>
                        </a:rPr>
                        <a:t>0%</a:t>
                      </a:r>
                    </a:p>
                  </a:txBody>
                  <a:tcPr marL="72000" marR="72000" marT="18000" marB="18000" anchor="ctr">
                    <a:lnL>
                      <a:noFill/>
                    </a:lnL>
                    <a:lnR>
                      <a:noFill/>
                    </a:lnR>
                    <a:lnT>
                      <a:noFill/>
                    </a:lnT>
                    <a:lnB>
                      <a:noFill/>
                    </a:lnB>
                    <a:solidFill>
                      <a:srgbClr val="FFFFFF"/>
                    </a:solidFill>
                  </a:tcPr>
                </a:tc>
                <a:extLst>
                  <a:ext uri="{0D108BD9-81ED-4DB2-BD59-A6C34878D82A}">
                    <a16:rowId xmlns:a16="http://schemas.microsoft.com/office/drawing/2014/main" val="10013"/>
                  </a:ext>
                </a:extLst>
              </a:tr>
              <a:tr h="190000">
                <a:tc>
                  <a:txBody>
                    <a:bodyPr/>
                    <a:lstStyle/>
                    <a:p>
                      <a:pPr algn="l"/>
                      <a:r>
                        <a:rPr lang="en-US" sz="900">
                          <a:solidFill>
                            <a:srgbClr val="0B5583"/>
                          </a:solidFill>
                        </a:rPr>
                        <a:t>Utah Royals</a:t>
                      </a:r>
                    </a:p>
                  </a:txBody>
                  <a:tcPr marL="72000" marR="72000" marT="18000" marB="18000" anchor="ctr">
                    <a:lnL>
                      <a:noFill/>
                    </a:lnL>
                    <a:lnR>
                      <a:noFill/>
                    </a:lnR>
                    <a:lnT>
                      <a:noFill/>
                    </a:lnT>
                    <a:lnB>
                      <a:noFill/>
                    </a:lnB>
                    <a:solidFill>
                      <a:srgbClr val="F2F6F9"/>
                    </a:solidFill>
                  </a:tcPr>
                </a:tc>
                <a:tc>
                  <a:txBody>
                    <a:bodyPr/>
                    <a:lstStyle/>
                    <a:p>
                      <a:pPr algn="ctr"/>
                      <a:r>
                        <a:rPr lang="en-US" sz="900">
                          <a:solidFill>
                            <a:srgbClr val="7A7A7A"/>
                          </a:solidFill>
                        </a:rPr>
                        <a:t>No</a:t>
                      </a:r>
                    </a:p>
                  </a:txBody>
                  <a:tcPr marL="72000" marR="72000" marT="18000" marB="18000" anchor="ctr">
                    <a:lnL>
                      <a:noFill/>
                    </a:lnL>
                    <a:lnR>
                      <a:noFill/>
                    </a:lnR>
                    <a:lnT>
                      <a:noFill/>
                    </a:lnT>
                    <a:lnB>
                      <a:noFill/>
                    </a:lnB>
                    <a:solidFill>
                      <a:srgbClr val="F2F6F9"/>
                    </a:solidFill>
                  </a:tcPr>
                </a:tc>
                <a:tc>
                  <a:txBody>
                    <a:bodyPr/>
                    <a:lstStyle/>
                    <a:p>
                      <a:pPr algn="ctr"/>
                      <a:r>
                        <a:rPr lang="en-US" sz="900">
                          <a:solidFill>
                            <a:srgbClr val="7A7A7A"/>
                          </a:solidFill>
                        </a:rPr>
                        <a:t>No</a:t>
                      </a:r>
                    </a:p>
                  </a:txBody>
                  <a:tcPr marL="72000" marR="72000" marT="18000" marB="18000" anchor="ctr">
                    <a:lnL>
                      <a:noFill/>
                    </a:lnL>
                    <a:lnR>
                      <a:noFill/>
                    </a:lnR>
                    <a:lnT>
                      <a:noFill/>
                    </a:lnT>
                    <a:lnB>
                      <a:noFill/>
                    </a:lnB>
                    <a:solidFill>
                      <a:srgbClr val="F2F6F9"/>
                    </a:solidFill>
                  </a:tcPr>
                </a:tc>
                <a:tc>
                  <a:txBody>
                    <a:bodyPr/>
                    <a:lstStyle/>
                    <a:p>
                      <a:pPr algn="r"/>
                      <a:r>
                        <a:rPr lang="en-US" sz="900" b="1">
                          <a:solidFill>
                            <a:srgbClr val="0B5583"/>
                          </a:solidFill>
                        </a:rPr>
                        <a:t>0%</a:t>
                      </a:r>
                    </a:p>
                  </a:txBody>
                  <a:tcPr marL="72000" marR="72000" marT="18000" marB="18000" anchor="ctr">
                    <a:lnL>
                      <a:noFill/>
                    </a:lnL>
                    <a:lnR>
                      <a:noFill/>
                    </a:lnR>
                    <a:lnT>
                      <a:noFill/>
                    </a:lnT>
                    <a:lnB>
                      <a:noFill/>
                    </a:lnB>
                    <a:solidFill>
                      <a:srgbClr val="F2F6F9"/>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577931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63FF8-7083-FCA7-544E-F8AAAED6F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FAE20-191A-665D-F92F-31DEEABAD134}"/>
              </a:ext>
            </a:extLst>
          </p:cNvPr>
          <p:cNvSpPr>
            <a:spLocks noGrp="1"/>
          </p:cNvSpPr>
          <p:nvPr>
            <p:ph type="title"/>
          </p:nvPr>
        </p:nvSpPr>
        <p:spPr/>
        <p:txBody>
          <a:bodyPr/>
          <a:lstStyle/>
          <a:p>
            <a:r>
              <a:rPr lang="en-US"/>
              <a:t>Refit the approved workflow for the 2026 prediction</a:t>
            </a:r>
          </a:p>
        </p:txBody>
      </p:sp>
      <p:pic>
        <p:nvPicPr>
          <p:cNvPr id="7" name="Picture 6" descr="Small_Logo.jpg">
            <a:extLst>
              <a:ext uri="{FF2B5EF4-FFF2-40B4-BE49-F238E27FC236}">
                <a16:creationId xmlns:a16="http://schemas.microsoft.com/office/drawing/2014/main" id="{A5A39FD1-8115-4789-D5BB-74CADFAC134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0" name="Step Split">
            <a:extLst>
              <a:ext uri="{FF2B5EF4-FFF2-40B4-BE49-F238E27FC236}">
                <a16:creationId xmlns:a16="http://schemas.microsoft.com/office/drawing/2014/main" id="{7E5E232A-503A-B3C1-26EA-8E02C4E7E8EE}"/>
              </a:ext>
            </a:extLst>
          </p:cNvPr>
          <p:cNvSpPr/>
          <p:nvPr/>
        </p:nvSpPr>
        <p:spPr>
          <a:xfrm>
            <a:off x="43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Split</a:t>
            </a:r>
          </a:p>
        </p:txBody>
      </p:sp>
      <p:sp>
        <p:nvSpPr>
          <p:cNvPr id="901" name="Step Preprocess">
            <a:extLst>
              <a:ext uri="{FF2B5EF4-FFF2-40B4-BE49-F238E27FC236}">
                <a16:creationId xmlns:a16="http://schemas.microsoft.com/office/drawing/2014/main" id="{247AC743-A1AC-F54E-2C0D-907CFADFE121}"/>
              </a:ext>
            </a:extLst>
          </p:cNvPr>
          <p:cNvSpPr/>
          <p:nvPr/>
        </p:nvSpPr>
        <p:spPr>
          <a:xfrm>
            <a:off x="211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Preprocess</a:t>
            </a:r>
          </a:p>
        </p:txBody>
      </p:sp>
      <p:sp>
        <p:nvSpPr>
          <p:cNvPr id="902" name="Step Specify">
            <a:extLst>
              <a:ext uri="{FF2B5EF4-FFF2-40B4-BE49-F238E27FC236}">
                <a16:creationId xmlns:a16="http://schemas.microsoft.com/office/drawing/2014/main" id="{41BFCC7D-78FE-43CD-5988-1C67BCB90398}"/>
              </a:ext>
            </a:extLst>
          </p:cNvPr>
          <p:cNvSpPr/>
          <p:nvPr/>
        </p:nvSpPr>
        <p:spPr>
          <a:xfrm>
            <a:off x="379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Specify</a:t>
            </a:r>
          </a:p>
        </p:txBody>
      </p:sp>
      <p:sp>
        <p:nvSpPr>
          <p:cNvPr id="903" name="Step Fit">
            <a:extLst>
              <a:ext uri="{FF2B5EF4-FFF2-40B4-BE49-F238E27FC236}">
                <a16:creationId xmlns:a16="http://schemas.microsoft.com/office/drawing/2014/main" id="{13D565D9-513B-C42D-F808-732E6949CE30}"/>
              </a:ext>
            </a:extLst>
          </p:cNvPr>
          <p:cNvSpPr/>
          <p:nvPr/>
        </p:nvSpPr>
        <p:spPr>
          <a:xfrm>
            <a:off x="5472000" y="1140000"/>
            <a:ext cx="1560000" cy="300000"/>
          </a:xfrm>
          <a:prstGeom prst="roundRect">
            <a:avLst>
              <a:gd name="adj" fmla="val 50000"/>
            </a:avLst>
          </a:prstGeom>
          <a:solidFill>
            <a:srgbClr val="1B87B9"/>
          </a:solidFill>
          <a:ln>
            <a:noFill/>
          </a:ln>
        </p:spPr>
        <p:txBody>
          <a:bodyPr wrap="square" lIns="45720" tIns="18000" rIns="45720" bIns="18000" anchor="ctr"/>
          <a:lstStyle/>
          <a:p>
            <a:pPr algn="ctr"/>
            <a:r>
              <a:rPr lang="en-US" sz="1100" b="1">
                <a:solidFill>
                  <a:srgbClr val="FFFFFF"/>
                </a:solidFill>
              </a:rPr>
              <a:t>Fit</a:t>
            </a:r>
          </a:p>
        </p:txBody>
      </p:sp>
      <p:sp>
        <p:nvSpPr>
          <p:cNvPr id="904" name="Step Evaluate">
            <a:extLst>
              <a:ext uri="{FF2B5EF4-FFF2-40B4-BE49-F238E27FC236}">
                <a16:creationId xmlns:a16="http://schemas.microsoft.com/office/drawing/2014/main" id="{EE86057E-079A-4EFF-6FCB-A0D17D00FE0E}"/>
              </a:ext>
            </a:extLst>
          </p:cNvPr>
          <p:cNvSpPr/>
          <p:nvPr/>
        </p:nvSpPr>
        <p:spPr>
          <a:xfrm>
            <a:off x="715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Evaluate</a:t>
            </a:r>
          </a:p>
        </p:txBody>
      </p:sp>
      <p:sp>
        <p:nvSpPr>
          <p:cNvPr id="910" name="Takeaway"/>
          <p:cNvSpPr/>
          <p:nvPr/>
        </p:nvSpPr>
        <p:spPr>
          <a:xfrm>
            <a:off x="457200" y="1560000"/>
            <a:ext cx="8229600" cy="420000"/>
          </a:xfrm>
          <a:prstGeom prst="rect">
            <a:avLst/>
          </a:prstGeom>
          <a:noFill/>
          <a:ln>
            <a:noFill/>
          </a:ln>
        </p:spPr>
        <p:txBody>
          <a:bodyPr wrap="square" lIns="91440" tIns="45720" rIns="91440" bIns="45720" anchor="ctr"/>
          <a:lstStyle/>
          <a:p>
            <a:pPr algn="ctr">
              <a:buNone/>
            </a:pPr>
            <a:r>
              <a:rPr lang="en-US" sz="1600" b="1">
                <a:solidFill>
                  <a:srgbClr val="0B5583"/>
                </a:solidFill>
              </a:rPr>
              <a:t>Once evaluation is complete, every completed season can help train the prediction model.</a:t>
            </a:r>
          </a:p>
        </p:txBody>
      </p:sp>
      <p:sp>
        <p:nvSpPr>
          <p:cNvPr id="920" name="Panel 0"/>
          <p:cNvSpPr/>
          <p:nvPr/>
        </p:nvSpPr>
        <p:spPr>
          <a:xfrm>
            <a:off x="457200" y="2060000"/>
            <a:ext cx="3810000" cy="1740000"/>
          </a:xfrm>
          <a:prstGeom prst="roundRect">
            <a:avLst/>
          </a:prstGeom>
          <a:solidFill>
            <a:srgbClr val="FFFFFF"/>
          </a:solidFill>
          <a:ln w="12700">
            <a:solidFill>
              <a:srgbClr val="E1E5EA"/>
            </a:solidFill>
          </a:ln>
        </p:spPr>
        <p:txBody>
          <a:bodyPr wrap="square" lIns="91440" tIns="45720" rIns="91440" bIns="45720" anchor="ctr"/>
          <a:lstStyle/>
          <a:p>
            <a:endParaRPr/>
          </a:p>
        </p:txBody>
      </p:sp>
      <p:sp>
        <p:nvSpPr>
          <p:cNvPr id="921" name="Head 0"/>
          <p:cNvSpPr/>
          <p:nvPr/>
        </p:nvSpPr>
        <p:spPr>
          <a:xfrm>
            <a:off x="457200" y="2060000"/>
            <a:ext cx="3810000" cy="420000"/>
          </a:xfrm>
          <a:prstGeom prst="roundRect">
            <a:avLst/>
          </a:prstGeom>
          <a:solidFill>
            <a:srgbClr val="1B87B9"/>
          </a:solidFill>
          <a:ln>
            <a:noFill/>
          </a:ln>
        </p:spPr>
        <p:txBody>
          <a:bodyPr wrap="square" lIns="91440" tIns="45720" rIns="91440" bIns="45720" anchor="ctr"/>
          <a:lstStyle/>
          <a:p>
            <a:pPr algn="ctr">
              <a:buNone/>
            </a:pPr>
            <a:r>
              <a:rPr lang="en-US" sz="1200" b="1">
                <a:solidFill>
                  <a:srgbClr val="FFFFFF"/>
                </a:solidFill>
              </a:rPr>
              <a:t>FINAL EVALUATION</a:t>
            </a:r>
          </a:p>
        </p:txBody>
      </p:sp>
      <p:sp>
        <p:nvSpPr>
          <p:cNvPr id="922" name="Rows 0"/>
          <p:cNvSpPr/>
          <p:nvPr/>
        </p:nvSpPr>
        <p:spPr>
          <a:xfrm>
            <a:off x="607200" y="2580000"/>
            <a:ext cx="3510000" cy="1080000"/>
          </a:xfrm>
          <a:prstGeom prst="rect">
            <a:avLst/>
          </a:prstGeom>
          <a:noFill/>
          <a:ln>
            <a:noFill/>
          </a:ln>
        </p:spPr>
        <p:txBody>
          <a:bodyPr wrap="square" lIns="91440" tIns="45720" rIns="91440" bIns="45720" anchor="ctr"/>
          <a:lstStyle/>
          <a:p>
            <a:pPr algn="ctr">
              <a:buNone/>
            </a:pPr>
            <a:r>
              <a:rPr lang="en-US" sz="1600" b="1">
                <a:solidFill>
                  <a:srgbClr val="404040"/>
                </a:solidFill>
              </a:rPr>
              <a:t>Fit: </a:t>
            </a:r>
            <a:r>
              <a:rPr lang="en-US" sz="1600" b="1">
                <a:solidFill>
                  <a:srgbClr val="0B5583"/>
                </a:solidFill>
              </a:rPr>
              <a:t>2016–2024</a:t>
            </a:r>
          </a:p>
          <a:p>
            <a:pPr algn="ctr">
              <a:spcBef>
                <a:spcPts val="600"/>
              </a:spcBef>
              <a:buNone/>
            </a:pPr>
            <a:r>
              <a:rPr lang="en-US" sz="1600" b="1">
                <a:solidFill>
                  <a:srgbClr val="404040"/>
                </a:solidFill>
              </a:rPr>
              <a:t>Test: </a:t>
            </a:r>
            <a:r>
              <a:rPr lang="en-US" sz="1600" b="1">
                <a:solidFill>
                  <a:srgbClr val="0B5583"/>
                </a:solidFill>
              </a:rPr>
              <a:t>2025</a:t>
            </a:r>
          </a:p>
        </p:txBody>
      </p:sp>
      <p:sp>
        <p:nvSpPr>
          <p:cNvPr id="930" name="Panel 1"/>
          <p:cNvSpPr/>
          <p:nvPr/>
        </p:nvSpPr>
        <p:spPr>
          <a:xfrm>
            <a:off x="4876800" y="2060000"/>
            <a:ext cx="3810000" cy="1740000"/>
          </a:xfrm>
          <a:prstGeom prst="roundRect">
            <a:avLst/>
          </a:prstGeom>
          <a:solidFill>
            <a:srgbClr val="FFFFFF"/>
          </a:solidFill>
          <a:ln w="12700">
            <a:solidFill>
              <a:srgbClr val="E1E5EA"/>
            </a:solidFill>
          </a:ln>
        </p:spPr>
        <p:txBody>
          <a:bodyPr wrap="square" lIns="91440" tIns="45720" rIns="91440" bIns="45720" anchor="ctr"/>
          <a:lstStyle/>
          <a:p>
            <a:endParaRPr/>
          </a:p>
        </p:txBody>
      </p:sp>
      <p:sp>
        <p:nvSpPr>
          <p:cNvPr id="931" name="Head 1"/>
          <p:cNvSpPr/>
          <p:nvPr/>
        </p:nvSpPr>
        <p:spPr>
          <a:xfrm>
            <a:off x="4876800" y="2060000"/>
            <a:ext cx="3810000" cy="420000"/>
          </a:xfrm>
          <a:prstGeom prst="roundRect">
            <a:avLst/>
          </a:prstGeom>
          <a:solidFill>
            <a:srgbClr val="F7864C"/>
          </a:solidFill>
          <a:ln>
            <a:noFill/>
          </a:ln>
        </p:spPr>
        <p:txBody>
          <a:bodyPr wrap="square" lIns="91440" tIns="45720" rIns="91440" bIns="45720" anchor="ctr"/>
          <a:lstStyle/>
          <a:p>
            <a:pPr algn="ctr">
              <a:buNone/>
            </a:pPr>
            <a:r>
              <a:rPr lang="en-US" sz="1200" b="1">
                <a:solidFill>
                  <a:srgbClr val="FFFFFF"/>
                </a:solidFill>
              </a:rPr>
              <a:t>2026 PREDICTION</a:t>
            </a:r>
          </a:p>
        </p:txBody>
      </p:sp>
      <p:sp>
        <p:nvSpPr>
          <p:cNvPr id="932" name="Rows 1"/>
          <p:cNvSpPr/>
          <p:nvPr/>
        </p:nvSpPr>
        <p:spPr>
          <a:xfrm>
            <a:off x="5026800" y="2580000"/>
            <a:ext cx="3510000" cy="1080000"/>
          </a:xfrm>
          <a:prstGeom prst="rect">
            <a:avLst/>
          </a:prstGeom>
          <a:noFill/>
          <a:ln>
            <a:noFill/>
          </a:ln>
        </p:spPr>
        <p:txBody>
          <a:bodyPr wrap="square" lIns="91440" tIns="45720" rIns="91440" bIns="45720" anchor="ctr"/>
          <a:lstStyle/>
          <a:p>
            <a:pPr algn="ctr">
              <a:buNone/>
            </a:pPr>
            <a:r>
              <a:rPr lang="en-US" sz="1600" b="1">
                <a:solidFill>
                  <a:srgbClr val="404040"/>
                </a:solidFill>
              </a:rPr>
              <a:t>Refit: </a:t>
            </a:r>
            <a:r>
              <a:rPr lang="en-US" sz="1600" b="1">
                <a:solidFill>
                  <a:srgbClr val="F7864C"/>
                </a:solidFill>
              </a:rPr>
              <a:t>2016–2025</a:t>
            </a:r>
          </a:p>
          <a:p>
            <a:pPr algn="ctr">
              <a:spcBef>
                <a:spcPts val="600"/>
              </a:spcBef>
              <a:buNone/>
            </a:pPr>
            <a:r>
              <a:rPr lang="en-US" sz="1600" b="1">
                <a:solidFill>
                  <a:srgbClr val="404040"/>
                </a:solidFill>
              </a:rPr>
              <a:t>Predict: </a:t>
            </a:r>
            <a:r>
              <a:rPr lang="en-US" sz="1600" b="1">
                <a:solidFill>
                  <a:srgbClr val="F7864C"/>
                </a:solidFill>
              </a:rPr>
              <a:t>2026</a:t>
            </a:r>
          </a:p>
        </p:txBody>
      </p:sp>
      <p:sp>
        <p:nvSpPr>
          <p:cNvPr id="940" name="Arrow"/>
          <p:cNvSpPr/>
          <p:nvPr/>
        </p:nvSpPr>
        <p:spPr>
          <a:xfrm>
            <a:off x="4330000" y="2800000"/>
            <a:ext cx="470000" cy="260000"/>
          </a:xfrm>
          <a:prstGeom prst="rightArrow">
            <a:avLst/>
          </a:prstGeom>
          <a:solidFill>
            <a:srgbClr val="C3CDD6"/>
          </a:solidFill>
          <a:ln>
            <a:noFill/>
          </a:ln>
        </p:spPr>
        <p:txBody>
          <a:bodyPr wrap="square" lIns="91440" tIns="45720" rIns="91440" bIns="45720" anchor="ctr"/>
          <a:lstStyle/>
          <a:p>
            <a:endParaRPr/>
          </a:p>
        </p:txBody>
      </p:sp>
      <p:sp>
        <p:nvSpPr>
          <p:cNvPr id="950" name="Note"/>
          <p:cNvSpPr/>
          <p:nvPr/>
        </p:nvSpPr>
        <p:spPr>
          <a:xfrm>
            <a:off x="457200" y="4020000"/>
            <a:ext cx="8229600" cy="470000"/>
          </a:xfrm>
          <a:prstGeom prst="roundRect">
            <a:avLst/>
          </a:prstGeom>
          <a:solidFill>
            <a:srgbClr val="E4E7EA"/>
          </a:solidFill>
          <a:ln>
            <a:noFill/>
          </a:ln>
        </p:spPr>
        <p:txBody>
          <a:bodyPr wrap="square" lIns="91440" tIns="45720" rIns="91440" bIns="45720" anchor="ctr"/>
          <a:lstStyle/>
          <a:p>
            <a:pPr algn="ctr">
              <a:buNone/>
            </a:pPr>
            <a:r>
              <a:rPr lang="en-US" sz="1300">
                <a:solidFill>
                  <a:srgbClr val="0B5583"/>
                </a:solidFill>
              </a:rPr>
              <a:t>The recipe, predictors, and random forest specification remain unchanged.</a:t>
            </a:r>
          </a:p>
        </p:txBody>
      </p:sp>
    </p:spTree>
    <p:extLst>
      <p:ext uri="{BB962C8B-B14F-4D97-AF65-F5344CB8AC3E}">
        <p14:creationId xmlns:p14="http://schemas.microsoft.com/office/powerpoint/2010/main" val="37577885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0E734-6A67-3B58-537F-27629D6E5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85740B-12CB-C808-1395-EA792241715D}"/>
              </a:ext>
            </a:extLst>
          </p:cNvPr>
          <p:cNvSpPr>
            <a:spLocks noGrp="1"/>
          </p:cNvSpPr>
          <p:nvPr>
            <p:ph type="title"/>
          </p:nvPr>
        </p:nvSpPr>
        <p:spPr/>
        <p:txBody>
          <a:bodyPr/>
          <a:lstStyle/>
          <a:p>
            <a:r>
              <a:rPr lang="en-US"/>
              <a:t>The 2026 prediction data</a:t>
            </a:r>
          </a:p>
        </p:txBody>
      </p:sp>
      <p:pic>
        <p:nvPicPr>
          <p:cNvPr id="7" name="Picture 6" descr="Small_Logo.jpg">
            <a:extLst>
              <a:ext uri="{FF2B5EF4-FFF2-40B4-BE49-F238E27FC236}">
                <a16:creationId xmlns:a16="http://schemas.microsoft.com/office/drawing/2014/main" id="{C29C236A-CF2C-FEF9-E861-175892BCAEA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0" name="Step Split">
            <a:extLst>
              <a:ext uri="{FF2B5EF4-FFF2-40B4-BE49-F238E27FC236}">
                <a16:creationId xmlns:a16="http://schemas.microsoft.com/office/drawing/2014/main" id="{C7083DD5-B7CD-A161-0CF1-848A1CD6F61C}"/>
              </a:ext>
            </a:extLst>
          </p:cNvPr>
          <p:cNvSpPr/>
          <p:nvPr/>
        </p:nvSpPr>
        <p:spPr>
          <a:xfrm>
            <a:off x="43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Split</a:t>
            </a:r>
          </a:p>
        </p:txBody>
      </p:sp>
      <p:sp>
        <p:nvSpPr>
          <p:cNvPr id="901" name="Step Preprocess">
            <a:extLst>
              <a:ext uri="{FF2B5EF4-FFF2-40B4-BE49-F238E27FC236}">
                <a16:creationId xmlns:a16="http://schemas.microsoft.com/office/drawing/2014/main" id="{8D5F5B4C-DBF6-E9D8-9B4D-5B69E99551D2}"/>
              </a:ext>
            </a:extLst>
          </p:cNvPr>
          <p:cNvSpPr/>
          <p:nvPr/>
        </p:nvSpPr>
        <p:spPr>
          <a:xfrm>
            <a:off x="211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Preprocess</a:t>
            </a:r>
          </a:p>
        </p:txBody>
      </p:sp>
      <p:sp>
        <p:nvSpPr>
          <p:cNvPr id="902" name="Step Specify">
            <a:extLst>
              <a:ext uri="{FF2B5EF4-FFF2-40B4-BE49-F238E27FC236}">
                <a16:creationId xmlns:a16="http://schemas.microsoft.com/office/drawing/2014/main" id="{84A0EE13-94AB-643A-F870-EAB8264D5864}"/>
              </a:ext>
            </a:extLst>
          </p:cNvPr>
          <p:cNvSpPr/>
          <p:nvPr/>
        </p:nvSpPr>
        <p:spPr>
          <a:xfrm>
            <a:off x="379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Specify</a:t>
            </a:r>
          </a:p>
        </p:txBody>
      </p:sp>
      <p:sp>
        <p:nvSpPr>
          <p:cNvPr id="903" name="Step Fit">
            <a:extLst>
              <a:ext uri="{FF2B5EF4-FFF2-40B4-BE49-F238E27FC236}">
                <a16:creationId xmlns:a16="http://schemas.microsoft.com/office/drawing/2014/main" id="{7F701831-ECBB-721F-C73E-1FD2DE86C591}"/>
              </a:ext>
            </a:extLst>
          </p:cNvPr>
          <p:cNvSpPr/>
          <p:nvPr/>
        </p:nvSpPr>
        <p:spPr>
          <a:xfrm>
            <a:off x="5472000" y="1140000"/>
            <a:ext cx="1560000" cy="300000"/>
          </a:xfrm>
          <a:prstGeom prst="roundRect">
            <a:avLst>
              <a:gd name="adj" fmla="val 50000"/>
            </a:avLst>
          </a:prstGeom>
          <a:solidFill>
            <a:srgbClr val="1B87B9"/>
          </a:solidFill>
          <a:ln>
            <a:noFill/>
          </a:ln>
        </p:spPr>
        <p:txBody>
          <a:bodyPr wrap="square" lIns="45720" tIns="18000" rIns="45720" bIns="18000" anchor="ctr"/>
          <a:lstStyle/>
          <a:p>
            <a:pPr algn="ctr"/>
            <a:r>
              <a:rPr lang="en-US" sz="1100" b="1">
                <a:solidFill>
                  <a:srgbClr val="FFFFFF"/>
                </a:solidFill>
              </a:rPr>
              <a:t>Fit</a:t>
            </a:r>
          </a:p>
        </p:txBody>
      </p:sp>
      <p:sp>
        <p:nvSpPr>
          <p:cNvPr id="904" name="Step Evaluate">
            <a:extLst>
              <a:ext uri="{FF2B5EF4-FFF2-40B4-BE49-F238E27FC236}">
                <a16:creationId xmlns:a16="http://schemas.microsoft.com/office/drawing/2014/main" id="{6A93DDF6-A0C3-82BC-CC5E-8AB633538262}"/>
              </a:ext>
            </a:extLst>
          </p:cNvPr>
          <p:cNvSpPr/>
          <p:nvPr/>
        </p:nvSpPr>
        <p:spPr>
          <a:xfrm>
            <a:off x="7152000" y="1140000"/>
            <a:ext cx="1560000" cy="300000"/>
          </a:xfrm>
          <a:prstGeom prst="roundRect">
            <a:avLst>
              <a:gd name="adj" fmla="val 50000"/>
            </a:avLst>
          </a:prstGeom>
          <a:solidFill>
            <a:srgbClr val="E1E5EA"/>
          </a:solidFill>
          <a:ln>
            <a:noFill/>
          </a:ln>
        </p:spPr>
        <p:txBody>
          <a:bodyPr wrap="square" lIns="45720" tIns="18000" rIns="45720" bIns="18000" anchor="ctr"/>
          <a:lstStyle/>
          <a:p>
            <a:pPr algn="ctr"/>
            <a:r>
              <a:rPr lang="en-US" sz="1100">
                <a:solidFill>
                  <a:srgbClr val="7A7A7A"/>
                </a:solidFill>
              </a:rPr>
              <a:t>Evaluate</a:t>
            </a:r>
          </a:p>
        </p:txBody>
      </p:sp>
      <p:sp>
        <p:nvSpPr>
          <p:cNvPr id="910" name="Statement"/>
          <p:cNvSpPr/>
          <p:nvPr/>
        </p:nvSpPr>
        <p:spPr>
          <a:xfrm>
            <a:off x="457200" y="1530000"/>
            <a:ext cx="8229600" cy="420000"/>
          </a:xfrm>
          <a:prstGeom prst="rect">
            <a:avLst/>
          </a:prstGeom>
          <a:noFill/>
          <a:ln>
            <a:noFill/>
          </a:ln>
        </p:spPr>
        <p:txBody>
          <a:bodyPr wrap="square" lIns="72000" tIns="36000" rIns="72000" bIns="36000" anchor="ctr"/>
          <a:lstStyle/>
          <a:p>
            <a:pPr algn="ctr">
              <a:buNone/>
            </a:pPr>
            <a:r>
              <a:rPr lang="en-US" sz="1400" b="1">
                <a:solidFill>
                  <a:srgbClr val="0B5583"/>
                </a:solidFill>
              </a:rPr>
              <a:t>The 2026 rows contain the same predictors at the same season checkpoint, but the outcome is still unknown.</a:t>
            </a:r>
          </a:p>
        </p:txBody>
      </p:sp>
      <p:graphicFrame>
        <p:nvGraphicFramePr>
          <p:cNvPr id="920" name="Input table"/>
          <p:cNvGraphicFramePr>
            <a:graphicFrameLocks noGrp="1"/>
          </p:cNvGraphicFramePr>
          <p:nvPr>
            <p:extLst>
              <p:ext uri="{D42A27DB-BD31-4B8C-83A1-F6EECF244321}">
                <p14:modId xmlns:p14="http://schemas.microsoft.com/office/powerpoint/2010/main" val="1391830309"/>
              </p:ext>
            </p:extLst>
          </p:nvPr>
        </p:nvGraphicFramePr>
        <p:xfrm>
          <a:off x="457200" y="1950000"/>
          <a:ext cx="8229600" cy="1460000"/>
        </p:xfrm>
        <a:graphic>
          <a:graphicData uri="http://schemas.openxmlformats.org/drawingml/2006/table">
            <a:tbl>
              <a:tblPr firstRow="1" bandRow="1"/>
              <a:tblGrid>
                <a:gridCol w="2516244">
                  <a:extLst>
                    <a:ext uri="{9D8B030D-6E8A-4147-A177-3AD203B41FA5}">
                      <a16:colId xmlns:a16="http://schemas.microsoft.com/office/drawing/2014/main" val="20000"/>
                    </a:ext>
                  </a:extLst>
                </a:gridCol>
                <a:gridCol w="1124909">
                  <a:extLst>
                    <a:ext uri="{9D8B030D-6E8A-4147-A177-3AD203B41FA5}">
                      <a16:colId xmlns:a16="http://schemas.microsoft.com/office/drawing/2014/main" val="20001"/>
                    </a:ext>
                  </a:extLst>
                </a:gridCol>
                <a:gridCol w="1628158">
                  <a:extLst>
                    <a:ext uri="{9D8B030D-6E8A-4147-A177-3AD203B41FA5}">
                      <a16:colId xmlns:a16="http://schemas.microsoft.com/office/drawing/2014/main" val="20002"/>
                    </a:ext>
                  </a:extLst>
                </a:gridCol>
                <a:gridCol w="1628158">
                  <a:extLst>
                    <a:ext uri="{9D8B030D-6E8A-4147-A177-3AD203B41FA5}">
                      <a16:colId xmlns:a16="http://schemas.microsoft.com/office/drawing/2014/main" val="20003"/>
                    </a:ext>
                  </a:extLst>
                </a:gridCol>
                <a:gridCol w="1332131">
                  <a:extLst>
                    <a:ext uri="{9D8B030D-6E8A-4147-A177-3AD203B41FA5}">
                      <a16:colId xmlns:a16="http://schemas.microsoft.com/office/drawing/2014/main" val="20004"/>
                    </a:ext>
                  </a:extLst>
                </a:gridCol>
              </a:tblGrid>
              <a:tr h="300000">
                <a:tc>
                  <a:txBody>
                    <a:bodyPr/>
                    <a:lstStyle/>
                    <a:p>
                      <a:pPr algn="ctr"/>
                      <a:r>
                        <a:rPr lang="en-US" sz="900" b="1">
                          <a:solidFill>
                            <a:srgbClr val="FFFFFF"/>
                          </a:solidFill>
                        </a:rPr>
                        <a:t>team</a:t>
                      </a:r>
                    </a:p>
                  </a:txBody>
                  <a:tcPr marL="54000" marR="54000" marT="27000" marB="27000" anchor="ctr">
                    <a:solidFill>
                      <a:srgbClr val="1B87B9"/>
                    </a:solidFill>
                  </a:tcPr>
                </a:tc>
                <a:tc>
                  <a:txBody>
                    <a:bodyPr/>
                    <a:lstStyle/>
                    <a:p>
                      <a:pPr algn="ctr"/>
                      <a:r>
                        <a:rPr lang="en-US" sz="900" b="1">
                          <a:solidFill>
                            <a:srgbClr val="FFFFFF"/>
                          </a:solidFill>
                        </a:rPr>
                        <a:t>season_pct</a:t>
                      </a:r>
                    </a:p>
                  </a:txBody>
                  <a:tcPr marL="54000" marR="54000" marT="27000" marB="27000" anchor="ctr">
                    <a:solidFill>
                      <a:srgbClr val="1B87B9"/>
                    </a:solidFill>
                  </a:tcPr>
                </a:tc>
                <a:tc>
                  <a:txBody>
                    <a:bodyPr/>
                    <a:lstStyle/>
                    <a:p>
                      <a:pPr algn="ctr"/>
                      <a:r>
                        <a:rPr lang="en-US" sz="900" b="1">
                          <a:solidFill>
                            <a:srgbClr val="FFFFFF"/>
                          </a:solidFill>
                        </a:rPr>
                        <a:t>points_per_game</a:t>
                      </a:r>
                    </a:p>
                  </a:txBody>
                  <a:tcPr marL="54000" marR="54000" marT="27000" marB="27000" anchor="ctr">
                    <a:solidFill>
                      <a:srgbClr val="1B87B9"/>
                    </a:solidFill>
                  </a:tcPr>
                </a:tc>
                <a:tc>
                  <a:txBody>
                    <a:bodyPr/>
                    <a:lstStyle/>
                    <a:p>
                      <a:pPr algn="ctr"/>
                      <a:r>
                        <a:rPr lang="en-US" sz="900" b="1">
                          <a:solidFill>
                            <a:srgbClr val="FFFFFF"/>
                          </a:solidFill>
                        </a:rPr>
                        <a:t>goal_diff_per_game</a:t>
                      </a:r>
                    </a:p>
                  </a:txBody>
                  <a:tcPr marL="54000" marR="54000" marT="27000" marB="27000" anchor="ctr">
                    <a:solidFill>
                      <a:srgbClr val="1B87B9"/>
                    </a:solidFill>
                  </a:tcPr>
                </a:tc>
                <a:tc>
                  <a:txBody>
                    <a:bodyPr/>
                    <a:lstStyle/>
                    <a:p>
                      <a:pPr algn="ctr"/>
                      <a:r>
                        <a:rPr lang="en-US" sz="900" b="1">
                          <a:solidFill>
                            <a:srgbClr val="FFFFFF"/>
                          </a:solidFill>
                        </a:rPr>
                        <a:t>made_playoffs</a:t>
                      </a:r>
                    </a:p>
                  </a:txBody>
                  <a:tcPr marL="54000" marR="54000" marT="27000" marB="27000" anchor="ctr">
                    <a:solidFill>
                      <a:srgbClr val="1B87B9"/>
                    </a:solidFill>
                  </a:tcPr>
                </a:tc>
                <a:extLst>
                  <a:ext uri="{0D108BD9-81ED-4DB2-BD59-A6C34878D82A}">
                    <a16:rowId xmlns:a16="http://schemas.microsoft.com/office/drawing/2014/main" val="10000"/>
                  </a:ext>
                </a:extLst>
              </a:tr>
              <a:tr h="290000">
                <a:tc>
                  <a:txBody>
                    <a:bodyPr/>
                    <a:lstStyle/>
                    <a:p>
                      <a:pPr algn="l"/>
                      <a:r>
                        <a:rPr lang="en-US" sz="1000" b="1">
                          <a:solidFill>
                            <a:srgbClr val="0B5583"/>
                          </a:solidFill>
                        </a:rPr>
                        <a:t>Washington Spirit</a:t>
                      </a:r>
                    </a:p>
                  </a:txBody>
                  <a:tcPr marL="54000" marR="54000" marT="27000" marB="27000" anchor="ctr">
                    <a:solidFill>
                      <a:srgbClr val="FFFFFF"/>
                    </a:solidFill>
                  </a:tcPr>
                </a:tc>
                <a:tc>
                  <a:txBody>
                    <a:bodyPr/>
                    <a:lstStyle/>
                    <a:p>
                      <a:pPr algn="ctr"/>
                      <a:r>
                        <a:rPr lang="en-US" sz="1000">
                          <a:solidFill>
                            <a:srgbClr val="404040"/>
                          </a:solidFill>
                        </a:rPr>
                        <a:t>60%</a:t>
                      </a:r>
                    </a:p>
                  </a:txBody>
                  <a:tcPr marL="54000" marR="54000" marT="27000" marB="27000" anchor="ctr">
                    <a:solidFill>
                      <a:srgbClr val="FFFFFF"/>
                    </a:solidFill>
                  </a:tcPr>
                </a:tc>
                <a:tc>
                  <a:txBody>
                    <a:bodyPr/>
                    <a:lstStyle/>
                    <a:p>
                      <a:pPr algn="ctr"/>
                      <a:r>
                        <a:rPr lang="en-US" sz="1000">
                          <a:solidFill>
                            <a:srgbClr val="404040"/>
                          </a:solidFill>
                        </a:rPr>
                        <a:t>1.89</a:t>
                      </a:r>
                    </a:p>
                  </a:txBody>
                  <a:tcPr marL="54000" marR="54000" marT="27000" marB="27000" anchor="ctr">
                    <a:solidFill>
                      <a:srgbClr val="FFFFFF"/>
                    </a:solidFill>
                  </a:tcPr>
                </a:tc>
                <a:tc>
                  <a:txBody>
                    <a:bodyPr/>
                    <a:lstStyle/>
                    <a:p>
                      <a:pPr algn="ctr"/>
                      <a:r>
                        <a:rPr lang="en-US" sz="1000">
                          <a:solidFill>
                            <a:srgbClr val="404040"/>
                          </a:solidFill>
                        </a:rPr>
                        <a:t>0.63</a:t>
                      </a:r>
                    </a:p>
                  </a:txBody>
                  <a:tcPr marL="54000" marR="54000" marT="27000" marB="27000" anchor="ctr">
                    <a:solidFill>
                      <a:srgbClr val="FFFFFF"/>
                    </a:solidFill>
                  </a:tcPr>
                </a:tc>
                <a:tc>
                  <a:txBody>
                    <a:bodyPr/>
                    <a:lstStyle/>
                    <a:p>
                      <a:pPr algn="ctr"/>
                      <a:r>
                        <a:rPr lang="en-US" sz="1000" b="1">
                          <a:solidFill>
                            <a:srgbClr val="F7864C"/>
                          </a:solidFill>
                        </a:rPr>
                        <a:t>?</a:t>
                      </a:r>
                    </a:p>
                  </a:txBody>
                  <a:tcPr marL="54000" marR="54000" marT="27000" marB="27000" anchor="ctr">
                    <a:solidFill>
                      <a:srgbClr val="FFFFFF"/>
                    </a:solidFill>
                  </a:tcPr>
                </a:tc>
                <a:extLst>
                  <a:ext uri="{0D108BD9-81ED-4DB2-BD59-A6C34878D82A}">
                    <a16:rowId xmlns:a16="http://schemas.microsoft.com/office/drawing/2014/main" val="10001"/>
                  </a:ext>
                </a:extLst>
              </a:tr>
              <a:tr h="290000">
                <a:tc>
                  <a:txBody>
                    <a:bodyPr/>
                    <a:lstStyle/>
                    <a:p>
                      <a:pPr algn="l"/>
                      <a:r>
                        <a:rPr lang="en-US" sz="1000" b="1">
                          <a:solidFill>
                            <a:srgbClr val="0B5583"/>
                          </a:solidFill>
                        </a:rPr>
                        <a:t>Gotham FC</a:t>
                      </a:r>
                    </a:p>
                  </a:txBody>
                  <a:tcPr marL="54000" marR="54000" marT="27000" marB="27000" anchor="ctr">
                    <a:solidFill>
                      <a:srgbClr val="F2F6F9"/>
                    </a:solidFill>
                  </a:tcPr>
                </a:tc>
                <a:tc>
                  <a:txBody>
                    <a:bodyPr/>
                    <a:lstStyle/>
                    <a:p>
                      <a:pPr algn="ctr"/>
                      <a:r>
                        <a:rPr lang="en-US" sz="1000">
                          <a:solidFill>
                            <a:srgbClr val="404040"/>
                          </a:solidFill>
                        </a:rPr>
                        <a:t>60%</a:t>
                      </a:r>
                    </a:p>
                  </a:txBody>
                  <a:tcPr marL="54000" marR="54000" marT="27000" marB="27000" anchor="ctr">
                    <a:solidFill>
                      <a:srgbClr val="F2F6F9"/>
                    </a:solidFill>
                  </a:tcPr>
                </a:tc>
                <a:tc>
                  <a:txBody>
                    <a:bodyPr/>
                    <a:lstStyle/>
                    <a:p>
                      <a:pPr algn="ctr"/>
                      <a:r>
                        <a:rPr lang="en-US" sz="1000">
                          <a:solidFill>
                            <a:srgbClr val="404040"/>
                          </a:solidFill>
                        </a:rPr>
                        <a:t>2.11</a:t>
                      </a:r>
                    </a:p>
                  </a:txBody>
                  <a:tcPr marL="54000" marR="54000" marT="27000" marB="27000" anchor="ctr">
                    <a:solidFill>
                      <a:srgbClr val="F2F6F9"/>
                    </a:solidFill>
                  </a:tcPr>
                </a:tc>
                <a:tc>
                  <a:txBody>
                    <a:bodyPr/>
                    <a:lstStyle/>
                    <a:p>
                      <a:pPr algn="ctr"/>
                      <a:r>
                        <a:rPr lang="en-US" sz="1000">
                          <a:solidFill>
                            <a:srgbClr val="404040"/>
                          </a:solidFill>
                        </a:rPr>
                        <a:t>0.63</a:t>
                      </a:r>
                    </a:p>
                  </a:txBody>
                  <a:tcPr marL="54000" marR="54000" marT="27000" marB="27000" anchor="ctr">
                    <a:solidFill>
                      <a:srgbClr val="F2F6F9"/>
                    </a:solidFill>
                  </a:tcPr>
                </a:tc>
                <a:tc>
                  <a:txBody>
                    <a:bodyPr/>
                    <a:lstStyle/>
                    <a:p>
                      <a:pPr algn="ctr"/>
                      <a:r>
                        <a:rPr lang="en-US" sz="1000" b="1">
                          <a:solidFill>
                            <a:srgbClr val="F7864C"/>
                          </a:solidFill>
                        </a:rPr>
                        <a:t>?</a:t>
                      </a:r>
                    </a:p>
                  </a:txBody>
                  <a:tcPr marL="54000" marR="54000" marT="27000" marB="27000" anchor="ctr">
                    <a:solidFill>
                      <a:srgbClr val="F2F6F9"/>
                    </a:solidFill>
                  </a:tcPr>
                </a:tc>
                <a:extLst>
                  <a:ext uri="{0D108BD9-81ED-4DB2-BD59-A6C34878D82A}">
                    <a16:rowId xmlns:a16="http://schemas.microsoft.com/office/drawing/2014/main" val="10002"/>
                  </a:ext>
                </a:extLst>
              </a:tr>
              <a:tr h="290000">
                <a:tc>
                  <a:txBody>
                    <a:bodyPr/>
                    <a:lstStyle/>
                    <a:p>
                      <a:pPr algn="l"/>
                      <a:r>
                        <a:rPr lang="en-US" sz="1000" b="1">
                          <a:solidFill>
                            <a:srgbClr val="0B5583"/>
                          </a:solidFill>
                        </a:rPr>
                        <a:t>San Diego Wave FC</a:t>
                      </a:r>
                    </a:p>
                  </a:txBody>
                  <a:tcPr marL="54000" marR="54000" marT="27000" marB="27000" anchor="ctr">
                    <a:solidFill>
                      <a:schemeClr val="bg1"/>
                    </a:solidFill>
                  </a:tcPr>
                </a:tc>
                <a:tc>
                  <a:txBody>
                    <a:bodyPr/>
                    <a:lstStyle/>
                    <a:p>
                      <a:pPr algn="ctr"/>
                      <a:r>
                        <a:rPr lang="en-US" sz="1000">
                          <a:solidFill>
                            <a:srgbClr val="404040"/>
                          </a:solidFill>
                        </a:rPr>
                        <a:t>60%</a:t>
                      </a:r>
                    </a:p>
                  </a:txBody>
                  <a:tcPr marL="54000" marR="54000" marT="27000" marB="27000" anchor="ctr">
                    <a:solidFill>
                      <a:schemeClr val="bg1"/>
                    </a:solidFill>
                  </a:tcPr>
                </a:tc>
                <a:tc>
                  <a:txBody>
                    <a:bodyPr/>
                    <a:lstStyle/>
                    <a:p>
                      <a:pPr algn="ctr"/>
                      <a:r>
                        <a:rPr lang="en-US" sz="1000">
                          <a:solidFill>
                            <a:srgbClr val="404040"/>
                          </a:solidFill>
                        </a:rPr>
                        <a:t>1.68</a:t>
                      </a:r>
                    </a:p>
                  </a:txBody>
                  <a:tcPr marL="54000" marR="54000" marT="27000" marB="27000" anchor="ctr">
                    <a:solidFill>
                      <a:schemeClr val="bg1"/>
                    </a:solidFill>
                  </a:tcPr>
                </a:tc>
                <a:tc>
                  <a:txBody>
                    <a:bodyPr/>
                    <a:lstStyle/>
                    <a:p>
                      <a:pPr algn="ctr"/>
                      <a:r>
                        <a:rPr lang="en-US" sz="1000">
                          <a:solidFill>
                            <a:srgbClr val="404040"/>
                          </a:solidFill>
                        </a:rPr>
                        <a:t>0.21</a:t>
                      </a:r>
                    </a:p>
                  </a:txBody>
                  <a:tcPr marL="54000" marR="54000" marT="27000" marB="27000" anchor="ctr">
                    <a:solidFill>
                      <a:schemeClr val="bg1"/>
                    </a:solidFill>
                  </a:tcPr>
                </a:tc>
                <a:tc>
                  <a:txBody>
                    <a:bodyPr/>
                    <a:lstStyle/>
                    <a:p>
                      <a:pPr marL="0" marR="0" lvl="0" indent="0" algn="ctr" defTabSz="342892" rtl="0" eaLnBrk="1" fontAlgn="auto" latinLnBrk="0" hangingPunct="1">
                        <a:lnSpc>
                          <a:spcPct val="100000"/>
                        </a:lnSpc>
                        <a:spcBef>
                          <a:spcPts val="0"/>
                        </a:spcBef>
                        <a:spcAft>
                          <a:spcPts val="0"/>
                        </a:spcAft>
                        <a:buClrTx/>
                        <a:buSzTx/>
                        <a:buFontTx/>
                        <a:buNone/>
                        <a:tabLst/>
                        <a:defRPr/>
                      </a:pPr>
                      <a:r>
                        <a:rPr lang="en-US" sz="1000" b="1">
                          <a:solidFill>
                            <a:srgbClr val="F7864C"/>
                          </a:solidFill>
                        </a:rPr>
                        <a:t>?</a:t>
                      </a:r>
                    </a:p>
                  </a:txBody>
                  <a:tcPr marL="54000" marR="54000" marT="27000" marB="27000" anchor="ctr">
                    <a:solidFill>
                      <a:schemeClr val="bg1"/>
                    </a:solidFill>
                  </a:tcPr>
                </a:tc>
                <a:extLst>
                  <a:ext uri="{0D108BD9-81ED-4DB2-BD59-A6C34878D82A}">
                    <a16:rowId xmlns:a16="http://schemas.microsoft.com/office/drawing/2014/main" val="4162555150"/>
                  </a:ext>
                </a:extLst>
              </a:tr>
              <a:tr h="290000">
                <a:tc>
                  <a:txBody>
                    <a:bodyPr/>
                    <a:lstStyle/>
                    <a:p>
                      <a:pPr algn="l"/>
                      <a:r>
                        <a:rPr lang="en-US" sz="1000" b="1">
                          <a:solidFill>
                            <a:srgbClr val="0B5583"/>
                          </a:solidFill>
                        </a:rPr>
                        <a:t>Portland Thorns FC</a:t>
                      </a:r>
                    </a:p>
                  </a:txBody>
                  <a:tcPr marL="54000" marR="54000" marT="27000" marB="27000" anchor="ctr">
                    <a:solidFill>
                      <a:srgbClr val="F2F6F9"/>
                    </a:solidFill>
                  </a:tcPr>
                </a:tc>
                <a:tc>
                  <a:txBody>
                    <a:bodyPr/>
                    <a:lstStyle/>
                    <a:p>
                      <a:pPr algn="ctr"/>
                      <a:r>
                        <a:rPr lang="en-US" sz="1000">
                          <a:solidFill>
                            <a:srgbClr val="404040"/>
                          </a:solidFill>
                        </a:rPr>
                        <a:t>60%</a:t>
                      </a:r>
                    </a:p>
                  </a:txBody>
                  <a:tcPr marL="54000" marR="54000" marT="27000" marB="27000" anchor="ctr">
                    <a:solidFill>
                      <a:srgbClr val="F2F6F9"/>
                    </a:solidFill>
                  </a:tcPr>
                </a:tc>
                <a:tc>
                  <a:txBody>
                    <a:bodyPr/>
                    <a:lstStyle/>
                    <a:p>
                      <a:pPr algn="ctr"/>
                      <a:r>
                        <a:rPr lang="en-US" sz="1000">
                          <a:solidFill>
                            <a:srgbClr val="404040"/>
                          </a:solidFill>
                        </a:rPr>
                        <a:t>1.55</a:t>
                      </a:r>
                    </a:p>
                  </a:txBody>
                  <a:tcPr marL="54000" marR="54000" marT="27000" marB="27000" anchor="ctr">
                    <a:solidFill>
                      <a:srgbClr val="F2F6F9"/>
                    </a:solidFill>
                  </a:tcPr>
                </a:tc>
                <a:tc>
                  <a:txBody>
                    <a:bodyPr/>
                    <a:lstStyle/>
                    <a:p>
                      <a:pPr algn="ctr"/>
                      <a:r>
                        <a:rPr lang="en-US" sz="1000">
                          <a:solidFill>
                            <a:srgbClr val="404040"/>
                          </a:solidFill>
                        </a:rPr>
                        <a:t>0.17</a:t>
                      </a:r>
                    </a:p>
                  </a:txBody>
                  <a:tcPr marL="54000" marR="54000" marT="27000" marB="27000" anchor="ctr">
                    <a:solidFill>
                      <a:srgbClr val="F2F6F9"/>
                    </a:solidFill>
                  </a:tcPr>
                </a:tc>
                <a:tc>
                  <a:txBody>
                    <a:bodyPr/>
                    <a:lstStyle/>
                    <a:p>
                      <a:pPr marL="0" marR="0" lvl="0" indent="0" algn="ctr" defTabSz="342892" rtl="0" eaLnBrk="1" fontAlgn="auto" latinLnBrk="0" hangingPunct="1">
                        <a:lnSpc>
                          <a:spcPct val="100000"/>
                        </a:lnSpc>
                        <a:spcBef>
                          <a:spcPts val="0"/>
                        </a:spcBef>
                        <a:spcAft>
                          <a:spcPts val="0"/>
                        </a:spcAft>
                        <a:buClrTx/>
                        <a:buSzTx/>
                        <a:buFontTx/>
                        <a:buNone/>
                        <a:tabLst/>
                        <a:defRPr/>
                      </a:pPr>
                      <a:r>
                        <a:rPr lang="en-US" sz="1000" b="1">
                          <a:solidFill>
                            <a:srgbClr val="F7864C"/>
                          </a:solidFill>
                        </a:rPr>
                        <a:t>?</a:t>
                      </a:r>
                    </a:p>
                  </a:txBody>
                  <a:tcPr marL="54000" marR="54000" marT="27000" marB="27000" anchor="ctr">
                    <a:solidFill>
                      <a:srgbClr val="F2F6F9"/>
                    </a:solidFill>
                  </a:tcPr>
                </a:tc>
                <a:extLst>
                  <a:ext uri="{0D108BD9-81ED-4DB2-BD59-A6C34878D82A}">
                    <a16:rowId xmlns:a16="http://schemas.microsoft.com/office/drawing/2014/main" val="747300407"/>
                  </a:ext>
                </a:extLst>
              </a:tr>
            </a:tbl>
          </a:graphicData>
        </a:graphic>
      </p:graphicFrame>
      <p:sp>
        <p:nvSpPr>
          <p:cNvPr id="913" name="MoreNote"/>
          <p:cNvSpPr/>
          <p:nvPr/>
        </p:nvSpPr>
        <p:spPr>
          <a:xfrm>
            <a:off x="482400" y="3410000"/>
            <a:ext cx="8229600" cy="260000"/>
          </a:xfrm>
          <a:prstGeom prst="rect">
            <a:avLst/>
          </a:prstGeom>
          <a:noFill/>
          <a:ln>
            <a:noFill/>
          </a:ln>
        </p:spPr>
        <p:txBody>
          <a:bodyPr wrap="square" lIns="72000" tIns="36000" rIns="72000" bIns="36000" anchor="ctr"/>
          <a:lstStyle/>
          <a:p>
            <a:pPr algn="l">
              <a:buNone/>
            </a:pPr>
            <a:r>
              <a:rPr lang="en-US" sz="1000">
                <a:solidFill>
                  <a:srgbClr val="9AA5AD"/>
                </a:solidFill>
              </a:rPr>
              <a:t>+ additional teams and current-season statistics</a:t>
            </a:r>
          </a:p>
        </p:txBody>
      </p:sp>
      <p:sp>
        <p:nvSpPr>
          <p:cNvPr id="950" name="Note"/>
          <p:cNvSpPr/>
          <p:nvPr/>
        </p:nvSpPr>
        <p:spPr>
          <a:xfrm>
            <a:off x="426174" y="3752888"/>
            <a:ext cx="8229600" cy="700000"/>
          </a:xfrm>
          <a:prstGeom prst="roundRect">
            <a:avLst/>
          </a:prstGeom>
          <a:solidFill>
            <a:srgbClr val="E4E7EA"/>
          </a:solidFill>
          <a:ln>
            <a:noFill/>
          </a:ln>
        </p:spPr>
        <p:txBody>
          <a:bodyPr wrap="square" lIns="72000" tIns="36000" rIns="72000" bIns="36000" anchor="ctr"/>
          <a:lstStyle/>
          <a:p>
            <a:pPr algn="ctr">
              <a:buNone/>
            </a:pPr>
            <a:r>
              <a:rPr lang="en-US" sz="1200" b="1">
                <a:solidFill>
                  <a:srgbClr val="0B5583"/>
                </a:solidFill>
              </a:rPr>
              <a:t>These are model scores, not calibrated playoff odds.</a:t>
            </a:r>
          </a:p>
          <a:p>
            <a:pPr algn="ctr">
              <a:buNone/>
            </a:pPr>
            <a:r>
              <a:rPr lang="en-US" sz="1200">
                <a:solidFill>
                  <a:srgbClr val="404040"/>
                </a:solidFill>
              </a:rPr>
              <a:t>We cannot evaluate the 2026 predictions until the season ends.</a:t>
            </a:r>
          </a:p>
        </p:txBody>
      </p:sp>
    </p:spTree>
    <p:extLst>
      <p:ext uri="{BB962C8B-B14F-4D97-AF65-F5344CB8AC3E}">
        <p14:creationId xmlns:p14="http://schemas.microsoft.com/office/powerpoint/2010/main" val="1081707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62F91-2D44-0EF6-DBB3-B240A98CE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949157-05AC-A4A7-914D-A13B72E954C0}"/>
              </a:ext>
            </a:extLst>
          </p:cNvPr>
          <p:cNvSpPr>
            <a:spLocks noGrp="1"/>
          </p:cNvSpPr>
          <p:nvPr>
            <p:ph type="title"/>
          </p:nvPr>
        </p:nvSpPr>
        <p:spPr/>
        <p:txBody>
          <a:bodyPr/>
          <a:lstStyle/>
          <a:p>
            <a:r>
              <a:rPr lang="en-US"/>
              <a:t>So…will the Spirit make the playoffs?</a:t>
            </a:r>
          </a:p>
        </p:txBody>
      </p:sp>
      <p:pic>
        <p:nvPicPr>
          <p:cNvPr id="7" name="Picture 6" descr="Small_Logo.jpg">
            <a:extLst>
              <a:ext uri="{FF2B5EF4-FFF2-40B4-BE49-F238E27FC236}">
                <a16:creationId xmlns:a16="http://schemas.microsoft.com/office/drawing/2014/main" id="{214A702E-6305-2857-D170-34A004AE27F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am Label"/>
          <p:cNvSpPr txBox="1"/>
          <p:nvPr/>
        </p:nvSpPr>
        <p:spPr>
          <a:xfrm>
            <a:off x="1072000" y="1230000"/>
            <a:ext cx="7000000" cy="320000"/>
          </a:xfrm>
          <a:prstGeom prst="rect">
            <a:avLst/>
          </a:prstGeom>
          <a:noFill/>
        </p:spPr>
        <p:txBody>
          <a:bodyPr wrap="square" lIns="0" tIns="0" rIns="0" bIns="0" anchor="ctr"/>
          <a:lstStyle/>
          <a:p>
            <a:pPr algn="ctr">
              <a:buNone/>
            </a:pPr>
            <a:r>
              <a:rPr lang="en-US" sz="1600" b="1" spc="400">
                <a:solidFill>
                  <a:srgbClr val="0B5583"/>
                </a:solidFill>
              </a:rPr>
              <a:t>WASHINGTON SPIRIT</a:t>
            </a:r>
          </a:p>
        </p:txBody>
      </p:sp>
      <p:sp>
        <p:nvSpPr>
          <p:cNvPr id="10" name="Big Number"/>
          <p:cNvSpPr txBox="1"/>
          <p:nvPr/>
        </p:nvSpPr>
        <p:spPr>
          <a:xfrm>
            <a:off x="1072000" y="1500000"/>
            <a:ext cx="7000000" cy="1360000"/>
          </a:xfrm>
          <a:prstGeom prst="rect">
            <a:avLst/>
          </a:prstGeom>
          <a:noFill/>
        </p:spPr>
        <p:txBody>
          <a:bodyPr wrap="square" lIns="0" tIns="0" rIns="0" bIns="0" anchor="ctr"/>
          <a:lstStyle/>
          <a:p>
            <a:pPr algn="ctr">
              <a:buNone/>
            </a:pPr>
            <a:r>
              <a:rPr lang="en-US" sz="9600" b="1">
                <a:solidFill>
                  <a:srgbClr val="0B5583"/>
                </a:solidFill>
              </a:rPr>
              <a:t>99%</a:t>
            </a:r>
          </a:p>
        </p:txBody>
      </p:sp>
      <p:sp>
        <p:nvSpPr>
          <p:cNvPr id="11" name="Score Label"/>
          <p:cNvSpPr txBox="1"/>
          <p:nvPr/>
        </p:nvSpPr>
        <p:spPr>
          <a:xfrm>
            <a:off x="1072000" y="2830000"/>
            <a:ext cx="7000000" cy="300000"/>
          </a:xfrm>
          <a:prstGeom prst="rect">
            <a:avLst/>
          </a:prstGeom>
          <a:noFill/>
        </p:spPr>
        <p:txBody>
          <a:bodyPr wrap="square" lIns="0" tIns="0" rIns="0" bIns="0" anchor="ctr"/>
          <a:lstStyle/>
          <a:p>
            <a:pPr algn="ctr">
              <a:buNone/>
            </a:pPr>
            <a:r>
              <a:rPr lang="en-US" sz="1400" b="1" spc="300">
                <a:solidFill>
                  <a:srgbClr val="5A6772"/>
                </a:solidFill>
              </a:rPr>
              <a:t>RF PLAYOFF SCORE</a:t>
            </a:r>
          </a:p>
        </p:txBody>
      </p:sp>
      <p:sp>
        <p:nvSpPr>
          <p:cNvPr id="12" name="Gauge Track"/>
          <p:cNvSpPr/>
          <p:nvPr/>
        </p:nvSpPr>
        <p:spPr>
          <a:xfrm>
            <a:off x="2172000" y="3260000"/>
            <a:ext cx="4800000" cy="210000"/>
          </a:xfrm>
          <a:prstGeom prst="roundRect">
            <a:avLst>
              <a:gd name="adj" fmla="val 50000"/>
            </a:avLst>
          </a:prstGeom>
          <a:solidFill>
            <a:srgbClr val="E4E8EC"/>
          </a:solidFill>
          <a:ln w="12700">
            <a:solidFill>
              <a:srgbClr val="0B5583"/>
            </a:solidFill>
          </a:ln>
        </p:spPr>
        <p:txBody>
          <a:bodyPr/>
          <a:lstStyle/>
          <a:p>
            <a:pPr>
              <a:buNone/>
            </a:pPr>
            <a:endParaRPr lang="en-US"/>
          </a:p>
        </p:txBody>
      </p:sp>
      <p:sp>
        <p:nvSpPr>
          <p:cNvPr id="13" name="Gauge Fill"/>
          <p:cNvSpPr/>
          <p:nvPr/>
        </p:nvSpPr>
        <p:spPr>
          <a:xfrm>
            <a:off x="2172000" y="3260000"/>
            <a:ext cx="4704000" cy="210000"/>
          </a:xfrm>
          <a:prstGeom prst="roundRect">
            <a:avLst>
              <a:gd name="adj" fmla="val 50000"/>
            </a:avLst>
          </a:prstGeom>
          <a:solidFill>
            <a:srgbClr val="FFCC00"/>
          </a:solidFill>
          <a:ln w="12700">
            <a:solidFill>
              <a:srgbClr val="0B5583"/>
            </a:solidFill>
          </a:ln>
        </p:spPr>
        <p:txBody>
          <a:bodyPr/>
          <a:lstStyle/>
          <a:p>
            <a:pPr>
              <a:buNone/>
            </a:pPr>
            <a:endParaRPr lang="en-US"/>
          </a:p>
        </p:txBody>
      </p:sp>
      <p:sp>
        <p:nvSpPr>
          <p:cNvPr id="14" name="Threshold Tick"/>
          <p:cNvSpPr/>
          <p:nvPr/>
        </p:nvSpPr>
        <p:spPr>
          <a:xfrm>
            <a:off x="4560000" y="3190000"/>
            <a:ext cx="24000" cy="350000"/>
          </a:xfrm>
          <a:prstGeom prst="rect">
            <a:avLst/>
          </a:prstGeom>
          <a:solidFill>
            <a:srgbClr val="0B5583"/>
          </a:solidFill>
          <a:ln>
            <a:noFill/>
          </a:ln>
        </p:spPr>
        <p:txBody>
          <a:bodyPr/>
          <a:lstStyle/>
          <a:p>
            <a:pPr>
              <a:buNone/>
            </a:pPr>
            <a:endParaRPr lang="en-US"/>
          </a:p>
        </p:txBody>
      </p:sp>
      <p:sp>
        <p:nvSpPr>
          <p:cNvPr id="15" name="Scale 0"/>
          <p:cNvSpPr txBox="1"/>
          <p:nvPr/>
        </p:nvSpPr>
        <p:spPr>
          <a:xfrm>
            <a:off x="2172000" y="3490000"/>
            <a:ext cx="700000" cy="240000"/>
          </a:xfrm>
          <a:prstGeom prst="rect">
            <a:avLst/>
          </a:prstGeom>
          <a:noFill/>
        </p:spPr>
        <p:txBody>
          <a:bodyPr wrap="square" lIns="0" tIns="0" rIns="0" bIns="0" anchor="ctr"/>
          <a:lstStyle/>
          <a:p>
            <a:pPr algn="l">
              <a:buNone/>
            </a:pPr>
            <a:r>
              <a:rPr lang="en-US" sz="1000">
                <a:solidFill>
                  <a:srgbClr val="7A7A7A"/>
                </a:solidFill>
              </a:rPr>
              <a:t>0%</a:t>
            </a:r>
          </a:p>
        </p:txBody>
      </p:sp>
      <p:sp>
        <p:nvSpPr>
          <p:cNvPr id="16" name="Scale 100"/>
          <p:cNvSpPr txBox="1"/>
          <p:nvPr/>
        </p:nvSpPr>
        <p:spPr>
          <a:xfrm>
            <a:off x="6272000" y="3490000"/>
            <a:ext cx="700000" cy="240000"/>
          </a:xfrm>
          <a:prstGeom prst="rect">
            <a:avLst/>
          </a:prstGeom>
          <a:noFill/>
        </p:spPr>
        <p:txBody>
          <a:bodyPr wrap="square" lIns="0" tIns="0" rIns="0" bIns="0" anchor="ctr"/>
          <a:lstStyle/>
          <a:p>
            <a:pPr algn="r">
              <a:buNone/>
            </a:pPr>
            <a:r>
              <a:rPr lang="en-US" sz="1000">
                <a:solidFill>
                  <a:srgbClr val="7A7A7A"/>
                </a:solidFill>
              </a:rPr>
              <a:t>100%</a:t>
            </a:r>
          </a:p>
        </p:txBody>
      </p:sp>
      <p:sp>
        <p:nvSpPr>
          <p:cNvPr id="17" name="Threshold Label"/>
          <p:cNvSpPr txBox="1"/>
          <p:nvPr/>
        </p:nvSpPr>
        <p:spPr>
          <a:xfrm>
            <a:off x="3572000" y="3490000"/>
            <a:ext cx="2000000" cy="470000"/>
          </a:xfrm>
          <a:prstGeom prst="rect">
            <a:avLst/>
          </a:prstGeom>
          <a:noFill/>
        </p:spPr>
        <p:txBody>
          <a:bodyPr wrap="square" lIns="0" tIns="0" rIns="0" bIns="0" anchor="t"/>
          <a:lstStyle/>
          <a:p>
            <a:pPr algn="ctr">
              <a:buNone/>
            </a:pPr>
            <a:r>
              <a:rPr lang="en-US" sz="1000" b="1">
                <a:solidFill>
                  <a:srgbClr val="5A6772"/>
                </a:solidFill>
              </a:rPr>
              <a:t>50%</a:t>
            </a:r>
          </a:p>
          <a:p>
            <a:pPr algn="ctr">
              <a:buNone/>
            </a:pPr>
            <a:r>
              <a:rPr lang="en-US" sz="900">
                <a:solidFill>
                  <a:srgbClr val="7A7A7A"/>
                </a:solidFill>
              </a:rPr>
              <a:t>↑ playoff threshold</a:t>
            </a:r>
          </a:p>
        </p:txBody>
      </p:sp>
      <p:sp>
        <p:nvSpPr>
          <p:cNvPr id="18" name="Headline"/>
          <p:cNvSpPr txBox="1"/>
          <p:nvPr/>
        </p:nvSpPr>
        <p:spPr>
          <a:xfrm>
            <a:off x="1072000" y="3900000"/>
            <a:ext cx="7000000" cy="460000"/>
          </a:xfrm>
          <a:prstGeom prst="rect">
            <a:avLst/>
          </a:prstGeom>
          <a:noFill/>
        </p:spPr>
        <p:txBody>
          <a:bodyPr wrap="square" lIns="0" tIns="0" rIns="0" bIns="0" anchor="ctr"/>
          <a:lstStyle/>
          <a:p>
            <a:pPr algn="ctr">
              <a:buNone/>
            </a:pPr>
            <a:r>
              <a:rPr lang="en-US" sz="1700" b="1">
                <a:solidFill>
                  <a:srgbClr val="0B5583"/>
                </a:solidFill>
              </a:rPr>
              <a:t>The model is very strongly Team Playoffs for Washington.</a:t>
            </a:r>
          </a:p>
        </p:txBody>
      </p:sp>
      <p:sp>
        <p:nvSpPr>
          <p:cNvPr id="19" name="Subline"/>
          <p:cNvSpPr txBox="1"/>
          <p:nvPr/>
        </p:nvSpPr>
        <p:spPr>
          <a:xfrm>
            <a:off x="1072000" y="4360000"/>
            <a:ext cx="7000000" cy="250000"/>
          </a:xfrm>
          <a:prstGeom prst="rect">
            <a:avLst/>
          </a:prstGeom>
          <a:noFill/>
        </p:spPr>
        <p:txBody>
          <a:bodyPr wrap="square" lIns="0" tIns="0" rIns="0" bIns="0" anchor="ctr"/>
          <a:lstStyle/>
          <a:p>
            <a:pPr algn="ctr">
              <a:buNone/>
            </a:pPr>
            <a:r>
              <a:rPr lang="en-US" sz="1100">
                <a:solidFill>
                  <a:srgbClr val="7A7A7A"/>
                </a:solidFill>
              </a:rPr>
              <a:t>Based on the 2026 season to date</a:t>
            </a:r>
          </a:p>
        </p:txBody>
      </p:sp>
      <p:sp>
        <p:nvSpPr>
          <p:cNvPr id="21" name="Caveat"/>
          <p:cNvSpPr txBox="1"/>
          <p:nvPr/>
        </p:nvSpPr>
        <p:spPr>
          <a:xfrm>
            <a:off x="972000" y="4800000"/>
            <a:ext cx="7200000" cy="280000"/>
          </a:xfrm>
          <a:prstGeom prst="rect">
            <a:avLst/>
          </a:prstGeom>
          <a:noFill/>
        </p:spPr>
        <p:txBody>
          <a:bodyPr wrap="square" lIns="0" tIns="0" rIns="0" bIns="0" anchor="ctr"/>
          <a:lstStyle/>
          <a:p>
            <a:pPr algn="ctr">
              <a:buNone/>
            </a:pPr>
            <a:r>
              <a:rPr lang="en-US" sz="1000" i="1">
                <a:solidFill>
                  <a:srgbClr val="9AA1A8"/>
                </a:solidFill>
              </a:rPr>
              <a:t>Model score, not a 99% real-world probability of making the playoffs.</a:t>
            </a:r>
          </a:p>
        </p:txBody>
      </p:sp>
    </p:spTree>
    <p:extLst>
      <p:ext uri="{BB962C8B-B14F-4D97-AF65-F5344CB8AC3E}">
        <p14:creationId xmlns:p14="http://schemas.microsoft.com/office/powerpoint/2010/main" val="37133383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A540565-47C6-A842-CAD3-DC9BE10AE80D}"/>
              </a:ext>
            </a:extLst>
          </p:cNvPr>
          <p:cNvSpPr>
            <a:spLocks noGrp="1"/>
          </p:cNvSpPr>
          <p:nvPr>
            <p:ph type="ftr" sz="quarter" idx="11"/>
          </p:nvPr>
        </p:nvSpPr>
        <p:spPr/>
        <p:txBody>
          <a:bodyPr/>
          <a:lstStyle/>
          <a:p>
            <a:endParaRPr lang="en-US"/>
          </a:p>
        </p:txBody>
      </p:sp>
      <p:pic>
        <p:nvPicPr>
          <p:cNvPr id="6" name="Picture 5">
            <a:extLst>
              <a:ext uri="{FF2B5EF4-FFF2-40B4-BE49-F238E27FC236}">
                <a16:creationId xmlns:a16="http://schemas.microsoft.com/office/drawing/2014/main" id="{4544BFD0-5A74-3C60-8E6D-175EF00042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7938" y="150233"/>
            <a:ext cx="6288123" cy="4404961"/>
          </a:xfrm>
          <a:prstGeom prst="rect">
            <a:avLst/>
          </a:prstGeom>
        </p:spPr>
      </p:pic>
    </p:spTree>
    <p:extLst>
      <p:ext uri="{BB962C8B-B14F-4D97-AF65-F5344CB8AC3E}">
        <p14:creationId xmlns:p14="http://schemas.microsoft.com/office/powerpoint/2010/main" val="3694289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948C2-2BAE-BCD5-9BBB-3A9C41493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7DEC58-6F13-58C4-8227-E9AE796EFAEF}"/>
              </a:ext>
            </a:extLst>
          </p:cNvPr>
          <p:cNvSpPr>
            <a:spLocks noGrp="1"/>
          </p:cNvSpPr>
          <p:nvPr>
            <p:ph type="title"/>
          </p:nvPr>
        </p:nvSpPr>
        <p:spPr/>
        <p:txBody>
          <a:bodyPr/>
          <a:lstStyle/>
          <a:p>
            <a:r>
              <a:rPr lang="en-US"/>
              <a:t>Now you know where to start.</a:t>
            </a:r>
          </a:p>
        </p:txBody>
      </p:sp>
      <p:pic>
        <p:nvPicPr>
          <p:cNvPr id="7" name="Picture 6" descr="Small_Logo.jpg">
            <a:extLst>
              <a:ext uri="{FF2B5EF4-FFF2-40B4-BE49-F238E27FC236}">
                <a16:creationId xmlns:a16="http://schemas.microsoft.com/office/drawing/2014/main" id="{53CD17AF-A9CE-B8B2-CEF1-84DAB9AF255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58200" y="4741649"/>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0" name="WF Split"/>
          <p:cNvSpPr/>
          <p:nvPr/>
        </p:nvSpPr>
        <p:spPr>
          <a:xfrm>
            <a:off x="457200" y="1300000"/>
            <a:ext cx="1380000" cy="440000"/>
          </a:xfrm>
          <a:prstGeom prst="roundRect">
            <a:avLst>
              <a:gd name="adj" fmla="val 50000"/>
            </a:avLst>
          </a:prstGeom>
          <a:solidFill>
            <a:srgbClr val="1B87B9"/>
          </a:solidFill>
          <a:ln>
            <a:noFill/>
          </a:ln>
        </p:spPr>
        <p:txBody>
          <a:bodyPr wrap="square" lIns="27000" tIns="18000" rIns="27000" bIns="18000" anchor="ctr"/>
          <a:lstStyle/>
          <a:p>
            <a:pPr algn="ctr"/>
            <a:r>
              <a:rPr lang="en-US" sz="1200" b="1">
                <a:solidFill>
                  <a:srgbClr val="FFFFFF"/>
                </a:solidFill>
              </a:rPr>
              <a:t>Split</a:t>
            </a:r>
          </a:p>
        </p:txBody>
      </p:sp>
      <p:sp>
        <p:nvSpPr>
          <p:cNvPr id="810" name="WF Preprocess"/>
          <p:cNvSpPr/>
          <p:nvPr/>
        </p:nvSpPr>
        <p:spPr>
          <a:xfrm>
            <a:off x="2167200" y="1300000"/>
            <a:ext cx="1380000" cy="440000"/>
          </a:xfrm>
          <a:prstGeom prst="roundRect">
            <a:avLst>
              <a:gd name="adj" fmla="val 50000"/>
            </a:avLst>
          </a:prstGeom>
          <a:solidFill>
            <a:srgbClr val="1B87B9"/>
          </a:solidFill>
          <a:ln>
            <a:noFill/>
          </a:ln>
        </p:spPr>
        <p:txBody>
          <a:bodyPr wrap="square" lIns="27000" tIns="18000" rIns="27000" bIns="18000" anchor="ctr"/>
          <a:lstStyle/>
          <a:p>
            <a:pPr algn="ctr"/>
            <a:r>
              <a:rPr lang="en-US" sz="1200" b="1">
                <a:solidFill>
                  <a:srgbClr val="FFFFFF"/>
                </a:solidFill>
              </a:rPr>
              <a:t>Preprocess</a:t>
            </a:r>
          </a:p>
        </p:txBody>
      </p:sp>
      <p:sp>
        <p:nvSpPr>
          <p:cNvPr id="820" name="WF Specify"/>
          <p:cNvSpPr/>
          <p:nvPr/>
        </p:nvSpPr>
        <p:spPr>
          <a:xfrm>
            <a:off x="3877200" y="1300000"/>
            <a:ext cx="1380000" cy="440000"/>
          </a:xfrm>
          <a:prstGeom prst="roundRect">
            <a:avLst>
              <a:gd name="adj" fmla="val 50000"/>
            </a:avLst>
          </a:prstGeom>
          <a:solidFill>
            <a:srgbClr val="1B87B9"/>
          </a:solidFill>
          <a:ln>
            <a:noFill/>
          </a:ln>
        </p:spPr>
        <p:txBody>
          <a:bodyPr wrap="square" lIns="27000" tIns="18000" rIns="27000" bIns="18000" anchor="ctr"/>
          <a:lstStyle/>
          <a:p>
            <a:pPr algn="ctr"/>
            <a:r>
              <a:rPr lang="en-US" sz="1200" b="1">
                <a:solidFill>
                  <a:srgbClr val="FFFFFF"/>
                </a:solidFill>
              </a:rPr>
              <a:t>Specify</a:t>
            </a:r>
          </a:p>
        </p:txBody>
      </p:sp>
      <p:sp>
        <p:nvSpPr>
          <p:cNvPr id="830" name="WF Fit"/>
          <p:cNvSpPr/>
          <p:nvPr/>
        </p:nvSpPr>
        <p:spPr>
          <a:xfrm>
            <a:off x="5587200" y="1300000"/>
            <a:ext cx="1380000" cy="440000"/>
          </a:xfrm>
          <a:prstGeom prst="roundRect">
            <a:avLst>
              <a:gd name="adj" fmla="val 50000"/>
            </a:avLst>
          </a:prstGeom>
          <a:solidFill>
            <a:srgbClr val="1B87B9"/>
          </a:solidFill>
          <a:ln>
            <a:noFill/>
          </a:ln>
        </p:spPr>
        <p:txBody>
          <a:bodyPr wrap="square" lIns="27000" tIns="18000" rIns="27000" bIns="18000" anchor="ctr"/>
          <a:lstStyle/>
          <a:p>
            <a:pPr algn="ctr"/>
            <a:r>
              <a:rPr lang="en-US" sz="1200" b="1">
                <a:solidFill>
                  <a:srgbClr val="FFFFFF"/>
                </a:solidFill>
              </a:rPr>
              <a:t>Fit</a:t>
            </a:r>
          </a:p>
        </p:txBody>
      </p:sp>
      <p:sp>
        <p:nvSpPr>
          <p:cNvPr id="840" name="WF Evaluate"/>
          <p:cNvSpPr/>
          <p:nvPr/>
        </p:nvSpPr>
        <p:spPr>
          <a:xfrm>
            <a:off x="7297200" y="1300000"/>
            <a:ext cx="1380000" cy="440000"/>
          </a:xfrm>
          <a:prstGeom prst="roundRect">
            <a:avLst>
              <a:gd name="adj" fmla="val 50000"/>
            </a:avLst>
          </a:prstGeom>
          <a:solidFill>
            <a:srgbClr val="1B87B9"/>
          </a:solidFill>
          <a:ln>
            <a:noFill/>
          </a:ln>
        </p:spPr>
        <p:txBody>
          <a:bodyPr wrap="square" lIns="27000" tIns="18000" rIns="27000" bIns="18000" anchor="ctr"/>
          <a:lstStyle/>
          <a:p>
            <a:pPr algn="ctr"/>
            <a:r>
              <a:rPr lang="en-US" sz="1200" b="1">
                <a:solidFill>
                  <a:srgbClr val="FFFFFF"/>
                </a:solidFill>
              </a:rPr>
              <a:t>Evaluate</a:t>
            </a:r>
          </a:p>
        </p:txBody>
      </p:sp>
      <p:sp>
        <p:nvSpPr>
          <p:cNvPr id="811" name="Chevron 1"/>
          <p:cNvSpPr/>
          <p:nvPr/>
        </p:nvSpPr>
        <p:spPr>
          <a:xfrm>
            <a:off x="1837200" y="1300000"/>
            <a:ext cx="330000" cy="440000"/>
          </a:xfrm>
          <a:prstGeom prst="rect">
            <a:avLst/>
          </a:prstGeom>
          <a:noFill/>
          <a:ln>
            <a:noFill/>
          </a:ln>
        </p:spPr>
        <p:txBody>
          <a:bodyPr wrap="square" lIns="0" tIns="0" rIns="0" bIns="0" anchor="ctr"/>
          <a:lstStyle/>
          <a:p>
            <a:pPr algn="ctr"/>
            <a:r>
              <a:rPr lang="en-US" sz="1600" b="1">
                <a:solidFill>
                  <a:srgbClr val="0B5583"/>
                </a:solidFill>
              </a:rPr>
              <a:t>›</a:t>
            </a:r>
          </a:p>
        </p:txBody>
      </p:sp>
      <p:sp>
        <p:nvSpPr>
          <p:cNvPr id="812" name="Chevron 2"/>
          <p:cNvSpPr/>
          <p:nvPr/>
        </p:nvSpPr>
        <p:spPr>
          <a:xfrm>
            <a:off x="3547200" y="1300000"/>
            <a:ext cx="330000" cy="440000"/>
          </a:xfrm>
          <a:prstGeom prst="rect">
            <a:avLst/>
          </a:prstGeom>
          <a:noFill/>
          <a:ln>
            <a:noFill/>
          </a:ln>
        </p:spPr>
        <p:txBody>
          <a:bodyPr wrap="square" lIns="0" tIns="0" rIns="0" bIns="0" anchor="ctr"/>
          <a:lstStyle/>
          <a:p>
            <a:pPr algn="ctr"/>
            <a:r>
              <a:rPr lang="en-US" sz="1600" b="1">
                <a:solidFill>
                  <a:srgbClr val="0B5583"/>
                </a:solidFill>
              </a:rPr>
              <a:t>›</a:t>
            </a:r>
          </a:p>
        </p:txBody>
      </p:sp>
      <p:sp>
        <p:nvSpPr>
          <p:cNvPr id="813" name="Chevron 3"/>
          <p:cNvSpPr/>
          <p:nvPr/>
        </p:nvSpPr>
        <p:spPr>
          <a:xfrm>
            <a:off x="5257200" y="1300000"/>
            <a:ext cx="330000" cy="440000"/>
          </a:xfrm>
          <a:prstGeom prst="rect">
            <a:avLst/>
          </a:prstGeom>
          <a:noFill/>
          <a:ln>
            <a:noFill/>
          </a:ln>
        </p:spPr>
        <p:txBody>
          <a:bodyPr wrap="square" lIns="0" tIns="0" rIns="0" bIns="0" anchor="ctr"/>
          <a:lstStyle/>
          <a:p>
            <a:pPr algn="ctr"/>
            <a:r>
              <a:rPr lang="en-US" sz="1600" b="1">
                <a:solidFill>
                  <a:srgbClr val="0B5583"/>
                </a:solidFill>
              </a:rPr>
              <a:t>›</a:t>
            </a:r>
          </a:p>
        </p:txBody>
      </p:sp>
      <p:sp>
        <p:nvSpPr>
          <p:cNvPr id="814" name="Chevron 4"/>
          <p:cNvSpPr/>
          <p:nvPr/>
        </p:nvSpPr>
        <p:spPr>
          <a:xfrm>
            <a:off x="6967200" y="1300000"/>
            <a:ext cx="330000" cy="440000"/>
          </a:xfrm>
          <a:prstGeom prst="rect">
            <a:avLst/>
          </a:prstGeom>
          <a:noFill/>
          <a:ln>
            <a:noFill/>
          </a:ln>
        </p:spPr>
        <p:txBody>
          <a:bodyPr wrap="square" lIns="0" tIns="0" rIns="0" bIns="0" anchor="ctr"/>
          <a:lstStyle/>
          <a:p>
            <a:pPr algn="ctr"/>
            <a:r>
              <a:rPr lang="en-US" sz="1600" b="1">
                <a:solidFill>
                  <a:srgbClr val="0B5583"/>
                </a:solidFill>
              </a:rPr>
              <a:t>›</a:t>
            </a:r>
          </a:p>
        </p:txBody>
      </p:sp>
      <p:sp>
        <p:nvSpPr>
          <p:cNvPr id="831" name="Cap 1"/>
          <p:cNvSpPr/>
          <p:nvPr/>
        </p:nvSpPr>
        <p:spPr>
          <a:xfrm>
            <a:off x="457200" y="1800000"/>
            <a:ext cx="1380000" cy="420000"/>
          </a:xfrm>
          <a:prstGeom prst="rect">
            <a:avLst/>
          </a:prstGeom>
          <a:noFill/>
          <a:ln>
            <a:noFill/>
          </a:ln>
        </p:spPr>
        <p:txBody>
          <a:bodyPr wrap="square" lIns="18000" tIns="0" rIns="18000" bIns="0" anchor="t"/>
          <a:lstStyle/>
          <a:p>
            <a:pPr algn="ctr">
              <a:buNone/>
            </a:pPr>
            <a:r>
              <a:rPr lang="en-US" sz="1000">
                <a:solidFill>
                  <a:srgbClr val="7A7A7A"/>
                </a:solidFill>
              </a:rPr>
              <a:t>Past vs. future</a:t>
            </a:r>
          </a:p>
        </p:txBody>
      </p:sp>
      <p:sp>
        <p:nvSpPr>
          <p:cNvPr id="832" name="Cap 2"/>
          <p:cNvSpPr/>
          <p:nvPr/>
        </p:nvSpPr>
        <p:spPr>
          <a:xfrm>
            <a:off x="2167200" y="1800000"/>
            <a:ext cx="1380000" cy="420000"/>
          </a:xfrm>
          <a:prstGeom prst="rect">
            <a:avLst/>
          </a:prstGeom>
          <a:noFill/>
          <a:ln>
            <a:noFill/>
          </a:ln>
        </p:spPr>
        <p:txBody>
          <a:bodyPr wrap="square" lIns="18000" tIns="0" rIns="18000" bIns="0" anchor="t"/>
          <a:lstStyle/>
          <a:p>
            <a:pPr algn="ctr">
              <a:buNone/>
            </a:pPr>
            <a:r>
              <a:rPr lang="en-US" sz="1000">
                <a:solidFill>
                  <a:srgbClr val="7A7A7A"/>
                </a:solidFill>
              </a:rPr>
              <a:t>Clean &amp; engineer</a:t>
            </a:r>
          </a:p>
        </p:txBody>
      </p:sp>
      <p:sp>
        <p:nvSpPr>
          <p:cNvPr id="833" name="Cap 3"/>
          <p:cNvSpPr/>
          <p:nvPr/>
        </p:nvSpPr>
        <p:spPr>
          <a:xfrm>
            <a:off x="3877200" y="1800000"/>
            <a:ext cx="1380000" cy="420000"/>
          </a:xfrm>
          <a:prstGeom prst="rect">
            <a:avLst/>
          </a:prstGeom>
          <a:noFill/>
          <a:ln>
            <a:noFill/>
          </a:ln>
        </p:spPr>
        <p:txBody>
          <a:bodyPr wrap="square" lIns="18000" tIns="0" rIns="18000" bIns="0" anchor="t"/>
          <a:lstStyle/>
          <a:p>
            <a:pPr algn="ctr">
              <a:buNone/>
            </a:pPr>
            <a:r>
              <a:rPr lang="en-US" sz="1000">
                <a:solidFill>
                  <a:srgbClr val="7A7A7A"/>
                </a:solidFill>
              </a:rPr>
              <a:t>Random forest</a:t>
            </a:r>
          </a:p>
        </p:txBody>
      </p:sp>
      <p:sp>
        <p:nvSpPr>
          <p:cNvPr id="834" name="Cap 4"/>
          <p:cNvSpPr/>
          <p:nvPr/>
        </p:nvSpPr>
        <p:spPr>
          <a:xfrm>
            <a:off x="5587200" y="1800000"/>
            <a:ext cx="1380000" cy="420000"/>
          </a:xfrm>
          <a:prstGeom prst="rect">
            <a:avLst/>
          </a:prstGeom>
          <a:noFill/>
          <a:ln>
            <a:noFill/>
          </a:ln>
        </p:spPr>
        <p:txBody>
          <a:bodyPr wrap="square" lIns="18000" tIns="0" rIns="18000" bIns="0" anchor="t"/>
          <a:lstStyle/>
          <a:p>
            <a:pPr algn="ctr">
              <a:buNone/>
            </a:pPr>
            <a:r>
              <a:rPr lang="en-US" sz="1000">
                <a:solidFill>
                  <a:srgbClr val="7A7A7A"/>
                </a:solidFill>
              </a:rPr>
              <a:t>Learn the pattern</a:t>
            </a:r>
          </a:p>
        </p:txBody>
      </p:sp>
      <p:sp>
        <p:nvSpPr>
          <p:cNvPr id="835" name="Cap 5"/>
          <p:cNvSpPr/>
          <p:nvPr/>
        </p:nvSpPr>
        <p:spPr>
          <a:xfrm>
            <a:off x="7297200" y="1800000"/>
            <a:ext cx="1380000" cy="420000"/>
          </a:xfrm>
          <a:prstGeom prst="rect">
            <a:avLst/>
          </a:prstGeom>
          <a:noFill/>
          <a:ln>
            <a:noFill/>
          </a:ln>
        </p:spPr>
        <p:txBody>
          <a:bodyPr wrap="square" lIns="18000" tIns="0" rIns="18000" bIns="0" anchor="t"/>
          <a:lstStyle/>
          <a:p>
            <a:pPr algn="ctr">
              <a:buNone/>
            </a:pPr>
            <a:r>
              <a:rPr lang="en-US" sz="1000">
                <a:solidFill>
                  <a:srgbClr val="7A7A7A"/>
                </a:solidFill>
              </a:rPr>
              <a:t>Score &amp; check</a:t>
            </a:r>
          </a:p>
        </p:txBody>
      </p:sp>
      <p:sp>
        <p:nvSpPr>
          <p:cNvPr id="3" name="Recap"/>
          <p:cNvSpPr/>
          <p:nvPr/>
        </p:nvSpPr>
        <p:spPr>
          <a:xfrm>
            <a:off x="457200" y="2400000"/>
            <a:ext cx="8229600" cy="520000"/>
          </a:xfrm>
          <a:prstGeom prst="rect">
            <a:avLst/>
          </a:prstGeom>
          <a:noFill/>
          <a:ln>
            <a:noFill/>
          </a:ln>
        </p:spPr>
        <p:txBody>
          <a:bodyPr wrap="square" lIns="0" tIns="0" rIns="0" bIns="0" anchor="ctr"/>
          <a:lstStyle/>
          <a:p>
            <a:pPr algn="ctr">
              <a:buNone/>
            </a:pPr>
            <a:r>
              <a:rPr lang="en-US" sz="1500" b="1">
                <a:solidFill>
                  <a:srgbClr val="0B5583"/>
                </a:solidFill>
              </a:rPr>
              <a:t>The workflow never changes—only the question does.</a:t>
            </a:r>
          </a:p>
        </p:txBody>
      </p:sp>
      <p:sp>
        <p:nvSpPr>
          <p:cNvPr id="850" name="Resource band"/>
          <p:cNvSpPr/>
          <p:nvPr/>
        </p:nvSpPr>
        <p:spPr>
          <a:xfrm>
            <a:off x="457200" y="3120000"/>
            <a:ext cx="8229600" cy="1440000"/>
          </a:xfrm>
          <a:prstGeom prst="roundRect">
            <a:avLst>
              <a:gd name="adj" fmla="val 8000"/>
            </a:avLst>
          </a:prstGeom>
          <a:solidFill>
            <a:srgbClr val="F2F6F9"/>
          </a:solidFill>
          <a:ln>
            <a:noFill/>
          </a:ln>
        </p:spPr>
        <p:txBody>
          <a:bodyPr wrap="square" lIns="72000" tIns="90000" rIns="72000" bIns="72000" anchor="t"/>
          <a:lstStyle/>
          <a:p>
            <a:pPr algn="ctr">
              <a:buNone/>
            </a:pPr>
            <a:r>
              <a:rPr lang="en-US" sz="1900" b="1">
                <a:solidFill>
                  <a:srgbClr val="0B5583"/>
                </a:solidFill>
              </a:rPr>
              <a:t>Reproduce the example</a:t>
            </a:r>
          </a:p>
          <a:p>
            <a:pPr algn="ctr">
              <a:buNone/>
            </a:pPr>
            <a:r>
              <a:rPr lang="en-US" sz="1300">
                <a:solidFill>
                  <a:srgbClr val="404040"/>
                </a:solidFill>
              </a:rPr>
              <a:t>Code, prepared data, documentation, and references</a:t>
            </a:r>
          </a:p>
          <a:p>
            <a:pPr algn="ctr">
              <a:buNone/>
            </a:pPr>
            <a:endParaRPr lang="en-US" sz="600"/>
          </a:p>
          <a:p>
            <a:pPr algn="ctr">
              <a:buNone/>
            </a:pPr>
            <a:r>
              <a:rPr lang="en-US" sz="2000" b="1">
                <a:solidFill>
                  <a:srgbClr val="1B87B9"/>
                </a:solidFill>
              </a:rPr>
              <a:t>github.com/summitllc/posit-ai-ml</a:t>
            </a:r>
          </a:p>
        </p:txBody>
      </p:sp>
    </p:spTree>
    <p:extLst>
      <p:ext uri="{BB962C8B-B14F-4D97-AF65-F5344CB8AC3E}">
        <p14:creationId xmlns:p14="http://schemas.microsoft.com/office/powerpoint/2010/main" val="38376059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4.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8.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0.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1.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3.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4.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heme/theme1.xml><?xml version="1.0" encoding="utf-8"?>
<a:theme xmlns:a="http://schemas.openxmlformats.org/drawingml/2006/main" name="3_PowerPoint">
  <a:themeElements>
    <a:clrScheme name="Summit primary brand (2024 Oct)">
      <a:dk1>
        <a:sysClr val="windowText" lastClr="000000"/>
      </a:dk1>
      <a:lt1>
        <a:sysClr val="window" lastClr="FFFFFF"/>
      </a:lt1>
      <a:dk2>
        <a:srgbClr val="3F3F3F"/>
      </a:dk2>
      <a:lt2>
        <a:srgbClr val="F2F2F2"/>
      </a:lt2>
      <a:accent1>
        <a:srgbClr val="52B6E8"/>
      </a:accent1>
      <a:accent2>
        <a:srgbClr val="FFC658"/>
      </a:accent2>
      <a:accent3>
        <a:srgbClr val="5B616B"/>
      </a:accent3>
      <a:accent4>
        <a:srgbClr val="2F78C5"/>
      </a:accent4>
      <a:accent5>
        <a:srgbClr val="AE0811"/>
      </a:accent5>
      <a:accent6>
        <a:srgbClr val="0B5583"/>
      </a:accent6>
      <a:hlink>
        <a:srgbClr val="00B0F0"/>
      </a:hlink>
      <a:folHlink>
        <a:srgbClr val="7A34AE"/>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ummit - Presentation (widescreen)" id="{5E6B28EA-561A-43E1-A13C-CF0E14FEB3B8}" vid="{FB8E8125-13FE-4869-8CA6-98853D41A0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F17C2720300CC4F8B9DFFE4DA69B299" ma:contentTypeVersion="11" ma:contentTypeDescription="Create a new document." ma:contentTypeScope="" ma:versionID="4554d89f48d976008034c1b859180920">
  <xsd:schema xmlns:xsd="http://www.w3.org/2001/XMLSchema" xmlns:xs="http://www.w3.org/2001/XMLSchema" xmlns:p="http://schemas.microsoft.com/office/2006/metadata/properties" xmlns:ns2="db35319c-ee43-46b2-aa68-7e152bcb3f8c" xmlns:ns3="6d93af70-4d5f-4b5e-8004-4c1b4b089f77" targetNamespace="http://schemas.microsoft.com/office/2006/metadata/properties" ma:root="true" ma:fieldsID="2005d023d08cb740ca814bd6b240bf43" ns2:_="" ns3:_="">
    <xsd:import namespace="db35319c-ee43-46b2-aa68-7e152bcb3f8c"/>
    <xsd:import namespace="6d93af70-4d5f-4b5e-8004-4c1b4b089f7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35319c-ee43-46b2-aa68-7e152bcb3f8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c1d3408e-21fd-4e88-9db8-915a402a0583"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93af70-4d5f-4b5e-8004-4c1b4b089f77"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85691e4c-f85c-4b8f-bfe1-42791e5711a6}" ma:internalName="TaxCatchAll" ma:showField="CatchAllData" ma:web="6d93af70-4d5f-4b5e-8004-4c1b4b089f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b35319c-ee43-46b2-aa68-7e152bcb3f8c">
      <Terms xmlns="http://schemas.microsoft.com/office/infopath/2007/PartnerControls"/>
    </lcf76f155ced4ddcb4097134ff3c332f>
    <TaxCatchAll xmlns="6d93af70-4d5f-4b5e-8004-4c1b4b089f77" xsi:nil="true"/>
  </documentManagement>
</p:properties>
</file>

<file path=customXml/itemProps1.xml><?xml version="1.0" encoding="utf-8"?>
<ds:datastoreItem xmlns:ds="http://schemas.openxmlformats.org/officeDocument/2006/customXml" ds:itemID="{4BF39614-EFDC-4D51-AE8B-9EE197D79640}">
  <ds:schemaRefs>
    <ds:schemaRef ds:uri="6d93af70-4d5f-4b5e-8004-4c1b4b089f77"/>
    <ds:schemaRef ds:uri="db35319c-ee43-46b2-aa68-7e152bcb3f8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0FC740F-B78A-452D-BA7C-D4D25778B83A}">
  <ds:schemaRefs>
    <ds:schemaRef ds:uri="http://schemas.microsoft.com/sharepoint/v3/contenttype/forms"/>
  </ds:schemaRefs>
</ds:datastoreItem>
</file>

<file path=customXml/itemProps3.xml><?xml version="1.0" encoding="utf-8"?>
<ds:datastoreItem xmlns:ds="http://schemas.openxmlformats.org/officeDocument/2006/customXml" ds:itemID="{79136C1C-CD47-4CAB-8B8B-5B3A6F840DDA}">
  <ds:schemaRefs>
    <ds:schemaRef ds:uri="6d93af70-4d5f-4b5e-8004-4c1b4b089f77"/>
    <ds:schemaRef ds:uri="db35319c-ee43-46b2-aa68-7e152bcb3f8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d4ff2acb-8f1b-450c-a0e3-621a7008de39}" enabled="0" method="" siteId="{d4ff2acb-8f1b-450c-a0e3-621a7008de39}" removed="1"/>
</clbl:labelList>
</file>

<file path=docProps/app.xml><?xml version="1.0" encoding="utf-8"?>
<Properties xmlns="http://schemas.openxmlformats.org/officeDocument/2006/extended-properties" xmlns:vt="http://schemas.openxmlformats.org/officeDocument/2006/docPropsVTypes">
  <Template>Summit - Presentation (widescreen) - 2025</Template>
  <TotalTime>0</TotalTime>
  <Words>3241</Words>
  <Application>Microsoft Office PowerPoint</Application>
  <PresentationFormat>On-screen Show (16:9)</PresentationFormat>
  <Paragraphs>440</Paragraphs>
  <Slides>27</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Consolas</vt:lpstr>
      <vt:lpstr>Trebuchet MS</vt:lpstr>
      <vt:lpstr>3_PowerPoint</vt:lpstr>
      <vt:lpstr>AI/ML SOS IDK</vt:lpstr>
      <vt:lpstr>Disclaimer(s)</vt:lpstr>
      <vt:lpstr>PowerPoint Presentation</vt:lpstr>
      <vt:lpstr>PowerPoint Presentation</vt:lpstr>
      <vt:lpstr>PowerPoint Presentation</vt:lpstr>
      <vt:lpstr>Purpose</vt:lpstr>
      <vt:lpstr>PowerPoint Presentation</vt:lpstr>
      <vt:lpstr>Our very not boring prediction!</vt:lpstr>
      <vt:lpstr>Our very not boring prediction!</vt:lpstr>
      <vt:lpstr>You already know more than you think.</vt:lpstr>
      <vt:lpstr>The whole workflow on just one slide!</vt:lpstr>
      <vt:lpstr>Preventing data leakage</vt:lpstr>
      <vt:lpstr>The test set goes away now!</vt:lpstr>
      <vt:lpstr>A recipe records how inputs should be prepared</vt:lpstr>
      <vt:lpstr>What even is a random forest?</vt:lpstr>
      <vt:lpstr>Tell R what you want with parsnip</vt:lpstr>
      <vt:lpstr>Put the pieces together with workflows</vt:lpstr>
      <vt:lpstr>Train on the past. Test on the future.</vt:lpstr>
      <vt:lpstr>The test set returns!</vt:lpstr>
      <vt:lpstr>Time to fit.</vt:lpstr>
      <vt:lpstr>Could we have predicted last season?</vt:lpstr>
      <vt:lpstr>Did the forest beat the 2025 standings?</vt:lpstr>
      <vt:lpstr>Refit the approved workflow for the 2026 prediction</vt:lpstr>
      <vt:lpstr>The 2026 prediction data</vt:lpstr>
      <vt:lpstr>So…will the Spirit make the playoffs?</vt:lpstr>
      <vt:lpstr>PowerPoint Presentation</vt:lpstr>
      <vt:lpstr>Now you know where to start.</vt:lpstr>
    </vt:vector>
  </TitlesOfParts>
  <Company>Summit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Olivia Hebner</dc:creator>
  <cp:lastModifiedBy>Kathryn Cronquist</cp:lastModifiedBy>
  <cp:revision>2</cp:revision>
  <dcterms:created xsi:type="dcterms:W3CDTF">2026-09-02T20:04:02Z</dcterms:created>
  <dcterms:modified xsi:type="dcterms:W3CDTF">2026-09-13T16:43:08Z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0x010100EF17C2720300CC4F8B9DFFE4DA69B299</vt:lpwstr>
  </property>
  <property fmtid="{D5CDD505-2E9C-101B-9397-08002B2CF9AE}" pid="3" name="Order">
    <vt:r8>5800</vt:r8>
  </property>
  <property fmtid="{D5CDD505-2E9C-101B-9397-08002B2CF9AE}" pid="4" name="xd_Signature">
    <vt:bool>false</vt:bool>
  </property>
  <property fmtid="{D5CDD505-2E9C-101B-9397-08002B2CF9AE}" pid="5" name="xd_ProgID">
    <vt:lpwstr/>
  </property>
  <property fmtid="{D5CDD505-2E9C-101B-9397-08002B2CF9AE}" pid="6" name="TemplateUrl">
    <vt:lpwstr/>
  </property>
  <property fmtid="{D5CDD505-2E9C-101B-9397-08002B2CF9AE}" pid="7" name="ComplianceAssetId">
    <vt:lpwstr/>
  </property>
  <property fmtid="{D5CDD505-2E9C-101B-9397-08002B2CF9AE}" pid="8" name="Typeofdocument">
    <vt:lpwstr>Sample doc only; do not distribute</vt:lpwstr>
  </property>
  <property fmtid="{D5CDD505-2E9C-101B-9397-08002B2CF9AE}" pid="9" name="MediaServiceImageTags">
    <vt:lpwstr/>
  </property>
  <property fmtid="{D5CDD505-2E9C-101B-9397-08002B2CF9AE}" pid="10" name="MSIP_Label_9330f333-cb24-468a-9453-6807270e224e_Enabled">
    <vt:lpwstr>true</vt:lpwstr>
  </property>
  <property fmtid="{D5CDD505-2E9C-101B-9397-08002B2CF9AE}" pid="11" name="MSIP_Label_9330f333-cb24-468a-9453-6807270e224e_SetDate">
    <vt:lpwstr>2024-11-14T22:19:16Z</vt:lpwstr>
  </property>
  <property fmtid="{D5CDD505-2E9C-101B-9397-08002B2CF9AE}" pid="12" name="MSIP_Label_9330f333-cb24-468a-9453-6807270e224e_Method">
    <vt:lpwstr>Privileged</vt:lpwstr>
  </property>
  <property fmtid="{D5CDD505-2E9C-101B-9397-08002B2CF9AE}" pid="13" name="MSIP_Label_9330f333-cb24-468a-9453-6807270e224e_Name">
    <vt:lpwstr>Internal</vt:lpwstr>
  </property>
  <property fmtid="{D5CDD505-2E9C-101B-9397-08002B2CF9AE}" pid="14" name="MSIP_Label_9330f333-cb24-468a-9453-6807270e224e_SiteId">
    <vt:lpwstr>d4ff2acb-8f1b-450c-a0e3-621a7008de39</vt:lpwstr>
  </property>
  <property fmtid="{D5CDD505-2E9C-101B-9397-08002B2CF9AE}" pid="15" name="MSIP_Label_9330f333-cb24-468a-9453-6807270e224e_ActionId">
    <vt:lpwstr>568f5df1-e1dc-4c13-a092-ff0bb77b26ec</vt:lpwstr>
  </property>
  <property fmtid="{D5CDD505-2E9C-101B-9397-08002B2CF9AE}" pid="16" name="MSIP_Label_9330f333-cb24-468a-9453-6807270e224e_ContentBits">
    <vt:lpwstr>0</vt:lpwstr>
  </property>
  <property fmtid="{D5CDD505-2E9C-101B-9397-08002B2CF9AE}" pid="17" name="_ExtendedDescription">
    <vt:lpwstr/>
  </property>
  <property fmtid="{D5CDD505-2E9C-101B-9397-08002B2CF9AE}" pid="18" name="TriggerFlowInfo">
    <vt:lpwstr/>
  </property>
</Properties>
</file>